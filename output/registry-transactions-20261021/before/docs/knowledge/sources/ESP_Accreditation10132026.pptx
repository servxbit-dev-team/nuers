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75" r:id="rId8"/>
    <p:sldId id="276" r:id="rId9"/>
    <p:sldId id="277" r:id="rId10"/>
    <p:sldId id="263" r:id="rId11"/>
    <p:sldId id="264" r:id="rId12"/>
    <p:sldId id="278" r:id="rId13"/>
    <p:sldId id="279" r:id="rId14"/>
    <p:sldId id="280" r:id="rId15"/>
    <p:sldId id="281" r:id="rId16"/>
    <p:sldId id="282" r:id="rId17"/>
    <p:sldId id="283" r:id="rId18"/>
    <p:sldId id="284" r:id="rId19"/>
    <p:sldId id="285" r:id="rId20"/>
    <p:sldId id="286" r:id="rId21"/>
    <p:sldId id="287" r:id="rId22"/>
    <p:sldId id="265" r:id="rId23"/>
    <p:sldId id="266" r:id="rId24"/>
    <p:sldId id="289" r:id="rId25"/>
    <p:sldId id="288" r:id="rId26"/>
    <p:sldId id="267" r:id="rId27"/>
    <p:sldId id="268" r:id="rId28"/>
    <p:sldId id="290" r:id="rId29"/>
    <p:sldId id="291" r:id="rId30"/>
    <p:sldId id="270" r:id="rId31"/>
    <p:sldId id="271" r:id="rId32"/>
    <p:sldId id="272" r:id="rId33"/>
    <p:sldId id="273" r:id="rId34"/>
    <p:sldId id="274"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D151DE-6B52-4E05-89B7-81181E833F77}" v="2" dt="2026-10-11T23:43:45.2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49"/>
    <p:restoredTop sz="94610"/>
  </p:normalViewPr>
  <p:slideViewPr>
    <p:cSldViewPr snapToGrid="0" snapToObjects="1">
      <p:cViewPr varScale="1">
        <p:scale>
          <a:sx n="149" d="100"/>
          <a:sy n="149" d="100"/>
        </p:scale>
        <p:origin x="42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0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4794-73D6-F0B5-B0DC-F87989E30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ACDB5-1A1A-1847-7158-2A70851C9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5837E-B784-956E-044D-F273407B01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FAB04D-F734-AD96-3E3D-0791B7AB49A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25384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A967F-8179-9387-45C2-AFA14113D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F51E7-2AFF-E685-C43B-290C28A46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97F78-A3E8-1BEF-F82D-5DF719F5C9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287FDC-F2D5-9966-7D9E-9DE9A7F2B05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14127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659A-365D-D551-3B8C-0E322B8A4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C4D4E-924F-C2CD-7868-8B4AE5D78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36F0E-7943-DD30-1D11-F4D16D983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0F1769-41CB-EC1D-8674-93E80B159CF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36327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2FB8C-7C4D-0E77-7279-9148AA26C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45237-1E67-1257-8D02-884B832DD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6F570-DC50-0052-A678-B2138789B3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BA9422-E197-4BC2-E240-702A916171E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6450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60257-CEF1-4EAD-F045-AF39051A9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1410-E21F-2F7A-2479-726916FDB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05D60-78D8-908E-0591-95F51B7A15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150386-8FE1-681E-3DA8-7327CBC5395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87295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4D6E4-4455-54C6-E491-3136E7180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807DD-90A7-A58F-F3A1-BF6E54A66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47658-FFDC-81EE-BFE1-7CE2CA4901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CB585-8EBC-44C1-585E-4C5C57BA086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02552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D33D-33F0-CE3F-056F-AE512D444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9D721-0FB7-5395-AE94-C48165ADA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F490F-7E1E-18B0-5AE8-A3C90ED263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28BA64-F0F9-3C16-496F-44EBF7D2BFF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98710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462F7-EA85-9DA9-52F6-9C49D0B87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7A0D6-CD99-2BC7-3C76-E01D01A3F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3A94B-F95C-802F-3FBF-C080A4099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B02048-B597-0DAF-AF9A-D8AA595C431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57821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3E70-5DAC-4A50-AA70-191263E1F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C6ACD-A01C-E0BC-73ED-38B4ED2C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90BED-5377-3E34-93EB-038E58DAFE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01220F-8DC8-A54F-7445-2BD6780078F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84308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CF19-B54E-E2E3-FB67-2E2163583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8E843-49F5-06CA-4994-A1D9F2F17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00264-6A40-6E55-E29D-8705F4E4CB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ACDFA-AE29-A979-E9E8-1F55AE57C32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3992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58DCD-6744-5A3D-ABBA-885E2F821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F2F69-DD60-ACC7-8188-61D3B005B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21999-19FC-3053-D434-A0E168BE8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05AEC6-E353-60E8-1D47-7A887A658A6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93811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41A45-47F9-A51A-A35C-71BE95B41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89981-6593-4F66-C383-7D64F5540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D4863-0AB0-F5C4-93A3-83EBB5E896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079F87-C674-1C6E-0F57-FF5D5733649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00100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1F677-252E-65D5-37DE-D301D0844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1E790-1DA7-EEE9-0D14-9D6FC7A13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D66D5-A14D-9FD4-E71D-FF2823E977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765F0-0887-D014-3DF1-A89628206AA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960779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A5171-F9ED-0CB4-35EC-202258FC5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0F2ED-978D-A1AF-C07A-1F8F317F4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AF3F4-822C-5C4A-2B23-753107015F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DFEA85-2857-7ADE-2842-7B973A0B289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470906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3B37-A25C-0F7D-BBA1-EB31B6F24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35A74-284D-FF98-1694-3B58E6CB2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DD8F66-A654-F706-3CCB-905F1261E9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0BC4EF-F68D-1F61-3015-7A8B55F94820}"/>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266331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AC0B-5DBB-713F-5450-BAAA721B2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95E75-42A6-1EFB-85DF-025DF4FD4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9B031-215A-2442-884A-447EC87B3E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7D75C8-4801-DEE7-80C5-EA982BB1D3AD}"/>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73419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DB09-46EC-777E-9FBF-BB1D576A9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F812F-B745-4883-C079-08F5198BF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396AC-FC95-B5EA-7261-C8E89337E9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C321C1-EB92-ABFF-2CEE-CFF507A2E23D}"/>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115047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42"/>
        </a:solidFill>
        <a:effectLst/>
      </p:bgPr>
    </p:bg>
    <p:spTree>
      <p:nvGrpSpPr>
        <p:cNvPr id="1" name=""/>
        <p:cNvGrpSpPr/>
        <p:nvPr/>
      </p:nvGrpSpPr>
      <p:grpSpPr>
        <a:xfrm>
          <a:off x="0" y="0"/>
          <a:ext cx="0" cy="0"/>
          <a:chOff x="0" y="0"/>
          <a:chExt cx="0" cy="0"/>
        </a:xfrm>
      </p:grpSpPr>
      <p:sp>
        <p:nvSpPr>
          <p:cNvPr id="2" name="Shape 0"/>
          <p:cNvSpPr/>
          <p:nvPr/>
        </p:nvSpPr>
        <p:spPr>
          <a:xfrm>
            <a:off x="6995160" y="0"/>
            <a:ext cx="2148840" cy="5143500"/>
          </a:xfrm>
          <a:prstGeom prst="rect">
            <a:avLst/>
          </a:prstGeom>
          <a:solidFill>
            <a:srgbClr val="D90429"/>
          </a:solidFill>
          <a:ln/>
        </p:spPr>
        <p:txBody>
          <a:bodyPr/>
          <a:lstStyle/>
          <a:p>
            <a:endParaRPr lang="en-US"/>
          </a:p>
        </p:txBody>
      </p:sp>
      <p:sp>
        <p:nvSpPr>
          <p:cNvPr id="3" name="Shape 1"/>
          <p:cNvSpPr/>
          <p:nvPr/>
        </p:nvSpPr>
        <p:spPr>
          <a:xfrm>
            <a:off x="6766560" y="0"/>
            <a:ext cx="228600" cy="5143500"/>
          </a:xfrm>
          <a:prstGeom prst="rect">
            <a:avLst/>
          </a:prstGeom>
          <a:solidFill>
            <a:srgbClr val="8D99AE"/>
          </a:solidFill>
          <a:ln/>
        </p:spPr>
        <p:txBody>
          <a:bodyPr/>
          <a:lstStyle/>
          <a:p>
            <a:endParaRPr lang="en-US"/>
          </a:p>
        </p:txBody>
      </p:sp>
      <p:sp>
        <p:nvSpPr>
          <p:cNvPr id="8" name="Text 6"/>
          <p:cNvSpPr/>
          <p:nvPr/>
        </p:nvSpPr>
        <p:spPr>
          <a:xfrm>
            <a:off x="566928" y="834390"/>
            <a:ext cx="6126480" cy="1737360"/>
          </a:xfrm>
          <a:prstGeom prst="rect">
            <a:avLst/>
          </a:prstGeom>
          <a:noFill/>
          <a:ln/>
        </p:spPr>
        <p:txBody>
          <a:bodyPr wrap="square" rtlCol="0" anchor="t"/>
          <a:lstStyle/>
          <a:p>
            <a:pPr marL="0" indent="0" algn="l">
              <a:lnSpc>
                <a:spcPct val="100000"/>
              </a:lnSpc>
              <a:buNone/>
            </a:pPr>
            <a:r>
              <a:rPr lang="en-US" sz="4000" b="1" dirty="0">
                <a:solidFill>
                  <a:srgbClr val="FFFFFF"/>
                </a:solidFill>
                <a:latin typeface="Georgia" pitchFamily="34" charset="0"/>
                <a:ea typeface="Georgia" pitchFamily="34" charset="-122"/>
                <a:cs typeface="Georgia" pitchFamily="34" charset="-120"/>
              </a:rPr>
              <a:t>Accreditation of Electronic Invoicing Solutions</a:t>
            </a:r>
            <a:endParaRPr lang="en-US" sz="4000" dirty="0"/>
          </a:p>
        </p:txBody>
      </p:sp>
      <p:sp>
        <p:nvSpPr>
          <p:cNvPr id="9" name="Text 7"/>
          <p:cNvSpPr/>
          <p:nvPr/>
        </p:nvSpPr>
        <p:spPr>
          <a:xfrm>
            <a:off x="548640" y="3214589"/>
            <a:ext cx="6035040" cy="914400"/>
          </a:xfrm>
          <a:prstGeom prst="rect">
            <a:avLst/>
          </a:prstGeom>
          <a:noFill/>
          <a:ln/>
        </p:spPr>
        <p:txBody>
          <a:bodyPr wrap="square" rtlCol="0" anchor="t"/>
          <a:lstStyle/>
          <a:p>
            <a:pPr marL="0" indent="0" algn="l">
              <a:lnSpc>
                <a:spcPct val="110000"/>
              </a:lnSpc>
              <a:buNone/>
            </a:pPr>
            <a:r>
              <a:rPr lang="en-US" sz="1400" dirty="0">
                <a:solidFill>
                  <a:srgbClr val="8D99AE"/>
                </a:solidFill>
                <a:latin typeface="Calibri" pitchFamily="34" charset="0"/>
                <a:ea typeface="Calibri" pitchFamily="34" charset="-122"/>
                <a:cs typeface="Calibri" pitchFamily="34" charset="-120"/>
              </a:rPr>
              <a:t>Technical, operational, security, data-governance, institutional, legal, and continuing compliance requirements for Electronic Invoicing Service Providers (ESPs)</a:t>
            </a:r>
            <a:endParaRPr lang="en-US" sz="1400" dirty="0"/>
          </a:p>
        </p:txBody>
      </p:sp>
      <p:sp>
        <p:nvSpPr>
          <p:cNvPr id="10" name="Shape 8"/>
          <p:cNvSpPr/>
          <p:nvPr/>
        </p:nvSpPr>
        <p:spPr>
          <a:xfrm>
            <a:off x="566928" y="4526280"/>
            <a:ext cx="5943600" cy="0"/>
          </a:xfrm>
          <a:prstGeom prst="line">
            <a:avLst/>
          </a:prstGeom>
          <a:noFill/>
          <a:ln w="9525">
            <a:solidFill>
              <a:srgbClr val="8D99AE"/>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TABLE OF CONTENTS</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What This Circular Covers</a:t>
            </a:r>
            <a:endParaRPr lang="en-US" sz="3000" dirty="0"/>
          </a:p>
        </p:txBody>
      </p:sp>
      <p:sp>
        <p:nvSpPr>
          <p:cNvPr id="5" name="Text 3"/>
          <p:cNvSpPr/>
          <p:nvPr/>
        </p:nvSpPr>
        <p:spPr>
          <a:xfrm>
            <a:off x="502920" y="160020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01</a:t>
            </a:r>
            <a:endParaRPr lang="en-US" sz="3000" dirty="0"/>
          </a:p>
        </p:txBody>
      </p:sp>
      <p:sp>
        <p:nvSpPr>
          <p:cNvPr id="6" name="Text 4"/>
          <p:cNvSpPr/>
          <p:nvPr/>
        </p:nvSpPr>
        <p:spPr>
          <a:xfrm>
            <a:off x="1216152" y="158191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Purpose &amp; Objectives</a:t>
            </a:r>
            <a:endParaRPr lang="en-US" sz="1500" dirty="0"/>
          </a:p>
        </p:txBody>
      </p:sp>
      <p:sp>
        <p:nvSpPr>
          <p:cNvPr id="7" name="Text 5"/>
          <p:cNvSpPr/>
          <p:nvPr/>
        </p:nvSpPr>
        <p:spPr>
          <a:xfrm>
            <a:off x="1216152" y="187452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Why the Circular is issued and what it aims to achieve</a:t>
            </a:r>
            <a:endParaRPr lang="en-US" sz="1050" dirty="0"/>
          </a:p>
        </p:txBody>
      </p:sp>
      <p:sp>
        <p:nvSpPr>
          <p:cNvPr id="8" name="Text 6"/>
          <p:cNvSpPr/>
          <p:nvPr/>
        </p:nvSpPr>
        <p:spPr>
          <a:xfrm>
            <a:off x="4709160" y="160020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02</a:t>
            </a:r>
            <a:endParaRPr lang="en-US" sz="3000" dirty="0"/>
          </a:p>
        </p:txBody>
      </p:sp>
      <p:sp>
        <p:nvSpPr>
          <p:cNvPr id="9" name="Text 7"/>
          <p:cNvSpPr/>
          <p:nvPr/>
        </p:nvSpPr>
        <p:spPr>
          <a:xfrm>
            <a:off x="5422392" y="158191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Coverage &amp; Definitions</a:t>
            </a:r>
            <a:endParaRPr lang="en-US" sz="1500" dirty="0"/>
          </a:p>
        </p:txBody>
      </p:sp>
      <p:sp>
        <p:nvSpPr>
          <p:cNvPr id="10" name="Text 8"/>
          <p:cNvSpPr/>
          <p:nvPr/>
        </p:nvSpPr>
        <p:spPr>
          <a:xfrm>
            <a:off x="5422392" y="187452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Who is regulated and the key terms used</a:t>
            </a:r>
            <a:endParaRPr lang="en-US" sz="1050" dirty="0"/>
          </a:p>
        </p:txBody>
      </p:sp>
      <p:sp>
        <p:nvSpPr>
          <p:cNvPr id="11" name="Text 9"/>
          <p:cNvSpPr/>
          <p:nvPr/>
        </p:nvSpPr>
        <p:spPr>
          <a:xfrm>
            <a:off x="502920" y="242316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03</a:t>
            </a:r>
            <a:endParaRPr lang="en-US" sz="3000" dirty="0"/>
          </a:p>
        </p:txBody>
      </p:sp>
      <p:sp>
        <p:nvSpPr>
          <p:cNvPr id="12" name="Text 10"/>
          <p:cNvSpPr/>
          <p:nvPr/>
        </p:nvSpPr>
        <p:spPr>
          <a:xfrm>
            <a:off x="1216152" y="240487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Policies &amp; Qualification</a:t>
            </a:r>
            <a:endParaRPr lang="en-US" sz="1500" dirty="0"/>
          </a:p>
        </p:txBody>
      </p:sp>
      <p:sp>
        <p:nvSpPr>
          <p:cNvPr id="13" name="Text 11"/>
          <p:cNvSpPr/>
          <p:nvPr/>
        </p:nvSpPr>
        <p:spPr>
          <a:xfrm>
            <a:off x="1216152" y="269748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General policies and accreditation requirements</a:t>
            </a:r>
            <a:endParaRPr lang="en-US" sz="1050" dirty="0"/>
          </a:p>
        </p:txBody>
      </p:sp>
      <p:sp>
        <p:nvSpPr>
          <p:cNvPr id="14" name="Text 12"/>
          <p:cNvSpPr/>
          <p:nvPr/>
        </p:nvSpPr>
        <p:spPr>
          <a:xfrm>
            <a:off x="4709160" y="242316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04</a:t>
            </a:r>
            <a:endParaRPr lang="en-US" sz="3000" dirty="0"/>
          </a:p>
        </p:txBody>
      </p:sp>
      <p:sp>
        <p:nvSpPr>
          <p:cNvPr id="15" name="Text 13"/>
          <p:cNvSpPr/>
          <p:nvPr/>
        </p:nvSpPr>
        <p:spPr>
          <a:xfrm>
            <a:off x="5422392" y="240487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Accreditation Stages</a:t>
            </a:r>
            <a:endParaRPr lang="en-US" sz="1500" dirty="0"/>
          </a:p>
        </p:txBody>
      </p:sp>
      <p:sp>
        <p:nvSpPr>
          <p:cNvPr id="16" name="Text 14"/>
          <p:cNvSpPr/>
          <p:nvPr/>
        </p:nvSpPr>
        <p:spPr>
          <a:xfrm>
            <a:off x="5422392" y="269748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The stage-gated validation process</a:t>
            </a:r>
            <a:endParaRPr lang="en-US" sz="1050" dirty="0"/>
          </a:p>
        </p:txBody>
      </p:sp>
      <p:sp>
        <p:nvSpPr>
          <p:cNvPr id="17" name="Text 15"/>
          <p:cNvSpPr/>
          <p:nvPr/>
        </p:nvSpPr>
        <p:spPr>
          <a:xfrm>
            <a:off x="502920" y="324612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05</a:t>
            </a:r>
            <a:endParaRPr lang="en-US" sz="3000" dirty="0"/>
          </a:p>
        </p:txBody>
      </p:sp>
      <p:sp>
        <p:nvSpPr>
          <p:cNvPr id="18" name="Text 16"/>
          <p:cNvSpPr/>
          <p:nvPr/>
        </p:nvSpPr>
        <p:spPr>
          <a:xfrm>
            <a:off x="1216152" y="322783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Evaluation &amp; Obligations</a:t>
            </a:r>
            <a:endParaRPr lang="en-US" sz="1500" dirty="0"/>
          </a:p>
        </p:txBody>
      </p:sp>
      <p:sp>
        <p:nvSpPr>
          <p:cNvPr id="19" name="Text 17"/>
          <p:cNvSpPr/>
          <p:nvPr/>
        </p:nvSpPr>
        <p:spPr>
          <a:xfrm>
            <a:off x="1216152" y="352044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Approval, validity, and duties of ESPs</a:t>
            </a:r>
            <a:endParaRPr lang="en-US" sz="1050" dirty="0"/>
          </a:p>
        </p:txBody>
      </p:sp>
      <p:sp>
        <p:nvSpPr>
          <p:cNvPr id="20" name="Text 18"/>
          <p:cNvSpPr/>
          <p:nvPr/>
        </p:nvSpPr>
        <p:spPr>
          <a:xfrm>
            <a:off x="4709160" y="324612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06</a:t>
            </a:r>
            <a:endParaRPr lang="en-US" sz="3000" dirty="0"/>
          </a:p>
        </p:txBody>
      </p:sp>
      <p:sp>
        <p:nvSpPr>
          <p:cNvPr id="21" name="Text 19"/>
          <p:cNvSpPr/>
          <p:nvPr/>
        </p:nvSpPr>
        <p:spPr>
          <a:xfrm>
            <a:off x="5422392" y="322783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Data Governance &amp; Sanctions</a:t>
            </a:r>
            <a:endParaRPr lang="en-US" sz="1500" dirty="0"/>
          </a:p>
        </p:txBody>
      </p:sp>
      <p:sp>
        <p:nvSpPr>
          <p:cNvPr id="22" name="Text 20"/>
          <p:cNvSpPr/>
          <p:nvPr/>
        </p:nvSpPr>
        <p:spPr>
          <a:xfrm>
            <a:off x="5422392" y="352044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Ownership, access, liability, and penalties</a:t>
            </a:r>
            <a:endParaRPr lang="en-US" sz="1050" dirty="0"/>
          </a:p>
        </p:txBody>
      </p:sp>
      <p:sp>
        <p:nvSpPr>
          <p:cNvPr id="23" name="Text 21"/>
          <p:cNvSpPr/>
          <p:nvPr/>
        </p:nvSpPr>
        <p:spPr>
          <a:xfrm>
            <a:off x="502920" y="406908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07</a:t>
            </a:r>
            <a:endParaRPr lang="en-US" sz="3000" dirty="0"/>
          </a:p>
        </p:txBody>
      </p:sp>
      <p:sp>
        <p:nvSpPr>
          <p:cNvPr id="24" name="Text 22"/>
          <p:cNvSpPr/>
          <p:nvPr/>
        </p:nvSpPr>
        <p:spPr>
          <a:xfrm>
            <a:off x="1216152" y="405079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Annex A Checklist</a:t>
            </a:r>
            <a:endParaRPr lang="en-US" sz="1500" dirty="0"/>
          </a:p>
        </p:txBody>
      </p:sp>
      <p:sp>
        <p:nvSpPr>
          <p:cNvPr id="25" name="Text 23"/>
          <p:cNvSpPr/>
          <p:nvPr/>
        </p:nvSpPr>
        <p:spPr>
          <a:xfrm>
            <a:off x="1216152" y="434340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Documentary requirements for application</a:t>
            </a:r>
            <a:endParaRPr lang="en-US" sz="1050" dirty="0"/>
          </a:p>
        </p:txBody>
      </p:sp>
      <p:sp>
        <p:nvSpPr>
          <p:cNvPr id="26" name="Text 24"/>
          <p:cNvSpPr/>
          <p:nvPr/>
        </p:nvSpPr>
        <p:spPr>
          <a:xfrm>
            <a:off x="4709160" y="4069080"/>
            <a:ext cx="685800" cy="640080"/>
          </a:xfrm>
          <a:prstGeom prst="rect">
            <a:avLst/>
          </a:prstGeom>
          <a:noFill/>
          <a:ln/>
        </p:spPr>
        <p:txBody>
          <a:bodyPr wrap="square" lIns="0" tIns="0" rIns="0" bIns="0" rtlCol="0" anchor="t"/>
          <a:lstStyle/>
          <a:p>
            <a:pPr marL="0" indent="0" algn="l">
              <a:buNone/>
            </a:pPr>
            <a:r>
              <a:rPr lang="en-US" sz="3000" b="1" dirty="0">
                <a:solidFill>
                  <a:srgbClr val="D90429"/>
                </a:solidFill>
                <a:latin typeface="Georgia" pitchFamily="34" charset="0"/>
                <a:ea typeface="Georgia" pitchFamily="34" charset="-122"/>
                <a:cs typeface="Georgia" pitchFamily="34" charset="-120"/>
              </a:rPr>
              <a:t>08</a:t>
            </a:r>
            <a:endParaRPr lang="en-US" sz="3000" dirty="0"/>
          </a:p>
        </p:txBody>
      </p:sp>
      <p:sp>
        <p:nvSpPr>
          <p:cNvPr id="27" name="Text 25"/>
          <p:cNvSpPr/>
          <p:nvPr/>
        </p:nvSpPr>
        <p:spPr>
          <a:xfrm>
            <a:off x="5422392" y="4050792"/>
            <a:ext cx="3200400" cy="320040"/>
          </a:xfrm>
          <a:prstGeom prst="rect">
            <a:avLst/>
          </a:prstGeom>
          <a:noFill/>
          <a:ln/>
        </p:spPr>
        <p:txBody>
          <a:bodyPr wrap="square" lIns="0" tIns="0" rIns="0" bIns="0" rtlCol="0" anchor="t"/>
          <a:lstStyle/>
          <a:p>
            <a:pPr marL="0" indent="0" algn="l">
              <a:buNone/>
            </a:pPr>
            <a:r>
              <a:rPr lang="en-US" sz="1500" b="1" dirty="0">
                <a:solidFill>
                  <a:srgbClr val="2B2D42"/>
                </a:solidFill>
                <a:latin typeface="Calibri" pitchFamily="34" charset="0"/>
                <a:ea typeface="Calibri" pitchFamily="34" charset="-122"/>
                <a:cs typeface="Calibri" pitchFamily="34" charset="-120"/>
              </a:rPr>
              <a:t>Key Takeaways</a:t>
            </a:r>
            <a:endParaRPr lang="en-US" sz="1500" dirty="0"/>
          </a:p>
        </p:txBody>
      </p:sp>
      <p:sp>
        <p:nvSpPr>
          <p:cNvPr id="28" name="Text 26"/>
          <p:cNvSpPr/>
          <p:nvPr/>
        </p:nvSpPr>
        <p:spPr>
          <a:xfrm>
            <a:off x="5422392" y="4343400"/>
            <a:ext cx="3291840" cy="457200"/>
          </a:xfrm>
          <a:prstGeom prst="rect">
            <a:avLst/>
          </a:prstGeom>
          <a:noFill/>
          <a:ln/>
        </p:spPr>
        <p:txBody>
          <a:bodyPr wrap="square" lIns="0" tIns="0" rIns="0" bIns="0" rtlCol="0" anchor="t"/>
          <a:lstStyle/>
          <a:p>
            <a:pPr marL="0" indent="0" algn="l">
              <a:lnSpc>
                <a:spcPct val="100000"/>
              </a:lnSpc>
              <a:buNone/>
            </a:pPr>
            <a:r>
              <a:rPr lang="en-US" sz="1050" dirty="0">
                <a:solidFill>
                  <a:srgbClr val="8D99AE"/>
                </a:solidFill>
                <a:latin typeface="Calibri" pitchFamily="34" charset="0"/>
                <a:ea typeface="Calibri" pitchFamily="34" charset="-122"/>
                <a:cs typeface="Calibri" pitchFamily="34" charset="-120"/>
              </a:rPr>
              <a:t>Summary of the compliance framework</a:t>
            </a:r>
            <a:endParaRPr lang="en-US" sz="1050" dirty="0"/>
          </a:p>
        </p:txBody>
      </p:sp>
      <p:sp>
        <p:nvSpPr>
          <p:cNvPr id="29" name="Shape 27"/>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D42"/>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D90429"/>
          </a:solidFill>
          <a:ln/>
        </p:spPr>
        <p:txBody>
          <a:bodyPr/>
          <a:lstStyle/>
          <a:p>
            <a:endParaRPr lang="en-US"/>
          </a:p>
        </p:txBody>
      </p:sp>
      <p:sp>
        <p:nvSpPr>
          <p:cNvPr id="3" name="Text 1"/>
          <p:cNvSpPr/>
          <p:nvPr/>
        </p:nvSpPr>
        <p:spPr>
          <a:xfrm>
            <a:off x="274320" y="1645920"/>
            <a:ext cx="2651760" cy="1828800"/>
          </a:xfrm>
          <a:prstGeom prst="rect">
            <a:avLst/>
          </a:prstGeom>
          <a:noFill/>
          <a:ln/>
        </p:spPr>
        <p:txBody>
          <a:bodyPr wrap="square" rtlCol="0" anchor="ctr"/>
          <a:lstStyle/>
          <a:p>
            <a:pPr marL="0" indent="0" algn="l">
              <a:buNone/>
            </a:pPr>
            <a:r>
              <a:rPr lang="en-US" sz="15000" b="1" dirty="0">
                <a:solidFill>
                  <a:srgbClr val="FFFFFF"/>
                </a:solidFill>
                <a:latin typeface="Georgia" pitchFamily="34" charset="0"/>
                <a:ea typeface="Georgia" pitchFamily="34" charset="-122"/>
                <a:cs typeface="Georgia" pitchFamily="34" charset="-120"/>
              </a:rPr>
              <a:t>01</a:t>
            </a:r>
            <a:endParaRPr lang="en-US" sz="15000" dirty="0"/>
          </a:p>
        </p:txBody>
      </p:sp>
      <p:sp>
        <p:nvSpPr>
          <p:cNvPr id="4" name="Text 2"/>
          <p:cNvSpPr/>
          <p:nvPr/>
        </p:nvSpPr>
        <p:spPr>
          <a:xfrm>
            <a:off x="3566160" y="1920240"/>
            <a:ext cx="5120640" cy="320040"/>
          </a:xfrm>
          <a:prstGeom prst="rect">
            <a:avLst/>
          </a:prstGeom>
          <a:noFill/>
          <a:ln/>
        </p:spPr>
        <p:txBody>
          <a:bodyPr wrap="square" lIns="0" tIns="0" rIns="0" bIns="0" rtlCol="0" anchor="ctr"/>
          <a:lstStyle/>
          <a:p>
            <a:pPr marL="0" indent="0" algn="l">
              <a:buNone/>
            </a:pPr>
            <a:r>
              <a:rPr lang="en-US" sz="1300" b="1" kern="0" spc="300" dirty="0">
                <a:solidFill>
                  <a:srgbClr val="8D99AE"/>
                </a:solidFill>
                <a:latin typeface="Calibri" pitchFamily="34" charset="0"/>
                <a:ea typeface="Calibri" pitchFamily="34" charset="-122"/>
                <a:cs typeface="Calibri" pitchFamily="34" charset="-120"/>
              </a:rPr>
              <a:t>SECTION ONE</a:t>
            </a:r>
            <a:endParaRPr lang="en-US" sz="1300" dirty="0"/>
          </a:p>
        </p:txBody>
      </p:sp>
      <p:sp>
        <p:nvSpPr>
          <p:cNvPr id="5" name="Text 3"/>
          <p:cNvSpPr/>
          <p:nvPr/>
        </p:nvSpPr>
        <p:spPr>
          <a:xfrm>
            <a:off x="3566160" y="2240280"/>
            <a:ext cx="5303520" cy="822960"/>
          </a:xfrm>
          <a:prstGeom prst="rect">
            <a:avLst/>
          </a:prstGeom>
          <a:noFill/>
          <a:ln/>
        </p:spPr>
        <p:txBody>
          <a:bodyPr wrap="square" lIns="0" tIns="0" rIns="0" bIns="0" rtlCol="0" anchor="t"/>
          <a:lstStyle/>
          <a:p>
            <a:pPr marL="0" indent="0" algn="l">
              <a:buNone/>
            </a:pPr>
            <a:r>
              <a:rPr lang="en-US" sz="3800" b="1" dirty="0">
                <a:solidFill>
                  <a:srgbClr val="FFFFFF"/>
                </a:solidFill>
                <a:latin typeface="Georgia" pitchFamily="34" charset="0"/>
                <a:ea typeface="Georgia" pitchFamily="34" charset="-122"/>
                <a:cs typeface="Georgia" pitchFamily="34" charset="-120"/>
              </a:rPr>
              <a:t>Purpose &amp; Objectives</a:t>
            </a:r>
            <a:endParaRPr lang="en-US" sz="3800" dirty="0"/>
          </a:p>
        </p:txBody>
      </p:sp>
      <p:sp>
        <p:nvSpPr>
          <p:cNvPr id="6" name="Text 4"/>
          <p:cNvSpPr/>
          <p:nvPr/>
        </p:nvSpPr>
        <p:spPr>
          <a:xfrm>
            <a:off x="3566160" y="3154680"/>
            <a:ext cx="5120640" cy="914400"/>
          </a:xfrm>
          <a:prstGeom prst="rect">
            <a:avLst/>
          </a:prstGeom>
          <a:noFill/>
          <a:ln/>
        </p:spPr>
        <p:txBody>
          <a:bodyPr wrap="square" lIns="0" tIns="0" rIns="0" bIns="0" rtlCol="0" anchor="t"/>
          <a:lstStyle/>
          <a:p>
            <a:pPr marL="0" indent="0" algn="l">
              <a:lnSpc>
                <a:spcPct val="110000"/>
              </a:lnSpc>
              <a:buNone/>
            </a:pPr>
            <a:r>
              <a:rPr lang="en-US" sz="1400" dirty="0">
                <a:solidFill>
                  <a:srgbClr val="EDF2F4"/>
                </a:solidFill>
                <a:latin typeface="Calibri" pitchFamily="34" charset="0"/>
                <a:ea typeface="Calibri" pitchFamily="34" charset="-122"/>
                <a:cs typeface="Calibri" pitchFamily="34" charset="-120"/>
              </a:rPr>
              <a:t>Establishing a transparent, risk-based, and stage-gated framework for reliable, secure, and auditable e-invoicing solutions.</a:t>
            </a:r>
            <a:endParaRPr lang="en-US" sz="1400" dirty="0"/>
          </a:p>
        </p:txBody>
      </p:sp>
      <p:sp>
        <p:nvSpPr>
          <p:cNvPr id="7" name="Shape 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8" name="Text 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PURPOSE</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Why This Circular Is Issued</a:t>
            </a:r>
            <a:endParaRPr lang="en-US" sz="3000" dirty="0"/>
          </a:p>
        </p:txBody>
      </p:sp>
      <p:sp>
        <p:nvSpPr>
          <p:cNvPr id="5" name="Shape 3"/>
          <p:cNvSpPr/>
          <p:nvPr/>
        </p:nvSpPr>
        <p:spPr>
          <a:xfrm>
            <a:off x="548640" y="1645920"/>
            <a:ext cx="91440" cy="658368"/>
          </a:xfrm>
          <a:prstGeom prst="rect">
            <a:avLst/>
          </a:prstGeom>
          <a:solidFill>
            <a:srgbClr val="D90429"/>
          </a:solidFill>
          <a:ln/>
        </p:spPr>
        <p:txBody>
          <a:bodyPr/>
          <a:lstStyle/>
          <a:p>
            <a:endParaRPr lang="en-US"/>
          </a:p>
        </p:txBody>
      </p:sp>
      <p:sp>
        <p:nvSpPr>
          <p:cNvPr id="6" name="Text 4"/>
          <p:cNvSpPr/>
          <p:nvPr/>
        </p:nvSpPr>
        <p:spPr>
          <a:xfrm>
            <a:off x="777240" y="1600200"/>
            <a:ext cx="4754880" cy="868680"/>
          </a:xfrm>
          <a:prstGeom prst="rect">
            <a:avLst/>
          </a:prstGeom>
          <a:noFill/>
          <a:ln/>
        </p:spPr>
        <p:txBody>
          <a:bodyPr wrap="square" lIns="0" tIns="0" rIns="0" bIns="0" rtlCol="0" anchor="t"/>
          <a:lstStyle/>
          <a:p>
            <a:pPr marL="0" indent="0" algn="l">
              <a:lnSpc>
                <a:spcPct val="105000"/>
              </a:lnSpc>
              <a:buNone/>
            </a:pPr>
            <a:r>
              <a:rPr lang="en-US" sz="1250" dirty="0">
                <a:solidFill>
                  <a:srgbClr val="2B2D42"/>
                </a:solidFill>
                <a:latin typeface="Calibri" pitchFamily="34" charset="0"/>
                <a:ea typeface="Calibri" pitchFamily="34" charset="-122"/>
                <a:cs typeface="Calibri" pitchFamily="34" charset="-120"/>
              </a:rPr>
              <a:t>Provides policies and specific requirements for the accreditation and regulation of e-invoicing solutions supporting e-invoicing and electronic sales reporting under Sections 237 and 237-A of the Tax Code.</a:t>
            </a:r>
            <a:endParaRPr lang="en-US" sz="1250" dirty="0"/>
          </a:p>
        </p:txBody>
      </p:sp>
      <p:sp>
        <p:nvSpPr>
          <p:cNvPr id="7" name="Shape 5"/>
          <p:cNvSpPr/>
          <p:nvPr/>
        </p:nvSpPr>
        <p:spPr>
          <a:xfrm>
            <a:off x="548640" y="2624328"/>
            <a:ext cx="91440" cy="658368"/>
          </a:xfrm>
          <a:prstGeom prst="rect">
            <a:avLst/>
          </a:prstGeom>
          <a:solidFill>
            <a:srgbClr val="D90429"/>
          </a:solidFill>
          <a:ln/>
        </p:spPr>
        <p:txBody>
          <a:bodyPr/>
          <a:lstStyle/>
          <a:p>
            <a:endParaRPr lang="en-US"/>
          </a:p>
        </p:txBody>
      </p:sp>
      <p:sp>
        <p:nvSpPr>
          <p:cNvPr id="8" name="Text 6"/>
          <p:cNvSpPr/>
          <p:nvPr/>
        </p:nvSpPr>
        <p:spPr>
          <a:xfrm>
            <a:off x="777240" y="2578608"/>
            <a:ext cx="4754880" cy="868680"/>
          </a:xfrm>
          <a:prstGeom prst="rect">
            <a:avLst/>
          </a:prstGeom>
          <a:noFill/>
          <a:ln/>
        </p:spPr>
        <p:txBody>
          <a:bodyPr wrap="square" lIns="0" tIns="0" rIns="0" bIns="0" rtlCol="0" anchor="t"/>
          <a:lstStyle/>
          <a:p>
            <a:pPr marL="0" indent="0" algn="l">
              <a:lnSpc>
                <a:spcPct val="105000"/>
              </a:lnSpc>
              <a:buNone/>
            </a:pPr>
            <a:r>
              <a:rPr lang="en-US" sz="1250" dirty="0">
                <a:solidFill>
                  <a:srgbClr val="2B2D42"/>
                </a:solidFill>
                <a:latin typeface="Calibri" pitchFamily="34" charset="0"/>
                <a:ea typeface="Calibri" pitchFamily="34" charset="-122"/>
                <a:cs typeface="Calibri" pitchFamily="34" charset="-120"/>
              </a:rPr>
              <a:t>Implements the TRAIN Law (RA 10963) and CREATE MORE Act (RA 12066) through RR No. 11-2025, as amended by RR No. 26-2025.</a:t>
            </a:r>
            <a:endParaRPr lang="en-US" sz="1250" dirty="0"/>
          </a:p>
        </p:txBody>
      </p:sp>
      <p:sp>
        <p:nvSpPr>
          <p:cNvPr id="9" name="Shape 7"/>
          <p:cNvSpPr/>
          <p:nvPr/>
        </p:nvSpPr>
        <p:spPr>
          <a:xfrm>
            <a:off x="548640" y="3602736"/>
            <a:ext cx="91440" cy="658368"/>
          </a:xfrm>
          <a:prstGeom prst="rect">
            <a:avLst/>
          </a:prstGeom>
          <a:solidFill>
            <a:srgbClr val="D90429"/>
          </a:solidFill>
          <a:ln/>
        </p:spPr>
        <p:txBody>
          <a:bodyPr/>
          <a:lstStyle/>
          <a:p>
            <a:endParaRPr lang="en-US"/>
          </a:p>
        </p:txBody>
      </p:sp>
      <p:sp>
        <p:nvSpPr>
          <p:cNvPr id="10" name="Text 8"/>
          <p:cNvSpPr/>
          <p:nvPr/>
        </p:nvSpPr>
        <p:spPr>
          <a:xfrm>
            <a:off x="777240" y="3557016"/>
            <a:ext cx="4754880" cy="868680"/>
          </a:xfrm>
          <a:prstGeom prst="rect">
            <a:avLst/>
          </a:prstGeom>
          <a:noFill/>
          <a:ln/>
        </p:spPr>
        <p:txBody>
          <a:bodyPr wrap="square" lIns="0" tIns="0" rIns="0" bIns="0" rtlCol="0" anchor="t"/>
          <a:lstStyle/>
          <a:p>
            <a:pPr marL="0" indent="0" algn="l">
              <a:lnSpc>
                <a:spcPct val="105000"/>
              </a:lnSpc>
              <a:buNone/>
            </a:pPr>
            <a:r>
              <a:rPr lang="en-US" sz="1250" dirty="0">
                <a:solidFill>
                  <a:srgbClr val="2B2D42"/>
                </a:solidFill>
                <a:latin typeface="Calibri" pitchFamily="34" charset="0"/>
                <a:ea typeface="Calibri" pitchFamily="34" charset="-122"/>
                <a:cs typeface="Calibri" pitchFamily="34" charset="-120"/>
              </a:rPr>
              <a:t>Ensures ESP solutions are reliable, interoperable, secure, auditable, and financially sustainable while protecting taxpayer information.</a:t>
            </a:r>
            <a:endParaRPr lang="en-US" sz="1250" dirty="0"/>
          </a:p>
        </p:txBody>
      </p:sp>
      <p:sp>
        <p:nvSpPr>
          <p:cNvPr id="11" name="Shape 9"/>
          <p:cNvSpPr/>
          <p:nvPr/>
        </p:nvSpPr>
        <p:spPr>
          <a:xfrm>
            <a:off x="5806440" y="1600200"/>
            <a:ext cx="2971800" cy="2834640"/>
          </a:xfrm>
          <a:prstGeom prst="roundRect">
            <a:avLst>
              <a:gd name="adj" fmla="val 3226"/>
            </a:avLst>
          </a:prstGeom>
          <a:solidFill>
            <a:srgbClr val="2B2D42"/>
          </a:solidFill>
          <a:ln/>
        </p:spPr>
        <p:txBody>
          <a:bodyPr/>
          <a:lstStyle/>
          <a:p>
            <a:endParaRPr lang="en-US"/>
          </a:p>
        </p:txBody>
      </p:sp>
      <p:sp>
        <p:nvSpPr>
          <p:cNvPr id="12" name="Text 10"/>
          <p:cNvSpPr/>
          <p:nvPr/>
        </p:nvSpPr>
        <p:spPr>
          <a:xfrm>
            <a:off x="6035040" y="1828800"/>
            <a:ext cx="256032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LEGAL BASIS</a:t>
            </a:r>
            <a:endParaRPr lang="en-US" sz="1200" dirty="0"/>
          </a:p>
        </p:txBody>
      </p:sp>
      <p:sp>
        <p:nvSpPr>
          <p:cNvPr id="13" name="Text 11"/>
          <p:cNvSpPr/>
          <p:nvPr/>
        </p:nvSpPr>
        <p:spPr>
          <a:xfrm>
            <a:off x="6035040" y="2240280"/>
            <a:ext cx="2560320" cy="274320"/>
          </a:xfrm>
          <a:prstGeom prst="rect">
            <a:avLst/>
          </a:prstGeom>
          <a:noFill/>
          <a:ln/>
        </p:spPr>
        <p:txBody>
          <a:bodyPr wrap="square" lIns="0" tIns="0" rIns="0" bIns="0" rtlCol="0" anchor="ctr"/>
          <a:lstStyle/>
          <a:p>
            <a:pPr marL="0" indent="0" algn="l">
              <a:buNone/>
            </a:pPr>
            <a:r>
              <a:rPr lang="en-US" sz="1500" b="1" dirty="0">
                <a:solidFill>
                  <a:srgbClr val="FFFFFF"/>
                </a:solidFill>
                <a:latin typeface="Georgia" pitchFamily="34" charset="0"/>
                <a:ea typeface="Georgia" pitchFamily="34" charset="-122"/>
                <a:cs typeface="Georgia" pitchFamily="34" charset="-120"/>
              </a:rPr>
              <a:t>237 &amp; 237-A</a:t>
            </a:r>
            <a:endParaRPr lang="en-US" sz="1500" dirty="0"/>
          </a:p>
        </p:txBody>
      </p:sp>
      <p:sp>
        <p:nvSpPr>
          <p:cNvPr id="14" name="Text 12"/>
          <p:cNvSpPr/>
          <p:nvPr/>
        </p:nvSpPr>
        <p:spPr>
          <a:xfrm>
            <a:off x="6035040" y="2496312"/>
            <a:ext cx="2560320" cy="274320"/>
          </a:xfrm>
          <a:prstGeom prst="rect">
            <a:avLst/>
          </a:prstGeom>
          <a:noFill/>
          <a:ln/>
        </p:spPr>
        <p:txBody>
          <a:bodyPr wrap="square" lIns="0" tIns="0" rIns="0" bIns="0" rtlCol="0" anchor="ctr"/>
          <a:lstStyle/>
          <a:p>
            <a:pPr marL="0" indent="0" algn="l">
              <a:buNone/>
            </a:pPr>
            <a:r>
              <a:rPr lang="en-US" sz="1000" dirty="0">
                <a:solidFill>
                  <a:srgbClr val="8D99AE"/>
                </a:solidFill>
                <a:latin typeface="Calibri" pitchFamily="34" charset="0"/>
                <a:ea typeface="Calibri" pitchFamily="34" charset="-122"/>
                <a:cs typeface="Calibri" pitchFamily="34" charset="-120"/>
              </a:rPr>
              <a:t>National Internal Revenue Code (Tax Code)</a:t>
            </a:r>
            <a:endParaRPr lang="en-US" sz="1000" dirty="0"/>
          </a:p>
        </p:txBody>
      </p:sp>
      <p:sp>
        <p:nvSpPr>
          <p:cNvPr id="15" name="Text 13"/>
          <p:cNvSpPr/>
          <p:nvPr/>
        </p:nvSpPr>
        <p:spPr>
          <a:xfrm>
            <a:off x="6035040" y="2807208"/>
            <a:ext cx="2560320" cy="274320"/>
          </a:xfrm>
          <a:prstGeom prst="rect">
            <a:avLst/>
          </a:prstGeom>
          <a:noFill/>
          <a:ln/>
        </p:spPr>
        <p:txBody>
          <a:bodyPr wrap="square" lIns="0" tIns="0" rIns="0" bIns="0" rtlCol="0" anchor="ctr"/>
          <a:lstStyle/>
          <a:p>
            <a:pPr marL="0" indent="0" algn="l">
              <a:buNone/>
            </a:pPr>
            <a:r>
              <a:rPr lang="en-US" sz="1500" b="1" dirty="0">
                <a:solidFill>
                  <a:srgbClr val="FFFFFF"/>
                </a:solidFill>
                <a:latin typeface="Georgia" pitchFamily="34" charset="0"/>
                <a:ea typeface="Georgia" pitchFamily="34" charset="-122"/>
                <a:cs typeface="Georgia" pitchFamily="34" charset="-120"/>
              </a:rPr>
              <a:t>RA 10963</a:t>
            </a:r>
            <a:endParaRPr lang="en-US" sz="1500" dirty="0"/>
          </a:p>
        </p:txBody>
      </p:sp>
      <p:sp>
        <p:nvSpPr>
          <p:cNvPr id="16" name="Text 14"/>
          <p:cNvSpPr/>
          <p:nvPr/>
        </p:nvSpPr>
        <p:spPr>
          <a:xfrm>
            <a:off x="6035040" y="3063240"/>
            <a:ext cx="2560320" cy="274320"/>
          </a:xfrm>
          <a:prstGeom prst="rect">
            <a:avLst/>
          </a:prstGeom>
          <a:noFill/>
          <a:ln/>
        </p:spPr>
        <p:txBody>
          <a:bodyPr wrap="square" lIns="0" tIns="0" rIns="0" bIns="0" rtlCol="0" anchor="ctr"/>
          <a:lstStyle/>
          <a:p>
            <a:pPr marL="0" indent="0" algn="l">
              <a:buNone/>
            </a:pPr>
            <a:r>
              <a:rPr lang="en-US" sz="1000" dirty="0">
                <a:solidFill>
                  <a:srgbClr val="8D99AE"/>
                </a:solidFill>
                <a:latin typeface="Calibri" pitchFamily="34" charset="0"/>
                <a:ea typeface="Calibri" pitchFamily="34" charset="-122"/>
                <a:cs typeface="Calibri" pitchFamily="34" charset="-120"/>
              </a:rPr>
              <a:t>TRAIN Law</a:t>
            </a:r>
            <a:endParaRPr lang="en-US" sz="1000" dirty="0"/>
          </a:p>
        </p:txBody>
      </p:sp>
      <p:sp>
        <p:nvSpPr>
          <p:cNvPr id="17" name="Text 15"/>
          <p:cNvSpPr/>
          <p:nvPr/>
        </p:nvSpPr>
        <p:spPr>
          <a:xfrm>
            <a:off x="6035040" y="3374136"/>
            <a:ext cx="2560320" cy="274320"/>
          </a:xfrm>
          <a:prstGeom prst="rect">
            <a:avLst/>
          </a:prstGeom>
          <a:noFill/>
          <a:ln/>
        </p:spPr>
        <p:txBody>
          <a:bodyPr wrap="square" lIns="0" tIns="0" rIns="0" bIns="0" rtlCol="0" anchor="ctr"/>
          <a:lstStyle/>
          <a:p>
            <a:pPr marL="0" indent="0" algn="l">
              <a:buNone/>
            </a:pPr>
            <a:r>
              <a:rPr lang="en-US" sz="1500" b="1" dirty="0">
                <a:solidFill>
                  <a:srgbClr val="FFFFFF"/>
                </a:solidFill>
                <a:latin typeface="Georgia" pitchFamily="34" charset="0"/>
                <a:ea typeface="Georgia" pitchFamily="34" charset="-122"/>
                <a:cs typeface="Georgia" pitchFamily="34" charset="-120"/>
              </a:rPr>
              <a:t>RA 12066</a:t>
            </a:r>
            <a:endParaRPr lang="en-US" sz="1500" dirty="0"/>
          </a:p>
        </p:txBody>
      </p:sp>
      <p:sp>
        <p:nvSpPr>
          <p:cNvPr id="18" name="Text 16"/>
          <p:cNvSpPr/>
          <p:nvPr/>
        </p:nvSpPr>
        <p:spPr>
          <a:xfrm>
            <a:off x="6035040" y="3630168"/>
            <a:ext cx="2560320" cy="274320"/>
          </a:xfrm>
          <a:prstGeom prst="rect">
            <a:avLst/>
          </a:prstGeom>
          <a:noFill/>
          <a:ln/>
        </p:spPr>
        <p:txBody>
          <a:bodyPr wrap="square" lIns="0" tIns="0" rIns="0" bIns="0" rtlCol="0" anchor="ctr"/>
          <a:lstStyle/>
          <a:p>
            <a:pPr marL="0" indent="0" algn="l">
              <a:buNone/>
            </a:pPr>
            <a:r>
              <a:rPr lang="en-US" sz="1000" dirty="0">
                <a:solidFill>
                  <a:srgbClr val="8D99AE"/>
                </a:solidFill>
                <a:latin typeface="Calibri" pitchFamily="34" charset="0"/>
                <a:ea typeface="Calibri" pitchFamily="34" charset="-122"/>
                <a:cs typeface="Calibri" pitchFamily="34" charset="-120"/>
              </a:rPr>
              <a:t>CREATE MORE Act</a:t>
            </a:r>
            <a:endParaRPr lang="en-US" sz="1000" dirty="0"/>
          </a:p>
        </p:txBody>
      </p:sp>
      <p:sp>
        <p:nvSpPr>
          <p:cNvPr id="19" name="Text 17"/>
          <p:cNvSpPr/>
          <p:nvPr/>
        </p:nvSpPr>
        <p:spPr>
          <a:xfrm>
            <a:off x="6035040" y="3941064"/>
            <a:ext cx="2560320" cy="274320"/>
          </a:xfrm>
          <a:prstGeom prst="rect">
            <a:avLst/>
          </a:prstGeom>
          <a:noFill/>
          <a:ln/>
        </p:spPr>
        <p:txBody>
          <a:bodyPr wrap="square" lIns="0" tIns="0" rIns="0" bIns="0" rtlCol="0" anchor="ctr"/>
          <a:lstStyle/>
          <a:p>
            <a:pPr marL="0" indent="0" algn="l">
              <a:buNone/>
            </a:pPr>
            <a:r>
              <a:rPr lang="en-US" sz="1500" b="1" dirty="0">
                <a:solidFill>
                  <a:srgbClr val="FFFFFF"/>
                </a:solidFill>
                <a:latin typeface="Georgia" pitchFamily="34" charset="0"/>
                <a:ea typeface="Georgia" pitchFamily="34" charset="-122"/>
                <a:cs typeface="Georgia" pitchFamily="34" charset="-120"/>
              </a:rPr>
              <a:t>RR 11-2025</a:t>
            </a:r>
            <a:endParaRPr lang="en-US" sz="1500" dirty="0"/>
          </a:p>
        </p:txBody>
      </p:sp>
      <p:sp>
        <p:nvSpPr>
          <p:cNvPr id="20" name="Text 18"/>
          <p:cNvSpPr/>
          <p:nvPr/>
        </p:nvSpPr>
        <p:spPr>
          <a:xfrm>
            <a:off x="6035040" y="4197096"/>
            <a:ext cx="2560320" cy="274320"/>
          </a:xfrm>
          <a:prstGeom prst="rect">
            <a:avLst/>
          </a:prstGeom>
          <a:noFill/>
          <a:ln/>
        </p:spPr>
        <p:txBody>
          <a:bodyPr wrap="square" lIns="0" tIns="0" rIns="0" bIns="0" rtlCol="0" anchor="ctr"/>
          <a:lstStyle/>
          <a:p>
            <a:pPr marL="0" indent="0" algn="l">
              <a:buNone/>
            </a:pPr>
            <a:r>
              <a:rPr lang="en-US" sz="1000" dirty="0">
                <a:solidFill>
                  <a:srgbClr val="8D99AE"/>
                </a:solidFill>
                <a:latin typeface="Calibri" pitchFamily="34" charset="0"/>
                <a:ea typeface="Calibri" pitchFamily="34" charset="-122"/>
                <a:cs typeface="Calibri" pitchFamily="34" charset="-120"/>
              </a:rPr>
              <a:t>As amended by RR 26-2025</a:t>
            </a:r>
            <a:endParaRPr lang="en-US" sz="1000" dirty="0"/>
          </a:p>
        </p:txBody>
      </p:sp>
      <p:sp>
        <p:nvSpPr>
          <p:cNvPr id="21" name="Shape 19"/>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2" name="Text 20"/>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OBJECTIVES</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Six Core Objectives</a:t>
            </a:r>
            <a:endParaRPr lang="en-US" sz="3000" dirty="0"/>
          </a:p>
        </p:txBody>
      </p:sp>
      <p:sp>
        <p:nvSpPr>
          <p:cNvPr id="5" name="Shape 3"/>
          <p:cNvSpPr/>
          <p:nvPr/>
        </p:nvSpPr>
        <p:spPr>
          <a:xfrm>
            <a:off x="502920" y="1554480"/>
            <a:ext cx="2697480" cy="1417320"/>
          </a:xfrm>
          <a:prstGeom prst="roundRect">
            <a:avLst>
              <a:gd name="adj" fmla="val 5161"/>
            </a:avLst>
          </a:prstGeom>
          <a:solidFill>
            <a:srgbClr val="EDF2F4"/>
          </a:solidFill>
          <a:ln/>
        </p:spPr>
        <p:txBody>
          <a:bodyPr/>
          <a:lstStyle/>
          <a:p>
            <a:endParaRPr lang="en-US"/>
          </a:p>
        </p:txBody>
      </p:sp>
      <p:sp>
        <p:nvSpPr>
          <p:cNvPr id="6" name="Shape 4"/>
          <p:cNvSpPr/>
          <p:nvPr/>
        </p:nvSpPr>
        <p:spPr>
          <a:xfrm>
            <a:off x="685800" y="1737360"/>
            <a:ext cx="457200" cy="457200"/>
          </a:xfrm>
          <a:prstGeom prst="ellipse">
            <a:avLst/>
          </a:prstGeom>
          <a:solidFill>
            <a:srgbClr val="D90429"/>
          </a:solidFill>
          <a:ln/>
        </p:spPr>
        <p:txBody>
          <a:bodyPr/>
          <a:lstStyle/>
          <a:p>
            <a:endParaRPr lang="en-US"/>
          </a:p>
        </p:txBody>
      </p:sp>
      <p:sp>
        <p:nvSpPr>
          <p:cNvPr id="7" name="Text 5"/>
          <p:cNvSpPr/>
          <p:nvPr/>
        </p:nvSpPr>
        <p:spPr>
          <a:xfrm>
            <a:off x="685800" y="17373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8" name="Text 6"/>
          <p:cNvSpPr/>
          <p:nvPr/>
        </p:nvSpPr>
        <p:spPr>
          <a:xfrm>
            <a:off x="1252728" y="17556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Accreditation Framework</a:t>
            </a:r>
            <a:endParaRPr lang="en-US" sz="1250" dirty="0"/>
          </a:p>
        </p:txBody>
      </p:sp>
      <p:sp>
        <p:nvSpPr>
          <p:cNvPr id="9" name="Text 7"/>
          <p:cNvSpPr/>
          <p:nvPr/>
        </p:nvSpPr>
        <p:spPr>
          <a:xfrm>
            <a:off x="685800" y="23042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A clear, transparent, risk-based, and stage-gated framework for validation.</a:t>
            </a:r>
            <a:endParaRPr lang="en-US" sz="950" dirty="0"/>
          </a:p>
        </p:txBody>
      </p:sp>
      <p:sp>
        <p:nvSpPr>
          <p:cNvPr id="10" name="Shape 8"/>
          <p:cNvSpPr/>
          <p:nvPr/>
        </p:nvSpPr>
        <p:spPr>
          <a:xfrm>
            <a:off x="3401568" y="1554480"/>
            <a:ext cx="2697480" cy="1417320"/>
          </a:xfrm>
          <a:prstGeom prst="roundRect">
            <a:avLst>
              <a:gd name="adj" fmla="val 5161"/>
            </a:avLst>
          </a:prstGeom>
          <a:solidFill>
            <a:srgbClr val="EDF2F4"/>
          </a:solidFill>
          <a:ln/>
        </p:spPr>
        <p:txBody>
          <a:bodyPr/>
          <a:lstStyle/>
          <a:p>
            <a:endParaRPr lang="en-US"/>
          </a:p>
        </p:txBody>
      </p:sp>
      <p:sp>
        <p:nvSpPr>
          <p:cNvPr id="11" name="Shape 9"/>
          <p:cNvSpPr/>
          <p:nvPr/>
        </p:nvSpPr>
        <p:spPr>
          <a:xfrm>
            <a:off x="3584448" y="1737360"/>
            <a:ext cx="457200" cy="457200"/>
          </a:xfrm>
          <a:prstGeom prst="ellipse">
            <a:avLst/>
          </a:prstGeom>
          <a:solidFill>
            <a:srgbClr val="D90429"/>
          </a:solidFill>
          <a:ln/>
        </p:spPr>
        <p:txBody>
          <a:bodyPr/>
          <a:lstStyle/>
          <a:p>
            <a:endParaRPr lang="en-US"/>
          </a:p>
        </p:txBody>
      </p:sp>
      <p:sp>
        <p:nvSpPr>
          <p:cNvPr id="12" name="Text 10"/>
          <p:cNvSpPr/>
          <p:nvPr/>
        </p:nvSpPr>
        <p:spPr>
          <a:xfrm>
            <a:off x="3584448" y="17373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13" name="Text 11"/>
          <p:cNvSpPr/>
          <p:nvPr/>
        </p:nvSpPr>
        <p:spPr>
          <a:xfrm>
            <a:off x="4151376" y="17556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Data Integrity</a:t>
            </a:r>
            <a:endParaRPr lang="en-US" sz="1250" dirty="0"/>
          </a:p>
        </p:txBody>
      </p:sp>
      <p:sp>
        <p:nvSpPr>
          <p:cNvPr id="14" name="Text 12"/>
          <p:cNvSpPr/>
          <p:nvPr/>
        </p:nvSpPr>
        <p:spPr>
          <a:xfrm>
            <a:off x="3584448" y="23042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Accurate, complete, secure, timely, traceable, and tamper-evident invoice and sales data.</a:t>
            </a:r>
            <a:endParaRPr lang="en-US" sz="950" dirty="0"/>
          </a:p>
        </p:txBody>
      </p:sp>
      <p:sp>
        <p:nvSpPr>
          <p:cNvPr id="15" name="Shape 13"/>
          <p:cNvSpPr/>
          <p:nvPr/>
        </p:nvSpPr>
        <p:spPr>
          <a:xfrm>
            <a:off x="6300216" y="1554480"/>
            <a:ext cx="2697480" cy="1417320"/>
          </a:xfrm>
          <a:prstGeom prst="roundRect">
            <a:avLst>
              <a:gd name="adj" fmla="val 5161"/>
            </a:avLst>
          </a:prstGeom>
          <a:solidFill>
            <a:srgbClr val="EDF2F4"/>
          </a:solidFill>
          <a:ln/>
        </p:spPr>
        <p:txBody>
          <a:bodyPr/>
          <a:lstStyle/>
          <a:p>
            <a:endParaRPr lang="en-US"/>
          </a:p>
        </p:txBody>
      </p:sp>
      <p:sp>
        <p:nvSpPr>
          <p:cNvPr id="16" name="Shape 14"/>
          <p:cNvSpPr/>
          <p:nvPr/>
        </p:nvSpPr>
        <p:spPr>
          <a:xfrm>
            <a:off x="6483096" y="1737360"/>
            <a:ext cx="457200" cy="457200"/>
          </a:xfrm>
          <a:prstGeom prst="ellipse">
            <a:avLst/>
          </a:prstGeom>
          <a:solidFill>
            <a:srgbClr val="D90429"/>
          </a:solidFill>
          <a:ln/>
        </p:spPr>
        <p:txBody>
          <a:bodyPr/>
          <a:lstStyle/>
          <a:p>
            <a:endParaRPr lang="en-US"/>
          </a:p>
        </p:txBody>
      </p:sp>
      <p:sp>
        <p:nvSpPr>
          <p:cNvPr id="17" name="Text 15"/>
          <p:cNvSpPr/>
          <p:nvPr/>
        </p:nvSpPr>
        <p:spPr>
          <a:xfrm>
            <a:off x="6483096" y="17373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18" name="Text 16"/>
          <p:cNvSpPr/>
          <p:nvPr/>
        </p:nvSpPr>
        <p:spPr>
          <a:xfrm>
            <a:off x="7050024" y="17556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Taxpayer Protection</a:t>
            </a:r>
            <a:endParaRPr lang="en-US" sz="1250" dirty="0"/>
          </a:p>
        </p:txBody>
      </p:sp>
      <p:sp>
        <p:nvSpPr>
          <p:cNvPr id="19" name="Text 17"/>
          <p:cNvSpPr/>
          <p:nvPr/>
        </p:nvSpPr>
        <p:spPr>
          <a:xfrm>
            <a:off x="6483096" y="23042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Protect data, ensure continuity, and prevent unreasonable vendor lock-in.</a:t>
            </a:r>
            <a:endParaRPr lang="en-US" sz="950" dirty="0"/>
          </a:p>
        </p:txBody>
      </p:sp>
      <p:sp>
        <p:nvSpPr>
          <p:cNvPr id="20" name="Shape 18"/>
          <p:cNvSpPr/>
          <p:nvPr/>
        </p:nvSpPr>
        <p:spPr>
          <a:xfrm>
            <a:off x="502920" y="3154680"/>
            <a:ext cx="2697480" cy="1417320"/>
          </a:xfrm>
          <a:prstGeom prst="roundRect">
            <a:avLst>
              <a:gd name="adj" fmla="val 5161"/>
            </a:avLst>
          </a:prstGeom>
          <a:solidFill>
            <a:srgbClr val="EDF2F4"/>
          </a:solidFill>
          <a:ln/>
        </p:spPr>
        <p:txBody>
          <a:bodyPr/>
          <a:lstStyle/>
          <a:p>
            <a:endParaRPr lang="en-US"/>
          </a:p>
        </p:txBody>
      </p:sp>
      <p:sp>
        <p:nvSpPr>
          <p:cNvPr id="21" name="Shape 19"/>
          <p:cNvSpPr/>
          <p:nvPr/>
        </p:nvSpPr>
        <p:spPr>
          <a:xfrm>
            <a:off x="685800" y="3337560"/>
            <a:ext cx="457200" cy="457200"/>
          </a:xfrm>
          <a:prstGeom prst="ellipse">
            <a:avLst/>
          </a:prstGeom>
          <a:solidFill>
            <a:srgbClr val="D90429"/>
          </a:solidFill>
          <a:ln/>
        </p:spPr>
        <p:txBody>
          <a:bodyPr/>
          <a:lstStyle/>
          <a:p>
            <a:endParaRPr lang="en-US"/>
          </a:p>
        </p:txBody>
      </p:sp>
      <p:sp>
        <p:nvSpPr>
          <p:cNvPr id="22" name="Text 20"/>
          <p:cNvSpPr/>
          <p:nvPr/>
        </p:nvSpPr>
        <p:spPr>
          <a:xfrm>
            <a:off x="685800" y="33375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23" name="Text 21"/>
          <p:cNvSpPr/>
          <p:nvPr/>
        </p:nvSpPr>
        <p:spPr>
          <a:xfrm>
            <a:off x="1252728" y="33558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Security Controls</a:t>
            </a:r>
            <a:endParaRPr lang="en-US" sz="1250" dirty="0"/>
          </a:p>
        </p:txBody>
      </p:sp>
      <p:sp>
        <p:nvSpPr>
          <p:cNvPr id="24" name="Text 22"/>
          <p:cNvSpPr/>
          <p:nvPr/>
        </p:nvSpPr>
        <p:spPr>
          <a:xfrm>
            <a:off x="685800" y="39044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Internationally recognized information security management controls and processes.</a:t>
            </a:r>
            <a:endParaRPr lang="en-US" sz="950" dirty="0"/>
          </a:p>
        </p:txBody>
      </p:sp>
      <p:sp>
        <p:nvSpPr>
          <p:cNvPr id="25" name="Shape 23"/>
          <p:cNvSpPr/>
          <p:nvPr/>
        </p:nvSpPr>
        <p:spPr>
          <a:xfrm>
            <a:off x="3401568" y="3154680"/>
            <a:ext cx="2697480" cy="1417320"/>
          </a:xfrm>
          <a:prstGeom prst="roundRect">
            <a:avLst>
              <a:gd name="adj" fmla="val 5161"/>
            </a:avLst>
          </a:prstGeom>
          <a:solidFill>
            <a:srgbClr val="EDF2F4"/>
          </a:solidFill>
          <a:ln/>
        </p:spPr>
        <p:txBody>
          <a:bodyPr/>
          <a:lstStyle/>
          <a:p>
            <a:endParaRPr lang="en-US"/>
          </a:p>
        </p:txBody>
      </p:sp>
      <p:sp>
        <p:nvSpPr>
          <p:cNvPr id="26" name="Shape 24"/>
          <p:cNvSpPr/>
          <p:nvPr/>
        </p:nvSpPr>
        <p:spPr>
          <a:xfrm>
            <a:off x="3584448" y="3337560"/>
            <a:ext cx="457200" cy="457200"/>
          </a:xfrm>
          <a:prstGeom prst="ellipse">
            <a:avLst/>
          </a:prstGeom>
          <a:solidFill>
            <a:srgbClr val="D90429"/>
          </a:solidFill>
          <a:ln/>
        </p:spPr>
        <p:txBody>
          <a:bodyPr/>
          <a:lstStyle/>
          <a:p>
            <a:endParaRPr lang="en-US"/>
          </a:p>
        </p:txBody>
      </p:sp>
      <p:sp>
        <p:nvSpPr>
          <p:cNvPr id="27" name="Text 25"/>
          <p:cNvSpPr/>
          <p:nvPr/>
        </p:nvSpPr>
        <p:spPr>
          <a:xfrm>
            <a:off x="3584448" y="33375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E</a:t>
            </a:r>
            <a:endParaRPr lang="en-US" sz="1800" dirty="0"/>
          </a:p>
        </p:txBody>
      </p:sp>
      <p:sp>
        <p:nvSpPr>
          <p:cNvPr id="28" name="Text 26"/>
          <p:cNvSpPr/>
          <p:nvPr/>
        </p:nvSpPr>
        <p:spPr>
          <a:xfrm>
            <a:off x="4151376" y="33558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Continuous Access</a:t>
            </a:r>
            <a:endParaRPr lang="en-US" sz="1250" dirty="0"/>
          </a:p>
        </p:txBody>
      </p:sp>
      <p:sp>
        <p:nvSpPr>
          <p:cNvPr id="29" name="Text 27"/>
          <p:cNvSpPr/>
          <p:nvPr/>
        </p:nvSpPr>
        <p:spPr>
          <a:xfrm>
            <a:off x="3584448" y="39044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Data remains accessible to taxpayer and BIR; retrievable and machine-readable.</a:t>
            </a:r>
            <a:endParaRPr lang="en-US" sz="950" dirty="0"/>
          </a:p>
        </p:txBody>
      </p:sp>
      <p:sp>
        <p:nvSpPr>
          <p:cNvPr id="30" name="Shape 28"/>
          <p:cNvSpPr/>
          <p:nvPr/>
        </p:nvSpPr>
        <p:spPr>
          <a:xfrm>
            <a:off x="6300216" y="3154680"/>
            <a:ext cx="2697480" cy="1417320"/>
          </a:xfrm>
          <a:prstGeom prst="roundRect">
            <a:avLst>
              <a:gd name="adj" fmla="val 5161"/>
            </a:avLst>
          </a:prstGeom>
          <a:solidFill>
            <a:srgbClr val="EDF2F4"/>
          </a:solidFill>
          <a:ln/>
        </p:spPr>
        <p:txBody>
          <a:bodyPr/>
          <a:lstStyle/>
          <a:p>
            <a:endParaRPr lang="en-US"/>
          </a:p>
        </p:txBody>
      </p:sp>
      <p:sp>
        <p:nvSpPr>
          <p:cNvPr id="31" name="Shape 29"/>
          <p:cNvSpPr/>
          <p:nvPr/>
        </p:nvSpPr>
        <p:spPr>
          <a:xfrm>
            <a:off x="6483096" y="3337560"/>
            <a:ext cx="457200" cy="457200"/>
          </a:xfrm>
          <a:prstGeom prst="ellipse">
            <a:avLst/>
          </a:prstGeom>
          <a:solidFill>
            <a:srgbClr val="D90429"/>
          </a:solidFill>
          <a:ln/>
        </p:spPr>
        <p:txBody>
          <a:bodyPr/>
          <a:lstStyle/>
          <a:p>
            <a:endParaRPr lang="en-US"/>
          </a:p>
        </p:txBody>
      </p:sp>
      <p:sp>
        <p:nvSpPr>
          <p:cNvPr id="32" name="Text 30"/>
          <p:cNvSpPr/>
          <p:nvPr/>
        </p:nvSpPr>
        <p:spPr>
          <a:xfrm>
            <a:off x="6483096" y="333756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F</a:t>
            </a:r>
            <a:endParaRPr lang="en-US" sz="1800" dirty="0"/>
          </a:p>
        </p:txBody>
      </p:sp>
      <p:sp>
        <p:nvSpPr>
          <p:cNvPr id="33" name="Text 31"/>
          <p:cNvSpPr/>
          <p:nvPr/>
        </p:nvSpPr>
        <p:spPr>
          <a:xfrm>
            <a:off x="7050024" y="3355848"/>
            <a:ext cx="1783080" cy="457200"/>
          </a:xfrm>
          <a:prstGeom prst="rect">
            <a:avLst/>
          </a:prstGeom>
          <a:noFill/>
          <a:ln/>
        </p:spPr>
        <p:txBody>
          <a:bodyPr wrap="square" lIns="0" tIns="0" rIns="0" bIns="0" rtlCol="0" anchor="ctr"/>
          <a:lstStyle/>
          <a:p>
            <a:pPr marL="0" indent="0" algn="l">
              <a:buNone/>
            </a:pPr>
            <a:r>
              <a:rPr lang="en-US" sz="1250" b="1" dirty="0">
                <a:solidFill>
                  <a:srgbClr val="2B2D42"/>
                </a:solidFill>
                <a:latin typeface="Calibri" pitchFamily="34" charset="0"/>
                <a:ea typeface="Calibri" pitchFamily="34" charset="-122"/>
                <a:cs typeface="Calibri" pitchFamily="34" charset="-120"/>
              </a:rPr>
              <a:t>Digitalization</a:t>
            </a:r>
            <a:endParaRPr lang="en-US" sz="1250" dirty="0"/>
          </a:p>
        </p:txBody>
      </p:sp>
      <p:sp>
        <p:nvSpPr>
          <p:cNvPr id="34" name="Text 32"/>
          <p:cNvSpPr/>
          <p:nvPr/>
        </p:nvSpPr>
        <p:spPr>
          <a:xfrm>
            <a:off x="6483096" y="3904488"/>
            <a:ext cx="2331720" cy="548640"/>
          </a:xfrm>
          <a:prstGeom prst="rect">
            <a:avLst/>
          </a:prstGeom>
          <a:noFill/>
          <a:ln/>
        </p:spPr>
        <p:txBody>
          <a:bodyPr wrap="square" lIns="0" tIns="0" rIns="0" bIns="0" rtlCol="0" anchor="t"/>
          <a:lstStyle/>
          <a:p>
            <a:pPr marL="0" indent="0" algn="l">
              <a:lnSpc>
                <a:spcPct val="100000"/>
              </a:lnSpc>
              <a:buNone/>
            </a:pPr>
            <a:r>
              <a:rPr lang="en-US" sz="950" dirty="0">
                <a:solidFill>
                  <a:srgbClr val="8D99AE"/>
                </a:solidFill>
                <a:latin typeface="Calibri" pitchFamily="34" charset="0"/>
                <a:ea typeface="Calibri" pitchFamily="34" charset="-122"/>
                <a:cs typeface="Calibri" pitchFamily="34" charset="-120"/>
              </a:rPr>
              <a:t>Support BIR digitalization, compliance monitoring, and revenue assurance.</a:t>
            </a:r>
            <a:endParaRPr lang="en-US" sz="950" dirty="0"/>
          </a:p>
        </p:txBody>
      </p:sp>
      <p:sp>
        <p:nvSpPr>
          <p:cNvPr id="35" name="Shape 33"/>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6" name="Text 34"/>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COVERAGE</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Who the Circular Applies To</a:t>
            </a:r>
            <a:endParaRPr lang="en-US" sz="3000" dirty="0"/>
          </a:p>
        </p:txBody>
      </p:sp>
      <p:sp>
        <p:nvSpPr>
          <p:cNvPr id="5" name="Shape 3"/>
          <p:cNvSpPr/>
          <p:nvPr/>
        </p:nvSpPr>
        <p:spPr>
          <a:xfrm>
            <a:off x="502920" y="1554480"/>
            <a:ext cx="3977640" cy="2926080"/>
          </a:xfrm>
          <a:prstGeom prst="roundRect">
            <a:avLst>
              <a:gd name="adj" fmla="val 3125"/>
            </a:avLst>
          </a:prstGeom>
          <a:solidFill>
            <a:srgbClr val="EDF2F4"/>
          </a:solidFill>
          <a:ln/>
        </p:spPr>
        <p:txBody>
          <a:bodyPr/>
          <a:lstStyle/>
          <a:p>
            <a:endParaRPr lang="en-US"/>
          </a:p>
        </p:txBody>
      </p:sp>
      <p:sp>
        <p:nvSpPr>
          <p:cNvPr id="6" name="Shape 4"/>
          <p:cNvSpPr/>
          <p:nvPr/>
        </p:nvSpPr>
        <p:spPr>
          <a:xfrm>
            <a:off x="502920" y="1554480"/>
            <a:ext cx="3977640" cy="594360"/>
          </a:xfrm>
          <a:prstGeom prst="roundRect">
            <a:avLst>
              <a:gd name="adj" fmla="val 15385"/>
            </a:avLst>
          </a:prstGeom>
          <a:solidFill>
            <a:srgbClr val="2B2D42"/>
          </a:solidFill>
          <a:ln/>
        </p:spPr>
        <p:txBody>
          <a:bodyPr/>
          <a:lstStyle/>
          <a:p>
            <a:endParaRPr lang="en-US"/>
          </a:p>
        </p:txBody>
      </p:sp>
      <p:sp>
        <p:nvSpPr>
          <p:cNvPr id="7" name="Text 5"/>
          <p:cNvSpPr/>
          <p:nvPr/>
        </p:nvSpPr>
        <p:spPr>
          <a:xfrm>
            <a:off x="685800" y="1554480"/>
            <a:ext cx="3657600" cy="59436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COVERED</a:t>
            </a:r>
            <a:endParaRPr lang="en-US" sz="1600" dirty="0"/>
          </a:p>
        </p:txBody>
      </p:sp>
      <p:sp>
        <p:nvSpPr>
          <p:cNvPr id="8" name="Text 6"/>
          <p:cNvSpPr/>
          <p:nvPr/>
        </p:nvSpPr>
        <p:spPr>
          <a:xfrm>
            <a:off x="685800" y="2331720"/>
            <a:ext cx="320040" cy="365760"/>
          </a:xfrm>
          <a:prstGeom prst="rect">
            <a:avLst/>
          </a:prstGeom>
          <a:noFill/>
          <a:ln/>
        </p:spPr>
        <p:txBody>
          <a:bodyPr wrap="square" lIns="0" tIns="0" rIns="0" bIns="0" rtlCol="0" anchor="t"/>
          <a:lstStyle/>
          <a:p>
            <a:pPr marL="0" indent="0" algn="l">
              <a:buNone/>
            </a:pPr>
            <a:r>
              <a:rPr lang="en-US" sz="1800" b="1" dirty="0">
                <a:solidFill>
                  <a:srgbClr val="D90429"/>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24128" y="2331720"/>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ESPs providing e-invoicing and electronic sales reporting services</a:t>
            </a:r>
            <a:endParaRPr lang="en-US" sz="1100" dirty="0"/>
          </a:p>
        </p:txBody>
      </p:sp>
      <p:sp>
        <p:nvSpPr>
          <p:cNvPr id="10" name="Text 8"/>
          <p:cNvSpPr/>
          <p:nvPr/>
        </p:nvSpPr>
        <p:spPr>
          <a:xfrm>
            <a:off x="685800" y="3026664"/>
            <a:ext cx="320040" cy="365760"/>
          </a:xfrm>
          <a:prstGeom prst="rect">
            <a:avLst/>
          </a:prstGeom>
          <a:noFill/>
          <a:ln/>
        </p:spPr>
        <p:txBody>
          <a:bodyPr wrap="square" lIns="0" tIns="0" rIns="0" bIns="0" rtlCol="0" anchor="t"/>
          <a:lstStyle/>
          <a:p>
            <a:pPr marL="0" indent="0" algn="l">
              <a:buNone/>
            </a:pPr>
            <a:r>
              <a:rPr lang="en-US" sz="1800" b="1" dirty="0">
                <a:solidFill>
                  <a:srgbClr val="D90429"/>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024128" y="3026664"/>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Integration, storage, validation, and middleware services to taxpayers</a:t>
            </a:r>
            <a:endParaRPr lang="en-US" sz="1100" dirty="0"/>
          </a:p>
        </p:txBody>
      </p:sp>
      <p:sp>
        <p:nvSpPr>
          <p:cNvPr id="12" name="Text 10"/>
          <p:cNvSpPr/>
          <p:nvPr/>
        </p:nvSpPr>
        <p:spPr>
          <a:xfrm>
            <a:off x="685800" y="3721608"/>
            <a:ext cx="320040" cy="365760"/>
          </a:xfrm>
          <a:prstGeom prst="rect">
            <a:avLst/>
          </a:prstGeom>
          <a:noFill/>
          <a:ln/>
        </p:spPr>
        <p:txBody>
          <a:bodyPr wrap="square" lIns="0" tIns="0" rIns="0" bIns="0" rtlCol="0" anchor="t"/>
          <a:lstStyle/>
          <a:p>
            <a:pPr marL="0" indent="0" algn="l">
              <a:buNone/>
            </a:pPr>
            <a:r>
              <a:rPr lang="en-US" sz="1800" b="1" dirty="0">
                <a:solidFill>
                  <a:srgbClr val="D90429"/>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024128" y="3721608"/>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Systems offered to an affiliate, subsidiary, franchisee, or separate juridical entity</a:t>
            </a:r>
            <a:endParaRPr lang="en-US" sz="1100" dirty="0"/>
          </a:p>
        </p:txBody>
      </p:sp>
      <p:sp>
        <p:nvSpPr>
          <p:cNvPr id="14" name="Shape 12"/>
          <p:cNvSpPr/>
          <p:nvPr/>
        </p:nvSpPr>
        <p:spPr>
          <a:xfrm>
            <a:off x="4663440" y="1554480"/>
            <a:ext cx="3977640" cy="2926080"/>
          </a:xfrm>
          <a:prstGeom prst="roundRect">
            <a:avLst>
              <a:gd name="adj" fmla="val 3125"/>
            </a:avLst>
          </a:prstGeom>
          <a:solidFill>
            <a:srgbClr val="EDF2F4"/>
          </a:solidFill>
          <a:ln/>
        </p:spPr>
        <p:txBody>
          <a:bodyPr/>
          <a:lstStyle/>
          <a:p>
            <a:endParaRPr lang="en-US"/>
          </a:p>
        </p:txBody>
      </p:sp>
      <p:sp>
        <p:nvSpPr>
          <p:cNvPr id="15" name="Shape 13"/>
          <p:cNvSpPr/>
          <p:nvPr/>
        </p:nvSpPr>
        <p:spPr>
          <a:xfrm>
            <a:off x="4663440" y="1554480"/>
            <a:ext cx="3977640" cy="594360"/>
          </a:xfrm>
          <a:prstGeom prst="roundRect">
            <a:avLst>
              <a:gd name="adj" fmla="val 15385"/>
            </a:avLst>
          </a:prstGeom>
          <a:solidFill>
            <a:srgbClr val="8D99AE"/>
          </a:solidFill>
          <a:ln/>
        </p:spPr>
        <p:txBody>
          <a:bodyPr/>
          <a:lstStyle/>
          <a:p>
            <a:endParaRPr lang="en-US"/>
          </a:p>
        </p:txBody>
      </p:sp>
      <p:sp>
        <p:nvSpPr>
          <p:cNvPr id="16" name="Text 14"/>
          <p:cNvSpPr/>
          <p:nvPr/>
        </p:nvSpPr>
        <p:spPr>
          <a:xfrm>
            <a:off x="4846320" y="1554480"/>
            <a:ext cx="3657600" cy="59436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NOT COVERED</a:t>
            </a:r>
            <a:endParaRPr lang="en-US" sz="1600" dirty="0"/>
          </a:p>
        </p:txBody>
      </p:sp>
      <p:sp>
        <p:nvSpPr>
          <p:cNvPr id="17" name="Text 15"/>
          <p:cNvSpPr/>
          <p:nvPr/>
        </p:nvSpPr>
        <p:spPr>
          <a:xfrm>
            <a:off x="4846320" y="2331720"/>
            <a:ext cx="320040" cy="365760"/>
          </a:xfrm>
          <a:prstGeom prst="rect">
            <a:avLst/>
          </a:prstGeom>
          <a:noFill/>
          <a:ln/>
        </p:spPr>
        <p:txBody>
          <a:bodyPr wrap="square" lIns="0" tIns="0" rIns="0" bIns="0" rtlCol="0" anchor="t"/>
          <a:lstStyle/>
          <a:p>
            <a:pPr marL="0" indent="0" algn="l">
              <a:buNone/>
            </a:pPr>
            <a:r>
              <a:rPr lang="en-US" sz="1800" b="1" dirty="0">
                <a:solidFill>
                  <a:srgbClr val="8D99AE"/>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5184648" y="2331720"/>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Internally developed or acquired systems used exclusively by one taxpayer and its registered branches</a:t>
            </a:r>
            <a:endParaRPr lang="en-US" sz="1100" dirty="0"/>
          </a:p>
        </p:txBody>
      </p:sp>
      <p:sp>
        <p:nvSpPr>
          <p:cNvPr id="19" name="Text 17"/>
          <p:cNvSpPr/>
          <p:nvPr/>
        </p:nvSpPr>
        <p:spPr>
          <a:xfrm>
            <a:off x="4846320" y="3026664"/>
            <a:ext cx="320040" cy="365760"/>
          </a:xfrm>
          <a:prstGeom prst="rect">
            <a:avLst/>
          </a:prstGeom>
          <a:noFill/>
          <a:ln/>
        </p:spPr>
        <p:txBody>
          <a:bodyPr wrap="square" lIns="0" tIns="0" rIns="0" bIns="0" rtlCol="0" anchor="t"/>
          <a:lstStyle/>
          <a:p>
            <a:pPr marL="0" indent="0" algn="l">
              <a:buNone/>
            </a:pPr>
            <a:r>
              <a:rPr lang="en-US" sz="1800" b="1" dirty="0">
                <a:solidFill>
                  <a:srgbClr val="8D99AE"/>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5184648" y="3026664"/>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Such systems remain governed by existing CAS, POS, or other applicable registration rules</a:t>
            </a:r>
            <a:endParaRPr lang="en-US" sz="1100" dirty="0"/>
          </a:p>
        </p:txBody>
      </p:sp>
      <p:sp>
        <p:nvSpPr>
          <p:cNvPr id="21" name="Text 19"/>
          <p:cNvSpPr/>
          <p:nvPr/>
        </p:nvSpPr>
        <p:spPr>
          <a:xfrm>
            <a:off x="4846320" y="3721608"/>
            <a:ext cx="320040" cy="365760"/>
          </a:xfrm>
          <a:prstGeom prst="rect">
            <a:avLst/>
          </a:prstGeom>
          <a:noFill/>
          <a:ln/>
        </p:spPr>
        <p:txBody>
          <a:bodyPr wrap="square" lIns="0" tIns="0" rIns="0" bIns="0" rtlCol="0" anchor="t"/>
          <a:lstStyle/>
          <a:p>
            <a:pPr marL="0" indent="0" algn="l">
              <a:buNone/>
            </a:pPr>
            <a:r>
              <a:rPr lang="en-US" sz="1800" b="1" dirty="0">
                <a:solidFill>
                  <a:srgbClr val="8D99AE"/>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5184648" y="3721608"/>
            <a:ext cx="3291840" cy="685800"/>
          </a:xfrm>
          <a:prstGeom prst="rect">
            <a:avLst/>
          </a:prstGeom>
          <a:noFill/>
          <a:ln/>
        </p:spPr>
        <p:txBody>
          <a:bodyPr wrap="square" lIns="0" tIns="0" rIns="0" bIns="0" rtlCol="0" anchor="t"/>
          <a:lstStyle/>
          <a:p>
            <a:pPr marL="0" indent="0" algn="l">
              <a:lnSpc>
                <a:spcPct val="100000"/>
              </a:lnSpc>
              <a:buNone/>
            </a:pPr>
            <a:r>
              <a:rPr lang="en-US" sz="1100" dirty="0">
                <a:solidFill>
                  <a:srgbClr val="2B2D42"/>
                </a:solidFill>
                <a:latin typeface="Calibri" pitchFamily="34" charset="0"/>
                <a:ea typeface="Calibri" pitchFamily="34" charset="-122"/>
                <a:cs typeface="Calibri" pitchFamily="34" charset="-120"/>
              </a:rPr>
              <a:t>Treatment as ESP service applies unless expressly exempted by the BIR</a:t>
            </a:r>
            <a:endParaRPr lang="en-US" sz="1100" dirty="0"/>
          </a:p>
        </p:txBody>
      </p:sp>
      <p:sp>
        <p:nvSpPr>
          <p:cNvPr id="23" name="Text 21"/>
          <p:cNvSpPr/>
          <p:nvPr/>
        </p:nvSpPr>
        <p:spPr>
          <a:xfrm>
            <a:off x="502920" y="4572000"/>
            <a:ext cx="7589520" cy="411480"/>
          </a:xfrm>
          <a:prstGeom prst="rect">
            <a:avLst/>
          </a:prstGeom>
          <a:noFill/>
          <a:ln/>
        </p:spPr>
        <p:txBody>
          <a:bodyPr wrap="square" lIns="0" tIns="0" rIns="0" bIns="0" rtlCol="0" anchor="t"/>
          <a:lstStyle/>
          <a:p>
            <a:pPr marL="0" indent="0" algn="l">
              <a:buNone/>
            </a:pPr>
            <a:r>
              <a:rPr lang="en-US" sz="1000" i="1" dirty="0">
                <a:solidFill>
                  <a:srgbClr val="8D99AE"/>
                </a:solidFill>
                <a:latin typeface="Calibri" pitchFamily="34" charset="0"/>
                <a:ea typeface="Calibri" pitchFamily="34" charset="-122"/>
                <a:cs typeface="Calibri" pitchFamily="34" charset="-120"/>
              </a:rPr>
              <a:t>An ESP must maintain an authorized representative and accountable technical, compliance, data-protection, and security officers in the Philippines.</a:t>
            </a:r>
            <a:endParaRPr lang="en-US" sz="1000" dirty="0"/>
          </a:p>
        </p:txBody>
      </p:sp>
      <p:sp>
        <p:nvSpPr>
          <p:cNvPr id="24" name="Shape 22"/>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5" name="Text 23"/>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B0AD682-1B6F-0920-6B3D-9F3537F4B1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B23E32-09AF-FCD9-46D9-968CDFD087B6}"/>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41FF8B21-E49C-A523-6AFB-CAF74F1C2620}"/>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DEFINITIONS</a:t>
            </a:r>
            <a:endParaRPr lang="en-US" sz="1200" dirty="0"/>
          </a:p>
        </p:txBody>
      </p:sp>
      <p:sp>
        <p:nvSpPr>
          <p:cNvPr id="4" name="Text 2">
            <a:extLst>
              <a:ext uri="{FF2B5EF4-FFF2-40B4-BE49-F238E27FC236}">
                <a16:creationId xmlns:a16="http://schemas.microsoft.com/office/drawing/2014/main" id="{2E470F92-0570-E7EC-52D3-7BB18F8B8CF9}"/>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Key Terms Defined</a:t>
            </a:r>
            <a:endParaRPr lang="en-US" sz="3000" dirty="0"/>
          </a:p>
        </p:txBody>
      </p:sp>
      <p:sp>
        <p:nvSpPr>
          <p:cNvPr id="5" name="Shape 3">
            <a:extLst>
              <a:ext uri="{FF2B5EF4-FFF2-40B4-BE49-F238E27FC236}">
                <a16:creationId xmlns:a16="http://schemas.microsoft.com/office/drawing/2014/main" id="{A83C3A84-BF42-26CA-A67E-6D8B655CE635}"/>
              </a:ext>
            </a:extLst>
          </p:cNvPr>
          <p:cNvSpPr/>
          <p:nvPr/>
        </p:nvSpPr>
        <p:spPr>
          <a:xfrm>
            <a:off x="502919" y="1389888"/>
            <a:ext cx="7516287" cy="1627632"/>
          </a:xfrm>
          <a:prstGeom prst="roundRect">
            <a:avLst>
              <a:gd name="adj" fmla="val 5000"/>
            </a:avLst>
          </a:prstGeom>
          <a:solidFill>
            <a:srgbClr val="EDF2F4"/>
          </a:solidFill>
          <a:ln/>
        </p:spPr>
        <p:txBody>
          <a:bodyPr/>
          <a:lstStyle/>
          <a:p>
            <a:endParaRPr lang="en-US"/>
          </a:p>
        </p:txBody>
      </p:sp>
      <p:sp>
        <p:nvSpPr>
          <p:cNvPr id="6" name="Shape 4">
            <a:extLst>
              <a:ext uri="{FF2B5EF4-FFF2-40B4-BE49-F238E27FC236}">
                <a16:creationId xmlns:a16="http://schemas.microsoft.com/office/drawing/2014/main" id="{1D40784A-2EE5-8ED9-460A-DFF6BB9928E2}"/>
              </a:ext>
            </a:extLst>
          </p:cNvPr>
          <p:cNvSpPr/>
          <p:nvPr/>
        </p:nvSpPr>
        <p:spPr>
          <a:xfrm>
            <a:off x="502920" y="1389888"/>
            <a:ext cx="91440" cy="1627632"/>
          </a:xfrm>
          <a:prstGeom prst="rect">
            <a:avLst/>
          </a:prstGeom>
          <a:solidFill>
            <a:srgbClr val="D90429"/>
          </a:solidFill>
          <a:ln/>
        </p:spPr>
        <p:txBody>
          <a:bodyPr/>
          <a:lstStyle/>
          <a:p>
            <a:endParaRPr lang="en-US"/>
          </a:p>
        </p:txBody>
      </p:sp>
      <p:sp>
        <p:nvSpPr>
          <p:cNvPr id="7" name="Text 5">
            <a:extLst>
              <a:ext uri="{FF2B5EF4-FFF2-40B4-BE49-F238E27FC236}">
                <a16:creationId xmlns:a16="http://schemas.microsoft.com/office/drawing/2014/main" id="{D71C49A9-05C0-B9E4-B18F-9CFC8DA377D4}"/>
              </a:ext>
            </a:extLst>
          </p:cNvPr>
          <p:cNvSpPr/>
          <p:nvPr/>
        </p:nvSpPr>
        <p:spPr>
          <a:xfrm>
            <a:off x="731519" y="1554480"/>
            <a:ext cx="6680784" cy="365760"/>
          </a:xfrm>
          <a:prstGeom prst="rect">
            <a:avLst/>
          </a:prstGeom>
          <a:noFill/>
          <a:ln/>
        </p:spPr>
        <p:txBody>
          <a:bodyPr wrap="square" lIns="0" tIns="0" rIns="0" bIns="0" rtlCol="0" anchor="t"/>
          <a:lstStyle/>
          <a:p>
            <a:pPr marL="0" indent="0" algn="l">
              <a:buNone/>
            </a:pPr>
            <a:r>
              <a:rPr lang="en-US" sz="2000" b="1" dirty="0">
                <a:solidFill>
                  <a:srgbClr val="2B2D42"/>
                </a:solidFill>
                <a:latin typeface="Georgia" pitchFamily="34" charset="0"/>
                <a:ea typeface="Georgia" pitchFamily="34" charset="-122"/>
                <a:cs typeface="Georgia" pitchFamily="34" charset="-120"/>
              </a:rPr>
              <a:t>Electronic Invoicing Service Provider (ESP)</a:t>
            </a:r>
            <a:endParaRPr lang="en-US" sz="2000" dirty="0"/>
          </a:p>
        </p:txBody>
      </p:sp>
      <p:sp>
        <p:nvSpPr>
          <p:cNvPr id="8" name="Text 6">
            <a:extLst>
              <a:ext uri="{FF2B5EF4-FFF2-40B4-BE49-F238E27FC236}">
                <a16:creationId xmlns:a16="http://schemas.microsoft.com/office/drawing/2014/main" id="{5FB732F2-7130-90FB-C3E1-BCE1AEDF9222}"/>
              </a:ext>
            </a:extLst>
          </p:cNvPr>
          <p:cNvSpPr/>
          <p:nvPr/>
        </p:nvSpPr>
        <p:spPr>
          <a:xfrm>
            <a:off x="800100" y="1897987"/>
            <a:ext cx="7105819" cy="868680"/>
          </a:xfrm>
          <a:prstGeom prst="rect">
            <a:avLst/>
          </a:prstGeom>
          <a:noFill/>
          <a:ln/>
        </p:spPr>
        <p:txBody>
          <a:bodyPr wrap="square" lIns="0" tIns="0" rIns="0" bIns="0" rtlCol="0" anchor="t"/>
          <a:lstStyle/>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A juridical entity organized or duly licensed to do business in the Philippines that provides e-invoicing, sales reporting, integration, validation, transmission, storage, preservation, retrieval, reconciliation, migration, and audit-support services to taxpayers.</a:t>
            </a:r>
          </a:p>
        </p:txBody>
      </p:sp>
      <p:sp>
        <p:nvSpPr>
          <p:cNvPr id="17" name="Shape 15">
            <a:extLst>
              <a:ext uri="{FF2B5EF4-FFF2-40B4-BE49-F238E27FC236}">
                <a16:creationId xmlns:a16="http://schemas.microsoft.com/office/drawing/2014/main" id="{521E74C9-3908-EB7A-5394-23205B8FD8A6}"/>
              </a:ext>
            </a:extLst>
          </p:cNvPr>
          <p:cNvSpPr/>
          <p:nvPr/>
        </p:nvSpPr>
        <p:spPr>
          <a:xfrm>
            <a:off x="502919" y="3182112"/>
            <a:ext cx="7516287" cy="1737846"/>
          </a:xfrm>
          <a:prstGeom prst="roundRect">
            <a:avLst>
              <a:gd name="adj" fmla="val 5000"/>
            </a:avLst>
          </a:prstGeom>
          <a:solidFill>
            <a:srgbClr val="EDF2F4"/>
          </a:solidFill>
          <a:ln/>
        </p:spPr>
        <p:txBody>
          <a:bodyPr/>
          <a:lstStyle/>
          <a:p>
            <a:endParaRPr lang="en-US"/>
          </a:p>
        </p:txBody>
      </p:sp>
      <p:sp>
        <p:nvSpPr>
          <p:cNvPr id="18" name="Shape 16">
            <a:extLst>
              <a:ext uri="{FF2B5EF4-FFF2-40B4-BE49-F238E27FC236}">
                <a16:creationId xmlns:a16="http://schemas.microsoft.com/office/drawing/2014/main" id="{7645D043-934E-7B5F-721D-46B27D9ED9B7}"/>
              </a:ext>
            </a:extLst>
          </p:cNvPr>
          <p:cNvSpPr/>
          <p:nvPr/>
        </p:nvSpPr>
        <p:spPr>
          <a:xfrm>
            <a:off x="502920" y="3182112"/>
            <a:ext cx="91440" cy="1737846"/>
          </a:xfrm>
          <a:prstGeom prst="rect">
            <a:avLst/>
          </a:prstGeom>
          <a:solidFill>
            <a:srgbClr val="D90429"/>
          </a:solidFill>
          <a:ln/>
        </p:spPr>
        <p:txBody>
          <a:bodyPr/>
          <a:lstStyle/>
          <a:p>
            <a:endParaRPr lang="en-US"/>
          </a:p>
        </p:txBody>
      </p:sp>
      <p:sp>
        <p:nvSpPr>
          <p:cNvPr id="19" name="Text 17">
            <a:extLst>
              <a:ext uri="{FF2B5EF4-FFF2-40B4-BE49-F238E27FC236}">
                <a16:creationId xmlns:a16="http://schemas.microsoft.com/office/drawing/2014/main" id="{B86F4575-4872-1CB5-2FF7-21CAF1145D0F}"/>
              </a:ext>
            </a:extLst>
          </p:cNvPr>
          <p:cNvSpPr/>
          <p:nvPr/>
        </p:nvSpPr>
        <p:spPr>
          <a:xfrm>
            <a:off x="731519" y="3319272"/>
            <a:ext cx="4083241" cy="365760"/>
          </a:xfrm>
          <a:prstGeom prst="rect">
            <a:avLst/>
          </a:prstGeom>
          <a:noFill/>
          <a:ln/>
        </p:spPr>
        <p:txBody>
          <a:bodyPr wrap="square" lIns="0" tIns="0" rIns="0" bIns="0" rtlCol="0" anchor="t"/>
          <a:lstStyle/>
          <a:p>
            <a:r>
              <a:rPr lang="en-US" sz="2000" b="1" dirty="0">
                <a:solidFill>
                  <a:srgbClr val="2B2D42"/>
                </a:solidFill>
                <a:latin typeface="Georgia" pitchFamily="34" charset="0"/>
                <a:ea typeface="Georgia" pitchFamily="34" charset="-122"/>
                <a:cs typeface="Georgia" pitchFamily="34" charset="-120"/>
              </a:rPr>
              <a:t>Electronic Invoicing Solution </a:t>
            </a:r>
            <a:endParaRPr lang="en-US" sz="2000" dirty="0"/>
          </a:p>
        </p:txBody>
      </p:sp>
      <p:sp>
        <p:nvSpPr>
          <p:cNvPr id="20" name="Text 18">
            <a:extLst>
              <a:ext uri="{FF2B5EF4-FFF2-40B4-BE49-F238E27FC236}">
                <a16:creationId xmlns:a16="http://schemas.microsoft.com/office/drawing/2014/main" id="{17BE73D9-3AE7-80E4-7205-B942F1E04A41}"/>
              </a:ext>
            </a:extLst>
          </p:cNvPr>
          <p:cNvSpPr/>
          <p:nvPr/>
        </p:nvSpPr>
        <p:spPr>
          <a:xfrm>
            <a:off x="731520" y="3712464"/>
            <a:ext cx="7093478" cy="868680"/>
          </a:xfrm>
          <a:prstGeom prst="rect">
            <a:avLst/>
          </a:prstGeom>
          <a:noFill/>
          <a:ln/>
        </p:spPr>
        <p:txBody>
          <a:bodyPr wrap="square" lIns="0" tIns="0" rIns="0" bIns="0" rtlCol="0" anchor="t"/>
          <a:lstStyle/>
          <a:p>
            <a:r>
              <a:rPr lang="en-US" dirty="0">
                <a:solidFill>
                  <a:schemeClr val="accent1">
                    <a:lumMod val="75000"/>
                  </a:schemeClr>
                </a:solidFill>
                <a:latin typeface="Calibri" pitchFamily="34" charset="0"/>
                <a:ea typeface="Calibri" pitchFamily="34" charset="-122"/>
                <a:cs typeface="Calibri" pitchFamily="34" charset="-120"/>
              </a:rPr>
              <a:t>A system that generates, validates, records, preserves, and issues e-invoices in a structured electronic format and maintains the corresponding invoice data and audit trail. It shall also transmit such e-invoices to buyers/customers and sales data to the BIR</a:t>
            </a:r>
          </a:p>
        </p:txBody>
      </p:sp>
      <p:sp>
        <p:nvSpPr>
          <p:cNvPr id="29" name="Shape 27">
            <a:extLst>
              <a:ext uri="{FF2B5EF4-FFF2-40B4-BE49-F238E27FC236}">
                <a16:creationId xmlns:a16="http://schemas.microsoft.com/office/drawing/2014/main" id="{D79B2EF8-67EE-7FE7-E80F-7AAC310CC559}"/>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25214F0A-F1E1-A313-86B8-15F4E23DD1DE}"/>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Tree>
    <p:extLst>
      <p:ext uri="{BB962C8B-B14F-4D97-AF65-F5344CB8AC3E}">
        <p14:creationId xmlns:p14="http://schemas.microsoft.com/office/powerpoint/2010/main" val="758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0AD0ECD-168A-A54E-3077-8D7B13860B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94AEEEE-28C7-41F0-3DA0-436EC9DD0626}"/>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E8781EC3-3067-0C2B-79B0-2F7691D14ADC}"/>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DEFINITIONS</a:t>
            </a:r>
            <a:endParaRPr lang="en-US" sz="1200" dirty="0"/>
          </a:p>
        </p:txBody>
      </p:sp>
      <p:sp>
        <p:nvSpPr>
          <p:cNvPr id="4" name="Text 2">
            <a:extLst>
              <a:ext uri="{FF2B5EF4-FFF2-40B4-BE49-F238E27FC236}">
                <a16:creationId xmlns:a16="http://schemas.microsoft.com/office/drawing/2014/main" id="{260215BB-DB92-885A-A393-F3F7CDB1D51A}"/>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Key Terms Defined</a:t>
            </a:r>
            <a:endParaRPr lang="en-US" sz="3000" dirty="0"/>
          </a:p>
        </p:txBody>
      </p:sp>
      <p:sp>
        <p:nvSpPr>
          <p:cNvPr id="5" name="Shape 3">
            <a:extLst>
              <a:ext uri="{FF2B5EF4-FFF2-40B4-BE49-F238E27FC236}">
                <a16:creationId xmlns:a16="http://schemas.microsoft.com/office/drawing/2014/main" id="{E57E629F-9651-6238-6F13-A790FDB9684F}"/>
              </a:ext>
            </a:extLst>
          </p:cNvPr>
          <p:cNvSpPr/>
          <p:nvPr/>
        </p:nvSpPr>
        <p:spPr>
          <a:xfrm>
            <a:off x="502919" y="1203772"/>
            <a:ext cx="7516287" cy="1627632"/>
          </a:xfrm>
          <a:prstGeom prst="roundRect">
            <a:avLst>
              <a:gd name="adj" fmla="val 5000"/>
            </a:avLst>
          </a:prstGeom>
          <a:solidFill>
            <a:srgbClr val="EDF2F4"/>
          </a:solidFill>
          <a:ln/>
        </p:spPr>
        <p:txBody>
          <a:bodyPr/>
          <a:lstStyle/>
          <a:p>
            <a:endParaRPr lang="en-US"/>
          </a:p>
        </p:txBody>
      </p:sp>
      <p:sp>
        <p:nvSpPr>
          <p:cNvPr id="6" name="Shape 4">
            <a:extLst>
              <a:ext uri="{FF2B5EF4-FFF2-40B4-BE49-F238E27FC236}">
                <a16:creationId xmlns:a16="http://schemas.microsoft.com/office/drawing/2014/main" id="{970FEF57-7BC2-7D1D-1DE4-57057473FBCB}"/>
              </a:ext>
            </a:extLst>
          </p:cNvPr>
          <p:cNvSpPr/>
          <p:nvPr/>
        </p:nvSpPr>
        <p:spPr>
          <a:xfrm>
            <a:off x="502920" y="1203772"/>
            <a:ext cx="91440" cy="1627632"/>
          </a:xfrm>
          <a:prstGeom prst="rect">
            <a:avLst/>
          </a:prstGeom>
          <a:solidFill>
            <a:srgbClr val="D90429"/>
          </a:solidFill>
          <a:ln/>
        </p:spPr>
        <p:txBody>
          <a:bodyPr/>
          <a:lstStyle/>
          <a:p>
            <a:endParaRPr lang="en-US"/>
          </a:p>
        </p:txBody>
      </p:sp>
      <p:sp>
        <p:nvSpPr>
          <p:cNvPr id="7" name="Text 5">
            <a:extLst>
              <a:ext uri="{FF2B5EF4-FFF2-40B4-BE49-F238E27FC236}">
                <a16:creationId xmlns:a16="http://schemas.microsoft.com/office/drawing/2014/main" id="{78A23906-0A56-E49D-0D7B-9A6464F36C6B}"/>
              </a:ext>
            </a:extLst>
          </p:cNvPr>
          <p:cNvSpPr/>
          <p:nvPr/>
        </p:nvSpPr>
        <p:spPr>
          <a:xfrm>
            <a:off x="731518" y="1368364"/>
            <a:ext cx="7287687" cy="365760"/>
          </a:xfrm>
          <a:prstGeom prst="rect">
            <a:avLst/>
          </a:prstGeom>
          <a:noFill/>
          <a:ln/>
        </p:spPr>
        <p:txBody>
          <a:bodyPr wrap="square" lIns="0" tIns="0" rIns="0" bIns="0" rtlCol="0" anchor="t"/>
          <a:lstStyle/>
          <a:p>
            <a:pPr marL="0" indent="0" algn="l">
              <a:buNone/>
            </a:pPr>
            <a:r>
              <a:rPr lang="en-US" sz="2000" b="1" dirty="0">
                <a:solidFill>
                  <a:srgbClr val="2B2D42"/>
                </a:solidFill>
                <a:latin typeface="Georgia" pitchFamily="34" charset="0"/>
                <a:ea typeface="Georgia" pitchFamily="34" charset="-122"/>
                <a:cs typeface="Georgia" pitchFamily="34" charset="-120"/>
              </a:rPr>
              <a:t>Electronic Invoicing Solutions Accreditation Certificate </a:t>
            </a:r>
            <a:endParaRPr lang="en-US" sz="2000" dirty="0"/>
          </a:p>
        </p:txBody>
      </p:sp>
      <p:sp>
        <p:nvSpPr>
          <p:cNvPr id="8" name="Text 6">
            <a:extLst>
              <a:ext uri="{FF2B5EF4-FFF2-40B4-BE49-F238E27FC236}">
                <a16:creationId xmlns:a16="http://schemas.microsoft.com/office/drawing/2014/main" id="{9692F234-8107-4567-25A5-104423577895}"/>
              </a:ext>
            </a:extLst>
          </p:cNvPr>
          <p:cNvSpPr/>
          <p:nvPr/>
        </p:nvSpPr>
        <p:spPr>
          <a:xfrm>
            <a:off x="800100" y="1711871"/>
            <a:ext cx="7105819" cy="868680"/>
          </a:xfrm>
          <a:prstGeom prst="rect">
            <a:avLst/>
          </a:prstGeom>
          <a:noFill/>
          <a:ln/>
        </p:spPr>
        <p:txBody>
          <a:bodyPr wrap="square" lIns="0" tIns="0" rIns="0" bIns="0" rtlCol="0" anchor="t"/>
          <a:lstStyle/>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A certification issued by the BIR confirming that an e-invoicing solutions offered by an ESP, including its system, version, interface, infrastructure, and production environment, has been approved for use in live taxpayer transactions.</a:t>
            </a:r>
          </a:p>
        </p:txBody>
      </p:sp>
      <p:sp>
        <p:nvSpPr>
          <p:cNvPr id="17" name="Shape 15">
            <a:extLst>
              <a:ext uri="{FF2B5EF4-FFF2-40B4-BE49-F238E27FC236}">
                <a16:creationId xmlns:a16="http://schemas.microsoft.com/office/drawing/2014/main" id="{999634E2-FF7C-6CAB-6687-E147D72744DF}"/>
              </a:ext>
            </a:extLst>
          </p:cNvPr>
          <p:cNvSpPr/>
          <p:nvPr/>
        </p:nvSpPr>
        <p:spPr>
          <a:xfrm>
            <a:off x="502919" y="2995996"/>
            <a:ext cx="7516287" cy="1961388"/>
          </a:xfrm>
          <a:prstGeom prst="roundRect">
            <a:avLst>
              <a:gd name="adj" fmla="val 5000"/>
            </a:avLst>
          </a:prstGeom>
          <a:solidFill>
            <a:srgbClr val="EDF2F4"/>
          </a:solidFill>
          <a:ln/>
        </p:spPr>
        <p:txBody>
          <a:bodyPr/>
          <a:lstStyle/>
          <a:p>
            <a:endParaRPr lang="en-US"/>
          </a:p>
        </p:txBody>
      </p:sp>
      <p:sp>
        <p:nvSpPr>
          <p:cNvPr id="18" name="Shape 16">
            <a:extLst>
              <a:ext uri="{FF2B5EF4-FFF2-40B4-BE49-F238E27FC236}">
                <a16:creationId xmlns:a16="http://schemas.microsoft.com/office/drawing/2014/main" id="{3B6761AB-2FBB-7ECB-7547-778270ABE524}"/>
              </a:ext>
            </a:extLst>
          </p:cNvPr>
          <p:cNvSpPr/>
          <p:nvPr/>
        </p:nvSpPr>
        <p:spPr>
          <a:xfrm>
            <a:off x="502920" y="2995996"/>
            <a:ext cx="91440" cy="1961388"/>
          </a:xfrm>
          <a:prstGeom prst="rect">
            <a:avLst/>
          </a:prstGeom>
          <a:solidFill>
            <a:srgbClr val="D90429"/>
          </a:solidFill>
          <a:ln/>
        </p:spPr>
        <p:txBody>
          <a:bodyPr/>
          <a:lstStyle/>
          <a:p>
            <a:endParaRPr lang="en-US"/>
          </a:p>
        </p:txBody>
      </p:sp>
      <p:sp>
        <p:nvSpPr>
          <p:cNvPr id="19" name="Text 17">
            <a:extLst>
              <a:ext uri="{FF2B5EF4-FFF2-40B4-BE49-F238E27FC236}">
                <a16:creationId xmlns:a16="http://schemas.microsoft.com/office/drawing/2014/main" id="{ED64B855-FEF7-15E1-87D2-2D11A0D41784}"/>
              </a:ext>
            </a:extLst>
          </p:cNvPr>
          <p:cNvSpPr/>
          <p:nvPr/>
        </p:nvSpPr>
        <p:spPr>
          <a:xfrm>
            <a:off x="731519" y="3133156"/>
            <a:ext cx="4083241" cy="365760"/>
          </a:xfrm>
          <a:prstGeom prst="rect">
            <a:avLst/>
          </a:prstGeom>
          <a:noFill/>
          <a:ln/>
        </p:spPr>
        <p:txBody>
          <a:bodyPr wrap="square" lIns="0" tIns="0" rIns="0" bIns="0" rtlCol="0" anchor="t"/>
          <a:lstStyle/>
          <a:p>
            <a:pPr marL="0" indent="0" algn="l">
              <a:buNone/>
            </a:pPr>
            <a:r>
              <a:rPr lang="en-US" sz="2000" b="1" dirty="0">
                <a:solidFill>
                  <a:srgbClr val="2B2D42"/>
                </a:solidFill>
                <a:latin typeface="Georgia" pitchFamily="34" charset="0"/>
                <a:ea typeface="Georgia" pitchFamily="34" charset="-122"/>
                <a:cs typeface="Georgia" pitchFamily="34" charset="-120"/>
              </a:rPr>
              <a:t>Material Change </a:t>
            </a:r>
            <a:endParaRPr lang="en-US" sz="2000" dirty="0"/>
          </a:p>
        </p:txBody>
      </p:sp>
      <p:sp>
        <p:nvSpPr>
          <p:cNvPr id="20" name="Text 18">
            <a:extLst>
              <a:ext uri="{FF2B5EF4-FFF2-40B4-BE49-F238E27FC236}">
                <a16:creationId xmlns:a16="http://schemas.microsoft.com/office/drawing/2014/main" id="{F5450C3E-71CF-33CE-7E9D-527C0161D0A0}"/>
              </a:ext>
            </a:extLst>
          </p:cNvPr>
          <p:cNvSpPr/>
          <p:nvPr/>
        </p:nvSpPr>
        <p:spPr>
          <a:xfrm>
            <a:off x="731519" y="3526348"/>
            <a:ext cx="7287685" cy="868680"/>
          </a:xfrm>
          <a:prstGeom prst="rect">
            <a:avLst/>
          </a:prstGeom>
          <a:noFill/>
          <a:ln/>
        </p:spPr>
        <p:txBody>
          <a:bodyPr wrap="square" lIns="0" tIns="0" rIns="0" bIns="0" rtlCol="0" anchor="t"/>
          <a:lstStyle/>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refers to a change in control, system architecture, core functionality, data model, interface, hosting or cloud environment, encryption or authentication method, data location, or any other change listed in the Accreditation Certificate that materially affects security, integrity, interoperability, reliability, or BIR access.</a:t>
            </a:r>
          </a:p>
        </p:txBody>
      </p:sp>
      <p:sp>
        <p:nvSpPr>
          <p:cNvPr id="29" name="Shape 27">
            <a:extLst>
              <a:ext uri="{FF2B5EF4-FFF2-40B4-BE49-F238E27FC236}">
                <a16:creationId xmlns:a16="http://schemas.microsoft.com/office/drawing/2014/main" id="{AA54FAFB-2C2D-B59C-ACC0-B3663475A84A}"/>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DC580C3D-2F0E-EFF3-125F-82D3A4E7683E}"/>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Tree>
    <p:extLst>
      <p:ext uri="{BB962C8B-B14F-4D97-AF65-F5344CB8AC3E}">
        <p14:creationId xmlns:p14="http://schemas.microsoft.com/office/powerpoint/2010/main" val="28475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3C0D9F-E9A6-2847-9887-E07C5E2A1C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BD51CC5-1164-2035-5AA4-32403EFADDF3}"/>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27B5F800-AF0C-32A1-9ED5-8825FDD52F80}"/>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DEFINITIONS</a:t>
            </a:r>
            <a:endParaRPr lang="en-US" sz="1200" dirty="0"/>
          </a:p>
        </p:txBody>
      </p:sp>
      <p:sp>
        <p:nvSpPr>
          <p:cNvPr id="4" name="Text 2">
            <a:extLst>
              <a:ext uri="{FF2B5EF4-FFF2-40B4-BE49-F238E27FC236}">
                <a16:creationId xmlns:a16="http://schemas.microsoft.com/office/drawing/2014/main" id="{B23899E9-F4D8-032C-AC89-94E83AB9CFA4}"/>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Key Terms Defined</a:t>
            </a:r>
            <a:endParaRPr lang="en-US" sz="3000" dirty="0"/>
          </a:p>
        </p:txBody>
      </p:sp>
      <p:sp>
        <p:nvSpPr>
          <p:cNvPr id="5" name="Shape 3">
            <a:extLst>
              <a:ext uri="{FF2B5EF4-FFF2-40B4-BE49-F238E27FC236}">
                <a16:creationId xmlns:a16="http://schemas.microsoft.com/office/drawing/2014/main" id="{BDE072A3-FA01-F8B1-2F34-3A064B2BBF26}"/>
              </a:ext>
            </a:extLst>
          </p:cNvPr>
          <p:cNvSpPr/>
          <p:nvPr/>
        </p:nvSpPr>
        <p:spPr>
          <a:xfrm>
            <a:off x="502919" y="1203772"/>
            <a:ext cx="7516287" cy="2453828"/>
          </a:xfrm>
          <a:prstGeom prst="roundRect">
            <a:avLst>
              <a:gd name="adj" fmla="val 5000"/>
            </a:avLst>
          </a:prstGeom>
          <a:solidFill>
            <a:srgbClr val="EDF2F4"/>
          </a:solidFill>
          <a:ln/>
        </p:spPr>
        <p:txBody>
          <a:bodyPr/>
          <a:lstStyle/>
          <a:p>
            <a:endParaRPr lang="en-US"/>
          </a:p>
        </p:txBody>
      </p:sp>
      <p:sp>
        <p:nvSpPr>
          <p:cNvPr id="6" name="Shape 4">
            <a:extLst>
              <a:ext uri="{FF2B5EF4-FFF2-40B4-BE49-F238E27FC236}">
                <a16:creationId xmlns:a16="http://schemas.microsoft.com/office/drawing/2014/main" id="{4C3E21C6-BA3B-02C7-222E-2170FE451A25}"/>
              </a:ext>
            </a:extLst>
          </p:cNvPr>
          <p:cNvSpPr/>
          <p:nvPr/>
        </p:nvSpPr>
        <p:spPr>
          <a:xfrm>
            <a:off x="502920" y="1203772"/>
            <a:ext cx="91440" cy="2453828"/>
          </a:xfrm>
          <a:prstGeom prst="rect">
            <a:avLst/>
          </a:prstGeom>
          <a:solidFill>
            <a:srgbClr val="D90429"/>
          </a:solidFill>
          <a:ln/>
        </p:spPr>
        <p:txBody>
          <a:bodyPr/>
          <a:lstStyle/>
          <a:p>
            <a:endParaRPr lang="en-US"/>
          </a:p>
        </p:txBody>
      </p:sp>
      <p:sp>
        <p:nvSpPr>
          <p:cNvPr id="7" name="Text 5">
            <a:extLst>
              <a:ext uri="{FF2B5EF4-FFF2-40B4-BE49-F238E27FC236}">
                <a16:creationId xmlns:a16="http://schemas.microsoft.com/office/drawing/2014/main" id="{741E4C22-CE4B-591F-032C-AB921572BEA0}"/>
              </a:ext>
            </a:extLst>
          </p:cNvPr>
          <p:cNvSpPr/>
          <p:nvPr/>
        </p:nvSpPr>
        <p:spPr>
          <a:xfrm>
            <a:off x="731518" y="1368364"/>
            <a:ext cx="7287687" cy="365760"/>
          </a:xfrm>
          <a:prstGeom prst="rect">
            <a:avLst/>
          </a:prstGeom>
          <a:noFill/>
          <a:ln/>
        </p:spPr>
        <p:txBody>
          <a:bodyPr wrap="square" lIns="0" tIns="0" rIns="0" bIns="0" rtlCol="0" anchor="t"/>
          <a:lstStyle/>
          <a:p>
            <a:pPr marL="0" indent="0" algn="l">
              <a:buNone/>
            </a:pPr>
            <a:r>
              <a:rPr lang="en-US" sz="2000" b="1" dirty="0">
                <a:solidFill>
                  <a:srgbClr val="2B2D42"/>
                </a:solidFill>
                <a:latin typeface="Georgia" pitchFamily="34" charset="0"/>
                <a:ea typeface="Georgia" pitchFamily="34" charset="-122"/>
                <a:cs typeface="Georgia" pitchFamily="34" charset="-120"/>
              </a:rPr>
              <a:t>Permit to Issue (PTI) Electronic Invoice </a:t>
            </a:r>
            <a:endParaRPr lang="en-US" sz="2000" dirty="0"/>
          </a:p>
        </p:txBody>
      </p:sp>
      <p:sp>
        <p:nvSpPr>
          <p:cNvPr id="8" name="Text 6">
            <a:extLst>
              <a:ext uri="{FF2B5EF4-FFF2-40B4-BE49-F238E27FC236}">
                <a16:creationId xmlns:a16="http://schemas.microsoft.com/office/drawing/2014/main" id="{BE850104-B966-F9B8-9476-BC3ED5AEDCFB}"/>
              </a:ext>
            </a:extLst>
          </p:cNvPr>
          <p:cNvSpPr/>
          <p:nvPr/>
        </p:nvSpPr>
        <p:spPr>
          <a:xfrm>
            <a:off x="800100" y="1711871"/>
            <a:ext cx="7105819" cy="868680"/>
          </a:xfrm>
          <a:prstGeom prst="rect">
            <a:avLst/>
          </a:prstGeom>
          <a:noFill/>
          <a:ln/>
        </p:spPr>
        <p:txBody>
          <a:bodyPr wrap="square" lIns="0" tIns="0" rIns="0" bIns="0" rtlCol="0" anchor="t"/>
          <a:lstStyle/>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The authority granted by the BIR authorizing a taxpayer to issue e-invoices that comply with the prescribed              e-invoicing requirements, through a duly registered and/or approved invoicing system.</a:t>
            </a:r>
          </a:p>
          <a:p>
            <a:pPr marL="0" indent="0" algn="l">
              <a:lnSpc>
                <a:spcPct val="100000"/>
              </a:lnSpc>
              <a:buNone/>
            </a:pPr>
            <a:r>
              <a:rPr lang="en-US" sz="800" dirty="0">
                <a:solidFill>
                  <a:schemeClr val="accent1">
                    <a:lumMod val="75000"/>
                  </a:schemeClr>
                </a:solidFill>
                <a:latin typeface="Calibri" pitchFamily="34" charset="0"/>
                <a:ea typeface="Calibri" pitchFamily="34" charset="-122"/>
                <a:cs typeface="Calibri" pitchFamily="34" charset="-120"/>
              </a:rPr>
              <a:t> </a:t>
            </a:r>
          </a:p>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The PTI is distinct from the Permit to Use (PTU) or Acknowledgement Certificate (AC) for CAS, which authorizes the use of such systems but does not by itself constitute authority to issue e-invoices.</a:t>
            </a:r>
          </a:p>
        </p:txBody>
      </p:sp>
      <p:sp>
        <p:nvSpPr>
          <p:cNvPr id="17" name="Shape 15">
            <a:extLst>
              <a:ext uri="{FF2B5EF4-FFF2-40B4-BE49-F238E27FC236}">
                <a16:creationId xmlns:a16="http://schemas.microsoft.com/office/drawing/2014/main" id="{933D243A-9E12-FA95-A3B1-ACE86FD01AD5}"/>
              </a:ext>
            </a:extLst>
          </p:cNvPr>
          <p:cNvSpPr/>
          <p:nvPr/>
        </p:nvSpPr>
        <p:spPr>
          <a:xfrm>
            <a:off x="502919" y="3746612"/>
            <a:ext cx="7516287" cy="1210772"/>
          </a:xfrm>
          <a:prstGeom prst="roundRect">
            <a:avLst>
              <a:gd name="adj" fmla="val 5000"/>
            </a:avLst>
          </a:prstGeom>
          <a:solidFill>
            <a:srgbClr val="EDF2F4"/>
          </a:solidFill>
          <a:ln/>
        </p:spPr>
        <p:txBody>
          <a:bodyPr/>
          <a:lstStyle/>
          <a:p>
            <a:endParaRPr lang="en-US"/>
          </a:p>
        </p:txBody>
      </p:sp>
      <p:sp>
        <p:nvSpPr>
          <p:cNvPr id="18" name="Shape 16">
            <a:extLst>
              <a:ext uri="{FF2B5EF4-FFF2-40B4-BE49-F238E27FC236}">
                <a16:creationId xmlns:a16="http://schemas.microsoft.com/office/drawing/2014/main" id="{54EC1C2D-8E13-1C68-90A4-F2A6D9067ED0}"/>
              </a:ext>
            </a:extLst>
          </p:cNvPr>
          <p:cNvSpPr/>
          <p:nvPr/>
        </p:nvSpPr>
        <p:spPr>
          <a:xfrm>
            <a:off x="502920" y="3746612"/>
            <a:ext cx="91440" cy="1210772"/>
          </a:xfrm>
          <a:prstGeom prst="rect">
            <a:avLst/>
          </a:prstGeom>
          <a:solidFill>
            <a:srgbClr val="D90429"/>
          </a:solidFill>
          <a:ln/>
        </p:spPr>
        <p:txBody>
          <a:bodyPr/>
          <a:lstStyle/>
          <a:p>
            <a:endParaRPr lang="en-US"/>
          </a:p>
        </p:txBody>
      </p:sp>
      <p:sp>
        <p:nvSpPr>
          <p:cNvPr id="19" name="Text 17">
            <a:extLst>
              <a:ext uri="{FF2B5EF4-FFF2-40B4-BE49-F238E27FC236}">
                <a16:creationId xmlns:a16="http://schemas.microsoft.com/office/drawing/2014/main" id="{83898D8A-D81C-5EFD-38A7-94295143956A}"/>
              </a:ext>
            </a:extLst>
          </p:cNvPr>
          <p:cNvSpPr/>
          <p:nvPr/>
        </p:nvSpPr>
        <p:spPr>
          <a:xfrm>
            <a:off x="731521" y="3860104"/>
            <a:ext cx="4083241" cy="365760"/>
          </a:xfrm>
          <a:prstGeom prst="rect">
            <a:avLst/>
          </a:prstGeom>
          <a:noFill/>
          <a:ln/>
        </p:spPr>
        <p:txBody>
          <a:bodyPr wrap="square" lIns="0" tIns="0" rIns="0" bIns="0" rtlCol="0" anchor="t"/>
          <a:lstStyle/>
          <a:p>
            <a:pPr marL="0" indent="0" algn="l">
              <a:buNone/>
            </a:pPr>
            <a:r>
              <a:rPr lang="en-US" sz="2000" b="1" dirty="0">
                <a:solidFill>
                  <a:srgbClr val="2B2D42"/>
                </a:solidFill>
                <a:latin typeface="Georgia" pitchFamily="34" charset="0"/>
                <a:ea typeface="Georgia" pitchFamily="34" charset="-122"/>
                <a:cs typeface="Georgia" pitchFamily="34" charset="-120"/>
              </a:rPr>
              <a:t>Permit to Transmit (PTT) </a:t>
            </a:r>
            <a:endParaRPr lang="en-US" sz="2000" dirty="0"/>
          </a:p>
        </p:txBody>
      </p:sp>
      <p:sp>
        <p:nvSpPr>
          <p:cNvPr id="20" name="Text 18">
            <a:extLst>
              <a:ext uri="{FF2B5EF4-FFF2-40B4-BE49-F238E27FC236}">
                <a16:creationId xmlns:a16="http://schemas.microsoft.com/office/drawing/2014/main" id="{979E079F-4318-1332-CD55-D420445332A7}"/>
              </a:ext>
            </a:extLst>
          </p:cNvPr>
          <p:cNvSpPr/>
          <p:nvPr/>
        </p:nvSpPr>
        <p:spPr>
          <a:xfrm>
            <a:off x="731521" y="4253296"/>
            <a:ext cx="7287685" cy="868680"/>
          </a:xfrm>
          <a:prstGeom prst="rect">
            <a:avLst/>
          </a:prstGeom>
          <a:noFill/>
          <a:ln/>
        </p:spPr>
        <p:txBody>
          <a:bodyPr wrap="square" lIns="0" tIns="0" rIns="0" bIns="0" rtlCol="0" anchor="t"/>
          <a:lstStyle/>
          <a:p>
            <a:pPr marL="0" indent="0" algn="l">
              <a:lnSpc>
                <a:spcPct val="100000"/>
              </a:lnSpc>
              <a:buNone/>
            </a:pPr>
            <a:r>
              <a:rPr lang="en-US" dirty="0">
                <a:solidFill>
                  <a:schemeClr val="accent1">
                    <a:lumMod val="75000"/>
                  </a:schemeClr>
                </a:solidFill>
                <a:latin typeface="Calibri" pitchFamily="34" charset="0"/>
                <a:ea typeface="Calibri" pitchFamily="34" charset="-122"/>
                <a:cs typeface="Calibri" pitchFamily="34" charset="-120"/>
              </a:rPr>
              <a:t>The authorization issued by the BIR permitting mandated taxpayers to transmit sales data to the BIR.</a:t>
            </a:r>
          </a:p>
        </p:txBody>
      </p:sp>
      <p:sp>
        <p:nvSpPr>
          <p:cNvPr id="29" name="Shape 27">
            <a:extLst>
              <a:ext uri="{FF2B5EF4-FFF2-40B4-BE49-F238E27FC236}">
                <a16:creationId xmlns:a16="http://schemas.microsoft.com/office/drawing/2014/main" id="{22625D42-E3F1-289C-B1AE-46CEEA2D5DBF}"/>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F4D6A83D-F94C-CCBE-F542-A7A79138EE26}"/>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Tree>
    <p:extLst>
      <p:ext uri="{BB962C8B-B14F-4D97-AF65-F5344CB8AC3E}">
        <p14:creationId xmlns:p14="http://schemas.microsoft.com/office/powerpoint/2010/main" val="3053031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2B2D42"/>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D90429"/>
          </a:solidFill>
          <a:ln/>
        </p:spPr>
        <p:txBody>
          <a:bodyPr/>
          <a:lstStyle/>
          <a:p>
            <a:endParaRPr lang="en-US"/>
          </a:p>
        </p:txBody>
      </p:sp>
      <p:sp>
        <p:nvSpPr>
          <p:cNvPr id="3" name="Text 1"/>
          <p:cNvSpPr/>
          <p:nvPr/>
        </p:nvSpPr>
        <p:spPr>
          <a:xfrm>
            <a:off x="274320" y="1645920"/>
            <a:ext cx="2651760" cy="1828800"/>
          </a:xfrm>
          <a:prstGeom prst="rect">
            <a:avLst/>
          </a:prstGeom>
          <a:noFill/>
          <a:ln/>
        </p:spPr>
        <p:txBody>
          <a:bodyPr wrap="square" rtlCol="0" anchor="ctr"/>
          <a:lstStyle/>
          <a:p>
            <a:pPr marL="0" indent="0" algn="l">
              <a:buNone/>
            </a:pPr>
            <a:r>
              <a:rPr lang="en-US" sz="15000" b="1" dirty="0">
                <a:solidFill>
                  <a:srgbClr val="FFFFFF"/>
                </a:solidFill>
                <a:latin typeface="Georgia" pitchFamily="34" charset="0"/>
                <a:ea typeface="Georgia" pitchFamily="34" charset="-122"/>
                <a:cs typeface="Georgia" pitchFamily="34" charset="-120"/>
              </a:rPr>
              <a:t>02</a:t>
            </a:r>
            <a:endParaRPr lang="en-US" sz="15000" dirty="0"/>
          </a:p>
        </p:txBody>
      </p:sp>
      <p:sp>
        <p:nvSpPr>
          <p:cNvPr id="4" name="Text 2"/>
          <p:cNvSpPr/>
          <p:nvPr/>
        </p:nvSpPr>
        <p:spPr>
          <a:xfrm>
            <a:off x="3566160" y="1920240"/>
            <a:ext cx="5120640" cy="320040"/>
          </a:xfrm>
          <a:prstGeom prst="rect">
            <a:avLst/>
          </a:prstGeom>
          <a:noFill/>
          <a:ln/>
        </p:spPr>
        <p:txBody>
          <a:bodyPr wrap="square" lIns="0" tIns="0" rIns="0" bIns="0" rtlCol="0" anchor="ctr"/>
          <a:lstStyle/>
          <a:p>
            <a:pPr marL="0" indent="0" algn="l">
              <a:buNone/>
            </a:pPr>
            <a:r>
              <a:rPr lang="en-US" sz="1300" b="1" kern="0" spc="300" dirty="0">
                <a:solidFill>
                  <a:srgbClr val="8D99AE"/>
                </a:solidFill>
                <a:latin typeface="Calibri" pitchFamily="34" charset="0"/>
                <a:ea typeface="Calibri" pitchFamily="34" charset="-122"/>
                <a:cs typeface="Calibri" pitchFamily="34" charset="-120"/>
              </a:rPr>
              <a:t>SECTION TWO</a:t>
            </a:r>
            <a:endParaRPr lang="en-US" sz="1300" dirty="0"/>
          </a:p>
        </p:txBody>
      </p:sp>
      <p:sp>
        <p:nvSpPr>
          <p:cNvPr id="5" name="Text 3"/>
          <p:cNvSpPr/>
          <p:nvPr/>
        </p:nvSpPr>
        <p:spPr>
          <a:xfrm>
            <a:off x="3566160" y="2240280"/>
            <a:ext cx="5394960" cy="1188720"/>
          </a:xfrm>
          <a:prstGeom prst="rect">
            <a:avLst/>
          </a:prstGeom>
          <a:noFill/>
          <a:ln/>
        </p:spPr>
        <p:txBody>
          <a:bodyPr wrap="square" lIns="0" tIns="0" rIns="0" bIns="0" rtlCol="0" anchor="t"/>
          <a:lstStyle/>
          <a:p>
            <a:pPr marL="0" indent="0" algn="l">
              <a:lnSpc>
                <a:spcPct val="100000"/>
              </a:lnSpc>
              <a:buNone/>
            </a:pPr>
            <a:r>
              <a:rPr lang="en-US" sz="3400" b="1" dirty="0">
                <a:solidFill>
                  <a:srgbClr val="FFFFFF"/>
                </a:solidFill>
                <a:latin typeface="Georgia" pitchFamily="34" charset="0"/>
                <a:ea typeface="Georgia" pitchFamily="34" charset="-122"/>
                <a:cs typeface="Georgia" pitchFamily="34" charset="-120"/>
              </a:rPr>
              <a:t>Policies, Qualification &amp; Accreditation</a:t>
            </a:r>
            <a:endParaRPr lang="en-US" sz="3400" dirty="0"/>
          </a:p>
        </p:txBody>
      </p:sp>
      <p:sp>
        <p:nvSpPr>
          <p:cNvPr id="6" name="Text 4"/>
          <p:cNvSpPr/>
          <p:nvPr/>
        </p:nvSpPr>
        <p:spPr>
          <a:xfrm>
            <a:off x="3566160" y="3611880"/>
            <a:ext cx="5120640" cy="914400"/>
          </a:xfrm>
          <a:prstGeom prst="rect">
            <a:avLst/>
          </a:prstGeom>
          <a:noFill/>
          <a:ln/>
        </p:spPr>
        <p:txBody>
          <a:bodyPr wrap="square" lIns="0" tIns="0" rIns="0" bIns="0" rtlCol="0" anchor="t"/>
          <a:lstStyle/>
          <a:p>
            <a:pPr marL="0" indent="0" algn="l">
              <a:lnSpc>
                <a:spcPct val="110000"/>
              </a:lnSpc>
              <a:buNone/>
            </a:pPr>
            <a:r>
              <a:rPr lang="en-US" sz="1400" dirty="0">
                <a:solidFill>
                  <a:srgbClr val="EDF2F4"/>
                </a:solidFill>
                <a:latin typeface="Calibri" pitchFamily="34" charset="0"/>
                <a:ea typeface="Calibri" pitchFamily="34" charset="-122"/>
                <a:cs typeface="Calibri" pitchFamily="34" charset="-120"/>
              </a:rPr>
              <a:t>Mandatory accreditation, scope of services, qualification requirements, and the stage-gated validation process.</a:t>
            </a:r>
            <a:endParaRPr lang="en-US" sz="1400" dirty="0"/>
          </a:p>
        </p:txBody>
      </p:sp>
      <p:sp>
        <p:nvSpPr>
          <p:cNvPr id="7" name="Shape 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8" name="Text 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POLICIES &amp; GUIDELINES</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General Policies</a:t>
            </a:r>
            <a:endParaRPr lang="en-US" sz="3000" dirty="0"/>
          </a:p>
        </p:txBody>
      </p:sp>
      <p:sp>
        <p:nvSpPr>
          <p:cNvPr id="5" name="Shape 3"/>
          <p:cNvSpPr/>
          <p:nvPr/>
        </p:nvSpPr>
        <p:spPr>
          <a:xfrm>
            <a:off x="548640" y="1508760"/>
            <a:ext cx="502920" cy="502920"/>
          </a:xfrm>
          <a:prstGeom prst="ellipse">
            <a:avLst/>
          </a:prstGeom>
          <a:solidFill>
            <a:srgbClr val="D90429"/>
          </a:solidFill>
          <a:ln/>
        </p:spPr>
        <p:txBody>
          <a:bodyPr/>
          <a:lstStyle/>
          <a:p>
            <a:endParaRPr lang="en-US"/>
          </a:p>
        </p:txBody>
      </p:sp>
      <p:sp>
        <p:nvSpPr>
          <p:cNvPr id="6" name="Text 4"/>
          <p:cNvSpPr/>
          <p:nvPr/>
        </p:nvSpPr>
        <p:spPr>
          <a:xfrm>
            <a:off x="548640" y="150876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234440" y="1481328"/>
            <a:ext cx="7406640" cy="320040"/>
          </a:xfrm>
          <a:prstGeom prst="rect">
            <a:avLst/>
          </a:prstGeom>
          <a:noFill/>
          <a:ln/>
        </p:spPr>
        <p:txBody>
          <a:bodyPr wrap="square" lIns="0" tIns="0" rIns="0" bIns="0" rtlCol="0" anchor="t"/>
          <a:lstStyle/>
          <a:p>
            <a:pPr marL="0" indent="0" algn="l">
              <a:buNone/>
            </a:pPr>
            <a:r>
              <a:rPr lang="en-US" sz="1450" b="1" dirty="0">
                <a:solidFill>
                  <a:srgbClr val="2B2D42"/>
                </a:solidFill>
                <a:latin typeface="Calibri" pitchFamily="34" charset="0"/>
                <a:ea typeface="Calibri" pitchFamily="34" charset="-122"/>
                <a:cs typeface="Calibri" pitchFamily="34" charset="-120"/>
              </a:rPr>
              <a:t>Mandatory Accreditation</a:t>
            </a:r>
            <a:endParaRPr lang="en-US" sz="1450" dirty="0"/>
          </a:p>
        </p:txBody>
      </p:sp>
      <p:sp>
        <p:nvSpPr>
          <p:cNvPr id="8" name="Text 6"/>
          <p:cNvSpPr/>
          <p:nvPr/>
        </p:nvSpPr>
        <p:spPr>
          <a:xfrm>
            <a:off x="1234440" y="1725975"/>
            <a:ext cx="7452360" cy="548640"/>
          </a:xfrm>
          <a:prstGeom prst="rect">
            <a:avLst/>
          </a:prstGeom>
          <a:noFill/>
          <a:ln/>
        </p:spPr>
        <p:txBody>
          <a:bodyPr wrap="square" lIns="0" tIns="0" rIns="0" bIns="0" rtlCol="0" anchor="t"/>
          <a:lstStyle/>
          <a:p>
            <a:pPr marL="0" indent="0" algn="l">
              <a:lnSpc>
                <a:spcPct val="100000"/>
              </a:lnSpc>
              <a:buNone/>
            </a:pPr>
            <a:r>
              <a:rPr lang="en-US" sz="1600" dirty="0">
                <a:solidFill>
                  <a:schemeClr val="accent1">
                    <a:lumMod val="75000"/>
                  </a:schemeClr>
                </a:solidFill>
                <a:latin typeface="Calibri" pitchFamily="34" charset="0"/>
                <a:ea typeface="Calibri" pitchFamily="34" charset="-122"/>
                <a:cs typeface="Calibri" pitchFamily="34" charset="-120"/>
              </a:rPr>
              <a:t>No one may commercially deploy e-invoicing or sales-reporting services without a valid Accreditation Certificate. Accreditation is solution-specific — tied to the particular version, modules, interfaces, and configuration approved.</a:t>
            </a:r>
            <a:endParaRPr lang="en-US" sz="1600" dirty="0">
              <a:solidFill>
                <a:schemeClr val="accent1">
                  <a:lumMod val="75000"/>
                </a:schemeClr>
              </a:solidFill>
            </a:endParaRPr>
          </a:p>
        </p:txBody>
      </p:sp>
      <p:sp>
        <p:nvSpPr>
          <p:cNvPr id="9" name="Shape 7"/>
          <p:cNvSpPr/>
          <p:nvPr/>
        </p:nvSpPr>
        <p:spPr>
          <a:xfrm>
            <a:off x="548640" y="2677711"/>
            <a:ext cx="502920" cy="502920"/>
          </a:xfrm>
          <a:prstGeom prst="ellipse">
            <a:avLst/>
          </a:prstGeom>
          <a:solidFill>
            <a:srgbClr val="D90429"/>
          </a:solidFill>
          <a:ln/>
        </p:spPr>
        <p:txBody>
          <a:bodyPr/>
          <a:lstStyle/>
          <a:p>
            <a:endParaRPr lang="en-US"/>
          </a:p>
        </p:txBody>
      </p:sp>
      <p:sp>
        <p:nvSpPr>
          <p:cNvPr id="10" name="Text 8"/>
          <p:cNvSpPr/>
          <p:nvPr/>
        </p:nvSpPr>
        <p:spPr>
          <a:xfrm>
            <a:off x="548640" y="2677711"/>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234440" y="2560320"/>
            <a:ext cx="7406640" cy="320040"/>
          </a:xfrm>
          <a:prstGeom prst="rect">
            <a:avLst/>
          </a:prstGeom>
          <a:noFill/>
          <a:ln/>
        </p:spPr>
        <p:txBody>
          <a:bodyPr wrap="square" lIns="0" tIns="0" rIns="0" bIns="0" rtlCol="0" anchor="t"/>
          <a:lstStyle/>
          <a:p>
            <a:pPr marL="0" indent="0" algn="l">
              <a:buNone/>
            </a:pPr>
            <a:r>
              <a:rPr lang="en-US" sz="1450" b="1" dirty="0">
                <a:solidFill>
                  <a:srgbClr val="2B2D42"/>
                </a:solidFill>
                <a:latin typeface="Calibri" pitchFamily="34" charset="0"/>
                <a:ea typeface="Calibri" pitchFamily="34" charset="-122"/>
                <a:cs typeface="Calibri" pitchFamily="34" charset="-120"/>
              </a:rPr>
              <a:t>Scope of Services</a:t>
            </a:r>
            <a:endParaRPr lang="en-US" sz="1450" dirty="0"/>
          </a:p>
        </p:txBody>
      </p:sp>
      <p:sp>
        <p:nvSpPr>
          <p:cNvPr id="12" name="Text 10"/>
          <p:cNvSpPr/>
          <p:nvPr/>
        </p:nvSpPr>
        <p:spPr>
          <a:xfrm>
            <a:off x="1234440" y="2767880"/>
            <a:ext cx="7452360" cy="548640"/>
          </a:xfrm>
          <a:prstGeom prst="rect">
            <a:avLst/>
          </a:prstGeom>
          <a:noFill/>
          <a:ln/>
        </p:spPr>
        <p:txBody>
          <a:bodyPr wrap="square" lIns="0" tIns="0" rIns="0" bIns="0" rtlCol="0" anchor="t"/>
          <a:lstStyle/>
          <a:p>
            <a:pPr marL="0" indent="0" algn="l">
              <a:lnSpc>
                <a:spcPct val="100000"/>
              </a:lnSpc>
              <a:buNone/>
            </a:pPr>
            <a:r>
              <a:rPr lang="en-US" sz="1600" dirty="0">
                <a:solidFill>
                  <a:schemeClr val="accent1">
                    <a:lumMod val="75000"/>
                  </a:schemeClr>
                </a:solidFill>
                <a:latin typeface="Calibri" pitchFamily="34" charset="0"/>
                <a:ea typeface="Calibri" pitchFamily="34" charset="-122"/>
                <a:cs typeface="Calibri" pitchFamily="34" charset="-120"/>
              </a:rPr>
              <a:t>End-to-end service: generation, issuance, preservation, validation, processing, storage, retrieval, audit support, and transmission. Data must be transmitted in real or near-real time within three (3) calendar days.</a:t>
            </a:r>
            <a:endParaRPr lang="en-US" sz="1600" dirty="0">
              <a:solidFill>
                <a:schemeClr val="accent1">
                  <a:lumMod val="75000"/>
                </a:schemeClr>
              </a:solidFill>
            </a:endParaRPr>
          </a:p>
        </p:txBody>
      </p:sp>
      <p:sp>
        <p:nvSpPr>
          <p:cNvPr id="13" name="Shape 11"/>
          <p:cNvSpPr/>
          <p:nvPr/>
        </p:nvSpPr>
        <p:spPr>
          <a:xfrm>
            <a:off x="548640" y="3500671"/>
            <a:ext cx="502920" cy="502920"/>
          </a:xfrm>
          <a:prstGeom prst="ellipse">
            <a:avLst/>
          </a:prstGeom>
          <a:solidFill>
            <a:srgbClr val="D90429"/>
          </a:solidFill>
          <a:ln/>
        </p:spPr>
        <p:txBody>
          <a:bodyPr/>
          <a:lstStyle/>
          <a:p>
            <a:endParaRPr lang="en-US"/>
          </a:p>
        </p:txBody>
      </p:sp>
      <p:sp>
        <p:nvSpPr>
          <p:cNvPr id="14" name="Text 12"/>
          <p:cNvSpPr/>
          <p:nvPr/>
        </p:nvSpPr>
        <p:spPr>
          <a:xfrm>
            <a:off x="548640" y="3500671"/>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5" name="Text 13"/>
          <p:cNvSpPr/>
          <p:nvPr/>
        </p:nvSpPr>
        <p:spPr>
          <a:xfrm>
            <a:off x="1211580" y="3563408"/>
            <a:ext cx="7406640" cy="320040"/>
          </a:xfrm>
          <a:prstGeom prst="rect">
            <a:avLst/>
          </a:prstGeom>
          <a:noFill/>
          <a:ln/>
        </p:spPr>
        <p:txBody>
          <a:bodyPr wrap="square" lIns="0" tIns="0" rIns="0" bIns="0" rtlCol="0" anchor="t"/>
          <a:lstStyle/>
          <a:p>
            <a:pPr marL="0" indent="0" algn="l">
              <a:buNone/>
            </a:pPr>
            <a:r>
              <a:rPr lang="en-US" sz="1450" b="1" dirty="0">
                <a:solidFill>
                  <a:srgbClr val="2B2D42"/>
                </a:solidFill>
                <a:latin typeface="Calibri" pitchFamily="34" charset="0"/>
                <a:ea typeface="Calibri" pitchFamily="34" charset="-122"/>
                <a:cs typeface="Calibri" pitchFamily="34" charset="-120"/>
              </a:rPr>
              <a:t>Legal Personality</a:t>
            </a:r>
            <a:endParaRPr lang="en-US" sz="1450" dirty="0"/>
          </a:p>
        </p:txBody>
      </p:sp>
      <p:sp>
        <p:nvSpPr>
          <p:cNvPr id="16" name="Text 14"/>
          <p:cNvSpPr/>
          <p:nvPr/>
        </p:nvSpPr>
        <p:spPr>
          <a:xfrm>
            <a:off x="1211580" y="3726180"/>
            <a:ext cx="7452360" cy="548640"/>
          </a:xfrm>
          <a:prstGeom prst="rect">
            <a:avLst/>
          </a:prstGeom>
          <a:noFill/>
          <a:ln/>
        </p:spPr>
        <p:txBody>
          <a:bodyPr wrap="square" lIns="0" tIns="0" rIns="0" bIns="0" rtlCol="0" anchor="t"/>
          <a:lstStyle/>
          <a:p>
            <a:pPr marL="0" indent="0" algn="l">
              <a:lnSpc>
                <a:spcPct val="100000"/>
              </a:lnSpc>
              <a:buNone/>
            </a:pPr>
            <a:r>
              <a:rPr lang="en-US" sz="1600" dirty="0">
                <a:solidFill>
                  <a:schemeClr val="accent1">
                    <a:lumMod val="75000"/>
                  </a:schemeClr>
                </a:solidFill>
                <a:latin typeface="Calibri" pitchFamily="34" charset="0"/>
                <a:ea typeface="Calibri" pitchFamily="34" charset="-122"/>
                <a:cs typeface="Calibri" pitchFamily="34" charset="-120"/>
              </a:rPr>
              <a:t>An applicant may be a corporation, partnership, joint venture, or consortium. Joint-venture or consortium members are jointly and severally liable for compliance.</a:t>
            </a:r>
            <a:endParaRPr lang="en-US" sz="1600" dirty="0">
              <a:solidFill>
                <a:schemeClr val="accent1">
                  <a:lumMod val="75000"/>
                </a:schemeClr>
              </a:solidFill>
            </a:endParaRPr>
          </a:p>
        </p:txBody>
      </p:sp>
      <p:sp>
        <p:nvSpPr>
          <p:cNvPr id="17" name="Shape 15"/>
          <p:cNvSpPr/>
          <p:nvPr/>
        </p:nvSpPr>
        <p:spPr>
          <a:xfrm>
            <a:off x="548640" y="4323631"/>
            <a:ext cx="502920" cy="502920"/>
          </a:xfrm>
          <a:prstGeom prst="ellipse">
            <a:avLst/>
          </a:prstGeom>
          <a:solidFill>
            <a:srgbClr val="D90429"/>
          </a:solidFill>
          <a:ln/>
        </p:spPr>
        <p:txBody>
          <a:bodyPr/>
          <a:lstStyle/>
          <a:p>
            <a:endParaRPr lang="en-US"/>
          </a:p>
        </p:txBody>
      </p:sp>
      <p:sp>
        <p:nvSpPr>
          <p:cNvPr id="18" name="Text 16"/>
          <p:cNvSpPr/>
          <p:nvPr/>
        </p:nvSpPr>
        <p:spPr>
          <a:xfrm>
            <a:off x="548640" y="4323631"/>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9" name="Text 17"/>
          <p:cNvSpPr/>
          <p:nvPr/>
        </p:nvSpPr>
        <p:spPr>
          <a:xfrm>
            <a:off x="1188720" y="4229100"/>
            <a:ext cx="7406640" cy="320040"/>
          </a:xfrm>
          <a:prstGeom prst="rect">
            <a:avLst/>
          </a:prstGeom>
          <a:noFill/>
          <a:ln/>
        </p:spPr>
        <p:txBody>
          <a:bodyPr wrap="square" lIns="0" tIns="0" rIns="0" bIns="0" rtlCol="0" anchor="t"/>
          <a:lstStyle/>
          <a:p>
            <a:pPr marL="0" indent="0" algn="l">
              <a:buNone/>
            </a:pPr>
            <a:r>
              <a:rPr lang="en-US" sz="1450" b="1" dirty="0">
                <a:solidFill>
                  <a:srgbClr val="2B2D42"/>
                </a:solidFill>
                <a:latin typeface="Calibri" pitchFamily="34" charset="0"/>
                <a:ea typeface="Calibri" pitchFamily="34" charset="-122"/>
                <a:cs typeface="Calibri" pitchFamily="34" charset="-120"/>
              </a:rPr>
              <a:t>Cost to Taxpayers</a:t>
            </a:r>
            <a:endParaRPr lang="en-US" sz="1450" dirty="0"/>
          </a:p>
        </p:txBody>
      </p:sp>
      <p:sp>
        <p:nvSpPr>
          <p:cNvPr id="20" name="Text 18"/>
          <p:cNvSpPr/>
          <p:nvPr/>
        </p:nvSpPr>
        <p:spPr>
          <a:xfrm>
            <a:off x="1234440" y="4413800"/>
            <a:ext cx="7452360" cy="548640"/>
          </a:xfrm>
          <a:prstGeom prst="rect">
            <a:avLst/>
          </a:prstGeom>
          <a:noFill/>
          <a:ln/>
        </p:spPr>
        <p:txBody>
          <a:bodyPr wrap="square" lIns="0" tIns="0" rIns="0" bIns="0" rtlCol="0" anchor="t"/>
          <a:lstStyle/>
          <a:p>
            <a:pPr marL="0" indent="0" algn="l">
              <a:lnSpc>
                <a:spcPct val="100000"/>
              </a:lnSpc>
              <a:buNone/>
            </a:pPr>
            <a:r>
              <a:rPr lang="en-US" sz="1600" dirty="0">
                <a:solidFill>
                  <a:schemeClr val="accent1">
                    <a:lumMod val="75000"/>
                  </a:schemeClr>
                </a:solidFill>
                <a:latin typeface="Calibri" pitchFamily="34" charset="0"/>
                <a:ea typeface="Calibri" pitchFamily="34" charset="-122"/>
                <a:cs typeface="Calibri" pitchFamily="34" charset="-120"/>
              </a:rPr>
              <a:t>Fees must be transparent, reasonable, and fully disclosed. No hidden charges, unreasonable exit or data-retrieval fees, or restrictions preventing provider changes.</a:t>
            </a:r>
            <a:endParaRPr lang="en-US" sz="1600" dirty="0">
              <a:solidFill>
                <a:schemeClr val="accent1">
                  <a:lumMod val="75000"/>
                </a:schemeClr>
              </a:solidFill>
            </a:endParaRPr>
          </a:p>
        </p:txBody>
      </p:sp>
      <p:sp>
        <p:nvSpPr>
          <p:cNvPr id="21" name="Shape 19"/>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2" name="Text 20"/>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FAFC8CF-301D-6FC5-F8A7-C595483A3B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623582-460E-6DDA-F794-DD198053B817}"/>
              </a:ext>
            </a:extLst>
          </p:cNvPr>
          <p:cNvSpPr/>
          <p:nvPr/>
        </p:nvSpPr>
        <p:spPr>
          <a:xfrm>
            <a:off x="0" y="0"/>
            <a:ext cx="164592" cy="5143500"/>
          </a:xfrm>
          <a:prstGeom prst="rect">
            <a:avLst/>
          </a:prstGeom>
          <a:solidFill>
            <a:srgbClr val="D90429"/>
          </a:solidFill>
          <a:ln/>
        </p:spPr>
        <p:txBody>
          <a:bodyPr/>
          <a:lstStyle/>
          <a:p>
            <a:endParaRPr lang="en-US"/>
          </a:p>
        </p:txBody>
      </p:sp>
      <p:sp>
        <p:nvSpPr>
          <p:cNvPr id="4" name="Text 2">
            <a:extLst>
              <a:ext uri="{FF2B5EF4-FFF2-40B4-BE49-F238E27FC236}">
                <a16:creationId xmlns:a16="http://schemas.microsoft.com/office/drawing/2014/main" id="{A3FB6435-A93D-1578-5249-D63481EA4476}"/>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Mandatory Accreditation</a:t>
            </a:r>
            <a:endParaRPr lang="en-US" sz="3000" dirty="0"/>
          </a:p>
        </p:txBody>
      </p:sp>
      <p:sp>
        <p:nvSpPr>
          <p:cNvPr id="29" name="Shape 27">
            <a:extLst>
              <a:ext uri="{FF2B5EF4-FFF2-40B4-BE49-F238E27FC236}">
                <a16:creationId xmlns:a16="http://schemas.microsoft.com/office/drawing/2014/main" id="{CD444C67-B345-5705-DCEC-A61C83986101}"/>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374A9119-A399-247B-E837-F0ED6B8F502A}"/>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BC5FDBFA-A299-15AD-83D6-739E608551A4}"/>
              </a:ext>
            </a:extLst>
          </p:cNvPr>
          <p:cNvSpPr/>
          <p:nvPr/>
        </p:nvSpPr>
        <p:spPr>
          <a:xfrm>
            <a:off x="557825" y="125614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No ESP shall commercially deploy, activate, or provide e-invoicing solutions and electronic sales reporting services to taxpayers unless its solution is accredited by the Bureau and it holds a valid Electronic Invoicing Solutions Accreditation Certificate. </a:t>
            </a:r>
          </a:p>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An applicant may conduct product demonstrations and controlled pre-production testing, provided that it clearly discloses that the service is not yet authorized for production use and does not process live taxpayer transactions. </a:t>
            </a:r>
          </a:p>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Accreditation shall be solution-specific and shall apply only to the particular solution, version, modules, interfaces and deployment configuration evaluated and approved by the BIR. Updates that are not Material Changes do not require reaccreditation.</a:t>
            </a:r>
          </a:p>
        </p:txBody>
      </p:sp>
      <p:sp>
        <p:nvSpPr>
          <p:cNvPr id="31" name="Text 1">
            <a:extLst>
              <a:ext uri="{FF2B5EF4-FFF2-40B4-BE49-F238E27FC236}">
                <a16:creationId xmlns:a16="http://schemas.microsoft.com/office/drawing/2014/main" id="{D68A40DA-F55F-7464-ED0A-4E0C97976F3B}"/>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extLst>
      <p:ext uri="{BB962C8B-B14F-4D97-AF65-F5344CB8AC3E}">
        <p14:creationId xmlns:p14="http://schemas.microsoft.com/office/powerpoint/2010/main" val="4031502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33CE15F-BF07-67E7-0A41-A92BD1E347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E1868A-668C-A985-163C-C636E3C42ECC}"/>
              </a:ext>
            </a:extLst>
          </p:cNvPr>
          <p:cNvSpPr/>
          <p:nvPr/>
        </p:nvSpPr>
        <p:spPr>
          <a:xfrm>
            <a:off x="0" y="0"/>
            <a:ext cx="164592" cy="5143500"/>
          </a:xfrm>
          <a:prstGeom prst="rect">
            <a:avLst/>
          </a:prstGeom>
          <a:solidFill>
            <a:srgbClr val="D90429"/>
          </a:solidFill>
          <a:ln/>
        </p:spPr>
        <p:txBody>
          <a:bodyPr/>
          <a:lstStyle/>
          <a:p>
            <a:endParaRPr lang="en-US"/>
          </a:p>
        </p:txBody>
      </p:sp>
      <p:sp>
        <p:nvSpPr>
          <p:cNvPr id="4" name="Text 2">
            <a:extLst>
              <a:ext uri="{FF2B5EF4-FFF2-40B4-BE49-F238E27FC236}">
                <a16:creationId xmlns:a16="http://schemas.microsoft.com/office/drawing/2014/main" id="{BC12E171-E877-5E56-5DE2-4030CD3A298F}"/>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SCOPE OF SERVICES</a:t>
            </a:r>
            <a:endParaRPr lang="en-US" sz="3000" dirty="0"/>
          </a:p>
        </p:txBody>
      </p:sp>
      <p:sp>
        <p:nvSpPr>
          <p:cNvPr id="29" name="Shape 27">
            <a:extLst>
              <a:ext uri="{FF2B5EF4-FFF2-40B4-BE49-F238E27FC236}">
                <a16:creationId xmlns:a16="http://schemas.microsoft.com/office/drawing/2014/main" id="{BDDC7A42-9EA7-EA7E-E7C2-5AA50C98DEC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47DC3627-EA2D-79A2-8FCE-92A3B4D96993}"/>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248D881D-DA43-77A6-3857-59BE5B74F305}"/>
              </a:ext>
            </a:extLst>
          </p:cNvPr>
          <p:cNvSpPr/>
          <p:nvPr/>
        </p:nvSpPr>
        <p:spPr>
          <a:xfrm>
            <a:off x="557825" y="125614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Provide an e-invoicing system capable of generating and preserving structured e-invoices that comply with applicable BIR functional, data, validation, security, and audit-trail requirements;</a:t>
            </a:r>
          </a:p>
        </p:txBody>
      </p:sp>
      <p:sp>
        <p:nvSpPr>
          <p:cNvPr id="6" name="Text 6">
            <a:extLst>
              <a:ext uri="{FF2B5EF4-FFF2-40B4-BE49-F238E27FC236}">
                <a16:creationId xmlns:a16="http://schemas.microsoft.com/office/drawing/2014/main" id="{B93178D7-81EE-74AB-71DE-E00D4A6986CF}"/>
              </a:ext>
            </a:extLst>
          </p:cNvPr>
          <p:cNvSpPr/>
          <p:nvPr/>
        </p:nvSpPr>
        <p:spPr>
          <a:xfrm>
            <a:off x="557825" y="2297430"/>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Ensure that the PTI Electronic Invoice Number is properly reflected on e-invoices, as may be required under applicable revenue issuances and technical specifications;</a:t>
            </a:r>
          </a:p>
        </p:txBody>
      </p:sp>
      <p:sp>
        <p:nvSpPr>
          <p:cNvPr id="7" name="Text 6">
            <a:extLst>
              <a:ext uri="{FF2B5EF4-FFF2-40B4-BE49-F238E27FC236}">
                <a16:creationId xmlns:a16="http://schemas.microsoft.com/office/drawing/2014/main" id="{77C25E2E-3EFB-97D7-C121-710DD05137B9}"/>
              </a:ext>
            </a:extLst>
          </p:cNvPr>
          <p:cNvSpPr/>
          <p:nvPr/>
        </p:nvSpPr>
        <p:spPr>
          <a:xfrm>
            <a:off x="557825" y="3338713"/>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Facilitate the application for, issuance of, or updating of the taxpayer's PTI Electronic Invoice through the BIR-prescribed procedure. The client-taxpayer shall remain the holder of such registration or authority, and the ESP shall acquire no proprietary interest in or control over the same.</a:t>
            </a:r>
          </a:p>
        </p:txBody>
      </p:sp>
      <p:sp>
        <p:nvSpPr>
          <p:cNvPr id="8" name="Text 1">
            <a:extLst>
              <a:ext uri="{FF2B5EF4-FFF2-40B4-BE49-F238E27FC236}">
                <a16:creationId xmlns:a16="http://schemas.microsoft.com/office/drawing/2014/main" id="{BDEBA717-B7BB-6697-4658-2556C577881A}"/>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extLst>
      <p:ext uri="{BB962C8B-B14F-4D97-AF65-F5344CB8AC3E}">
        <p14:creationId xmlns:p14="http://schemas.microsoft.com/office/powerpoint/2010/main" val="129307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4C83D8-94BC-8C10-A779-38D8FC8C2C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B7AFE2-94B7-39A1-C914-805CD73DB3A6}"/>
              </a:ext>
            </a:extLst>
          </p:cNvPr>
          <p:cNvSpPr/>
          <p:nvPr/>
        </p:nvSpPr>
        <p:spPr>
          <a:xfrm>
            <a:off x="0" y="0"/>
            <a:ext cx="164592" cy="5143500"/>
          </a:xfrm>
          <a:prstGeom prst="rect">
            <a:avLst/>
          </a:prstGeom>
          <a:solidFill>
            <a:srgbClr val="D90429"/>
          </a:solidFill>
          <a:ln/>
        </p:spPr>
        <p:txBody>
          <a:bodyPr/>
          <a:lstStyle/>
          <a:p>
            <a:endParaRPr lang="en-US"/>
          </a:p>
        </p:txBody>
      </p:sp>
      <p:sp>
        <p:nvSpPr>
          <p:cNvPr id="4" name="Text 2">
            <a:extLst>
              <a:ext uri="{FF2B5EF4-FFF2-40B4-BE49-F238E27FC236}">
                <a16:creationId xmlns:a16="http://schemas.microsoft.com/office/drawing/2014/main" id="{7A56EEA4-F843-5B79-D4C2-5F9632C3F53B}"/>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SCOPE OF SERVICES</a:t>
            </a:r>
            <a:endParaRPr lang="en-US" sz="3000" dirty="0"/>
          </a:p>
        </p:txBody>
      </p:sp>
      <p:sp>
        <p:nvSpPr>
          <p:cNvPr id="29" name="Shape 27">
            <a:extLst>
              <a:ext uri="{FF2B5EF4-FFF2-40B4-BE49-F238E27FC236}">
                <a16:creationId xmlns:a16="http://schemas.microsoft.com/office/drawing/2014/main" id="{DE2AE249-908D-E2C5-7031-2C053A0550AA}"/>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C4958352-0BAF-451F-8E10-343CB4CE4CE0}"/>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7751FB4B-EF6F-4F8F-973B-E8BD14F296B7}"/>
              </a:ext>
            </a:extLst>
          </p:cNvPr>
          <p:cNvSpPr/>
          <p:nvPr/>
        </p:nvSpPr>
        <p:spPr>
          <a:xfrm>
            <a:off x="557825" y="125614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Transmission of e-invoice and sales data shall be made real time or near real time within three (3) calendar days from the date of transaction. Where immediate transmission is unavailable, the system shall securely queue, preserve, reconcile, and retransmit the data within three (3) calendar days upon system restoration without loss, alteration, corruption, or duplication; and</a:t>
            </a:r>
          </a:p>
        </p:txBody>
      </p:sp>
      <p:sp>
        <p:nvSpPr>
          <p:cNvPr id="7" name="Text 6">
            <a:extLst>
              <a:ext uri="{FF2B5EF4-FFF2-40B4-BE49-F238E27FC236}">
                <a16:creationId xmlns:a16="http://schemas.microsoft.com/office/drawing/2014/main" id="{1FB75D91-8DAF-6091-F647-72B1CD8A06CA}"/>
              </a:ext>
            </a:extLst>
          </p:cNvPr>
          <p:cNvSpPr/>
          <p:nvPr/>
        </p:nvSpPr>
        <p:spPr>
          <a:xfrm>
            <a:off x="557825" y="3544371"/>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Manage all required Application Programming Interface (API) integrations, certifications, and pre-production testing on behalf of the client-taxpayer, subject to the client's written authorization.</a:t>
            </a:r>
          </a:p>
        </p:txBody>
      </p:sp>
      <p:sp>
        <p:nvSpPr>
          <p:cNvPr id="8" name="Text 1">
            <a:extLst>
              <a:ext uri="{FF2B5EF4-FFF2-40B4-BE49-F238E27FC236}">
                <a16:creationId xmlns:a16="http://schemas.microsoft.com/office/drawing/2014/main" id="{49E77AC6-D992-6A0C-C696-AD9F8B8EC0CD}"/>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extLst>
      <p:ext uri="{BB962C8B-B14F-4D97-AF65-F5344CB8AC3E}">
        <p14:creationId xmlns:p14="http://schemas.microsoft.com/office/powerpoint/2010/main" val="77326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7B0474-239A-E125-1D44-7186F7D9F0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AA4643-3C11-0954-651F-3B23FD1A9D12}"/>
              </a:ext>
            </a:extLst>
          </p:cNvPr>
          <p:cNvSpPr/>
          <p:nvPr/>
        </p:nvSpPr>
        <p:spPr>
          <a:xfrm>
            <a:off x="0" y="0"/>
            <a:ext cx="164592" cy="5143500"/>
          </a:xfrm>
          <a:prstGeom prst="rect">
            <a:avLst/>
          </a:prstGeom>
          <a:solidFill>
            <a:srgbClr val="D90429"/>
          </a:solidFill>
          <a:ln/>
        </p:spPr>
        <p:txBody>
          <a:bodyPr/>
          <a:lstStyle/>
          <a:p>
            <a:endParaRPr lang="en-US"/>
          </a:p>
        </p:txBody>
      </p:sp>
      <p:sp>
        <p:nvSpPr>
          <p:cNvPr id="4" name="Text 2">
            <a:extLst>
              <a:ext uri="{FF2B5EF4-FFF2-40B4-BE49-F238E27FC236}">
                <a16:creationId xmlns:a16="http://schemas.microsoft.com/office/drawing/2014/main" id="{887A0E81-5A05-889F-2772-31609744B99D}"/>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LEGAL PERSONALITY OF AN ESP</a:t>
            </a:r>
            <a:endParaRPr lang="en-US" sz="3000" dirty="0"/>
          </a:p>
        </p:txBody>
      </p:sp>
      <p:sp>
        <p:nvSpPr>
          <p:cNvPr id="29" name="Shape 27">
            <a:extLst>
              <a:ext uri="{FF2B5EF4-FFF2-40B4-BE49-F238E27FC236}">
                <a16:creationId xmlns:a16="http://schemas.microsoft.com/office/drawing/2014/main" id="{BCAD67BA-47AD-AD4B-511A-3258B5A0F50C}"/>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767875A4-5881-76A9-B932-A6FC5AA65C37}"/>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1B67FE7D-46E1-A687-A24C-FD654DC5B6F7}"/>
              </a:ext>
            </a:extLst>
          </p:cNvPr>
          <p:cNvSpPr/>
          <p:nvPr/>
        </p:nvSpPr>
        <p:spPr>
          <a:xfrm>
            <a:off x="557825" y="125614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An applicant may be a corporation, partnership, joint venture, or consortium organized or duly licensed to do business in the Philippines. </a:t>
            </a:r>
          </a:p>
        </p:txBody>
      </p:sp>
      <p:sp>
        <p:nvSpPr>
          <p:cNvPr id="7" name="Text 6">
            <a:extLst>
              <a:ext uri="{FF2B5EF4-FFF2-40B4-BE49-F238E27FC236}">
                <a16:creationId xmlns:a16="http://schemas.microsoft.com/office/drawing/2014/main" id="{B8F4270B-E698-D015-676E-1C667710961A}"/>
              </a:ext>
            </a:extLst>
          </p:cNvPr>
          <p:cNvSpPr/>
          <p:nvPr/>
        </p:nvSpPr>
        <p:spPr>
          <a:xfrm>
            <a:off x="557825" y="3775031"/>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The designation of a lead member or principal applicant shall not relieve any member from solidary responsibility.</a:t>
            </a:r>
          </a:p>
        </p:txBody>
      </p:sp>
      <p:sp>
        <p:nvSpPr>
          <p:cNvPr id="6" name="Text 6">
            <a:extLst>
              <a:ext uri="{FF2B5EF4-FFF2-40B4-BE49-F238E27FC236}">
                <a16:creationId xmlns:a16="http://schemas.microsoft.com/office/drawing/2014/main" id="{1C3514D8-1B90-E273-A6E2-CBAE830A7A15}"/>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Where the applicant is a joint venture or consortium, the accreditation requirements under this Circular may be satisfied by any one (1) member designated as the lead member or principal applicant. </a:t>
            </a:r>
          </a:p>
        </p:txBody>
      </p:sp>
      <p:sp>
        <p:nvSpPr>
          <p:cNvPr id="8" name="Text 1">
            <a:extLst>
              <a:ext uri="{FF2B5EF4-FFF2-40B4-BE49-F238E27FC236}">
                <a16:creationId xmlns:a16="http://schemas.microsoft.com/office/drawing/2014/main" id="{3814ADD8-640F-F302-C93E-DA6DBDAC8C61}"/>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extLst>
      <p:ext uri="{BB962C8B-B14F-4D97-AF65-F5344CB8AC3E}">
        <p14:creationId xmlns:p14="http://schemas.microsoft.com/office/powerpoint/2010/main" val="3787147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D95151-70A3-FC19-F522-E785940560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774D3A-2AC2-9F17-7630-1B2997FB91ED}"/>
              </a:ext>
            </a:extLst>
          </p:cNvPr>
          <p:cNvSpPr/>
          <p:nvPr/>
        </p:nvSpPr>
        <p:spPr>
          <a:xfrm>
            <a:off x="0" y="0"/>
            <a:ext cx="164592" cy="5143500"/>
          </a:xfrm>
          <a:prstGeom prst="rect">
            <a:avLst/>
          </a:prstGeom>
          <a:solidFill>
            <a:srgbClr val="D90429"/>
          </a:solidFill>
          <a:ln/>
        </p:spPr>
        <p:txBody>
          <a:bodyPr/>
          <a:lstStyle/>
          <a:p>
            <a:endParaRPr lang="en-US"/>
          </a:p>
        </p:txBody>
      </p:sp>
      <p:sp>
        <p:nvSpPr>
          <p:cNvPr id="4" name="Text 2">
            <a:extLst>
              <a:ext uri="{FF2B5EF4-FFF2-40B4-BE49-F238E27FC236}">
                <a16:creationId xmlns:a16="http://schemas.microsoft.com/office/drawing/2014/main" id="{88913A16-0871-E45A-49BF-4A135D08B1F1}"/>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COST TO CLIENT-TAXPAYERS</a:t>
            </a:r>
            <a:endParaRPr lang="en-US" sz="3000" dirty="0"/>
          </a:p>
        </p:txBody>
      </p:sp>
      <p:sp>
        <p:nvSpPr>
          <p:cNvPr id="29" name="Shape 27">
            <a:extLst>
              <a:ext uri="{FF2B5EF4-FFF2-40B4-BE49-F238E27FC236}">
                <a16:creationId xmlns:a16="http://schemas.microsoft.com/office/drawing/2014/main" id="{34639EFB-584D-8972-540D-C71882BE0C4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4B9F969F-694D-87C4-3543-36D1F4CF5C59}"/>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204BCAB6-E926-04D4-17D8-4DF37536BC94}"/>
              </a:ext>
            </a:extLst>
          </p:cNvPr>
          <p:cNvSpPr/>
          <p:nvPr/>
        </p:nvSpPr>
        <p:spPr>
          <a:xfrm>
            <a:off x="557825" y="125614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ESP fees shall be transparent, reasonable, proportionate to the services provided, and fully disclosed before taxpayer onboarding. No ESP shall impose hidden charges, exit, data-retrieval, or migration fees that are not disclosed in the service agreement or that exceed the ESP’s documented cost, or contractual restrictions that prevent a taxpayer from changing providers or retrieving its records. </a:t>
            </a:r>
            <a:r>
              <a:rPr lang="en-US" sz="2000" dirty="0">
                <a:solidFill>
                  <a:srgbClr val="00B050"/>
                </a:solidFill>
                <a:latin typeface="Calibri" pitchFamily="34" charset="0"/>
                <a:ea typeface="Calibri" pitchFamily="34" charset="-122"/>
                <a:cs typeface="Calibri" pitchFamily="34" charset="-120"/>
              </a:rPr>
              <a:t>This is a condition of accreditation.</a:t>
            </a:r>
          </a:p>
        </p:txBody>
      </p:sp>
      <p:sp>
        <p:nvSpPr>
          <p:cNvPr id="7" name="Text 6">
            <a:extLst>
              <a:ext uri="{FF2B5EF4-FFF2-40B4-BE49-F238E27FC236}">
                <a16:creationId xmlns:a16="http://schemas.microsoft.com/office/drawing/2014/main" id="{8AF50A09-0ADA-F93C-1A65-53120053CA89}"/>
              </a:ext>
            </a:extLst>
          </p:cNvPr>
          <p:cNvSpPr/>
          <p:nvPr/>
        </p:nvSpPr>
        <p:spPr>
          <a:xfrm>
            <a:off x="557825" y="3775031"/>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The BIR shall require disclosure of standard packages, fees, material price changes, and charges imposed for onboarding, storage, transmission, retrieval, migration, and termination.</a:t>
            </a:r>
          </a:p>
        </p:txBody>
      </p:sp>
      <p:sp>
        <p:nvSpPr>
          <p:cNvPr id="6" name="Text 6">
            <a:extLst>
              <a:ext uri="{FF2B5EF4-FFF2-40B4-BE49-F238E27FC236}">
                <a16:creationId xmlns:a16="http://schemas.microsoft.com/office/drawing/2014/main" id="{46262D20-2D95-DB04-7513-A29664AE480A}"/>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
        <p:nvSpPr>
          <p:cNvPr id="8" name="Text 1">
            <a:extLst>
              <a:ext uri="{FF2B5EF4-FFF2-40B4-BE49-F238E27FC236}">
                <a16:creationId xmlns:a16="http://schemas.microsoft.com/office/drawing/2014/main" id="{D08C8098-D582-B02C-C889-5758C6BA2352}"/>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extLst>
      <p:ext uri="{BB962C8B-B14F-4D97-AF65-F5344CB8AC3E}">
        <p14:creationId xmlns:p14="http://schemas.microsoft.com/office/powerpoint/2010/main" val="159338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4450AD8-0C57-7A3D-52AE-718FE34603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F22F1D-338A-7D66-6459-8F1266A3C90D}"/>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E161BA8E-15D9-19D6-3D79-1DCD29D62B78}"/>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
        <p:nvSpPr>
          <p:cNvPr id="4" name="Text 2">
            <a:extLst>
              <a:ext uri="{FF2B5EF4-FFF2-40B4-BE49-F238E27FC236}">
                <a16:creationId xmlns:a16="http://schemas.microsoft.com/office/drawing/2014/main" id="{AE164C68-38A6-62A5-8EA5-05A2EEFA3C75}"/>
              </a:ext>
            </a:extLst>
          </p:cNvPr>
          <p:cNvSpPr/>
          <p:nvPr/>
        </p:nvSpPr>
        <p:spPr>
          <a:xfrm>
            <a:off x="502920" y="658368"/>
            <a:ext cx="8764648" cy="731520"/>
          </a:xfrm>
          <a:prstGeom prst="rect">
            <a:avLst/>
          </a:prstGeom>
          <a:noFill/>
          <a:ln/>
        </p:spPr>
        <p:txBody>
          <a:bodyPr wrap="square" lIns="0" tIns="0" rIns="0" bIns="0" rtlCol="0" anchor="t">
            <a:normAutofit fontScale="92500" lnSpcReduction="20000"/>
          </a:bodyPr>
          <a:lstStyle/>
          <a:p>
            <a:pPr marL="0" indent="0" algn="l">
              <a:buNone/>
            </a:pPr>
            <a:r>
              <a:rPr lang="en-US" sz="3000" b="1" dirty="0">
                <a:solidFill>
                  <a:srgbClr val="2B2D42"/>
                </a:solidFill>
                <a:latin typeface="Georgia" pitchFamily="34" charset="0"/>
                <a:ea typeface="Georgia" pitchFamily="34" charset="-122"/>
                <a:cs typeface="Georgia" pitchFamily="34" charset="-120"/>
              </a:rPr>
              <a:t>RELATIONSHIP WITH CAS AND POS REGULATIONS</a:t>
            </a:r>
            <a:endParaRPr lang="en-US" sz="3000" dirty="0"/>
          </a:p>
        </p:txBody>
      </p:sp>
      <p:sp>
        <p:nvSpPr>
          <p:cNvPr id="29" name="Shape 27">
            <a:extLst>
              <a:ext uri="{FF2B5EF4-FFF2-40B4-BE49-F238E27FC236}">
                <a16:creationId xmlns:a16="http://schemas.microsoft.com/office/drawing/2014/main" id="{7EEF9578-8C0B-7040-9713-910E01217D59}"/>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39415F77-E233-848A-8CE4-3D2FA85CEC54}"/>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AF9E28E2-DE75-8214-AF0A-3E4DADB35A5A}"/>
              </a:ext>
            </a:extLst>
          </p:cNvPr>
          <p:cNvSpPr/>
          <p:nvPr/>
        </p:nvSpPr>
        <p:spPr>
          <a:xfrm>
            <a:off x="557825" y="1486807"/>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r>
              <a:rPr lang="en-US" sz="2000" dirty="0">
                <a:solidFill>
                  <a:schemeClr val="accent1">
                    <a:lumMod val="75000"/>
                  </a:schemeClr>
                </a:solidFill>
                <a:latin typeface="Calibri" pitchFamily="34" charset="0"/>
                <a:ea typeface="Calibri" pitchFamily="34" charset="-122"/>
                <a:cs typeface="Calibri" pitchFamily="34" charset="-120"/>
              </a:rPr>
              <a:t>Accreditation under this Circular shall not replace taxpayer-level CAS, POS, or other system registration or approval requirements under applicable revenue issuances, including the PTI Electronic Invoice and EIS Certification of the taxpayer under RMC No. 98-2026.</a:t>
            </a:r>
          </a:p>
        </p:txBody>
      </p:sp>
      <p:sp>
        <p:nvSpPr>
          <p:cNvPr id="6" name="Text 6">
            <a:extLst>
              <a:ext uri="{FF2B5EF4-FFF2-40B4-BE49-F238E27FC236}">
                <a16:creationId xmlns:a16="http://schemas.microsoft.com/office/drawing/2014/main" id="{ACCF0C99-5346-624F-3873-3E2A2FCED669}"/>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721121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579075-1820-37B5-22A0-EEA256F3E0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50B7EA-3C7A-3FEE-2C81-420CF0754AF4}"/>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C0079D52-6E23-8675-A0EE-B0B50F87601D}"/>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
        <p:nvSpPr>
          <p:cNvPr id="4" name="Text 2">
            <a:extLst>
              <a:ext uri="{FF2B5EF4-FFF2-40B4-BE49-F238E27FC236}">
                <a16:creationId xmlns:a16="http://schemas.microsoft.com/office/drawing/2014/main" id="{D71FBC5A-FE8A-BCF8-7E3A-D65CE511F500}"/>
              </a:ext>
            </a:extLst>
          </p:cNvPr>
          <p:cNvSpPr/>
          <p:nvPr/>
        </p:nvSpPr>
        <p:spPr>
          <a:xfrm>
            <a:off x="502920" y="658368"/>
            <a:ext cx="8764648" cy="731520"/>
          </a:xfrm>
          <a:prstGeom prst="rect">
            <a:avLst/>
          </a:prstGeom>
          <a:noFill/>
          <a:ln/>
        </p:spPr>
        <p:txBody>
          <a:bodyPr wrap="square" lIns="0" tIns="0" rIns="0" bIns="0" rtlCol="0" anchor="t">
            <a:normAutofit fontScale="92500" lnSpcReduction="20000"/>
          </a:bodyPr>
          <a:lstStyle/>
          <a:p>
            <a:pPr marL="0" indent="0" algn="l">
              <a:buNone/>
            </a:pPr>
            <a:r>
              <a:rPr lang="en-US" sz="3000" b="1" dirty="0">
                <a:solidFill>
                  <a:srgbClr val="2B2D42"/>
                </a:solidFill>
                <a:latin typeface="Georgia" pitchFamily="34" charset="0"/>
                <a:ea typeface="Georgia" pitchFamily="34" charset="-122"/>
                <a:cs typeface="Georgia" pitchFamily="34" charset="-120"/>
              </a:rPr>
              <a:t>QUALIFICATION AND ACCREDITATION REQUIREMENTS </a:t>
            </a:r>
          </a:p>
        </p:txBody>
      </p:sp>
      <p:sp>
        <p:nvSpPr>
          <p:cNvPr id="29" name="Shape 27">
            <a:extLst>
              <a:ext uri="{FF2B5EF4-FFF2-40B4-BE49-F238E27FC236}">
                <a16:creationId xmlns:a16="http://schemas.microsoft.com/office/drawing/2014/main" id="{2AA8CE82-4805-7389-BCD8-FEDB03AC8F93}"/>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60BBFDAD-3A3B-47D6-CBBD-A7E8B043E185}"/>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FAA790DE-7420-5918-A8E4-86D6913DACD0}"/>
              </a:ext>
            </a:extLst>
          </p:cNvPr>
          <p:cNvSpPr/>
          <p:nvPr/>
        </p:nvSpPr>
        <p:spPr>
          <a:xfrm>
            <a:off x="557825" y="1486807"/>
            <a:ext cx="7452360" cy="548640"/>
          </a:xfrm>
          <a:prstGeom prst="rect">
            <a:avLst/>
          </a:prstGeom>
          <a:noFill/>
          <a:ln/>
        </p:spPr>
        <p:txBody>
          <a:bodyPr wrap="square" lIns="0" tIns="0" rIns="0" bIns="0" rtlCol="0" anchor="t"/>
          <a:lstStyle/>
          <a:p>
            <a:pPr algn="just">
              <a:lnSpc>
                <a:spcPct val="100000"/>
              </a:lnSpc>
            </a:pPr>
            <a:r>
              <a:rPr lang="en-US" sz="2000" dirty="0">
                <a:solidFill>
                  <a:schemeClr val="accent1">
                    <a:lumMod val="75000"/>
                  </a:schemeClr>
                </a:solidFill>
                <a:latin typeface="Calibri" pitchFamily="34" charset="0"/>
                <a:ea typeface="Calibri" pitchFamily="34" charset="-122"/>
                <a:cs typeface="Calibri" pitchFamily="34" charset="-120"/>
              </a:rPr>
              <a:t>The ESP shall: </a:t>
            </a:r>
          </a:p>
          <a:p>
            <a:pPr algn="just">
              <a:lnSpc>
                <a:spcPct val="100000"/>
              </a:lnSpc>
            </a:pPr>
            <a:endParaRPr lang="en-US" sz="2000" dirty="0">
              <a:solidFill>
                <a:schemeClr val="accent1">
                  <a:lumMod val="75000"/>
                </a:schemeClr>
              </a:solidFill>
              <a:latin typeface="Calibri" pitchFamily="34" charset="0"/>
              <a:ea typeface="Calibri" pitchFamily="34" charset="-122"/>
              <a:cs typeface="Calibri" pitchFamily="34" charset="-120"/>
            </a:endParaRPr>
          </a:p>
          <a:p>
            <a:pPr marL="457200" indent="-457200" algn="just">
              <a:lnSpc>
                <a:spcPct val="100000"/>
              </a:lnSpc>
              <a:buFont typeface="+mj-lt"/>
              <a:buAutoNum type="alphaLcPeriod"/>
            </a:pPr>
            <a:r>
              <a:rPr lang="en-US" sz="2000" dirty="0">
                <a:solidFill>
                  <a:schemeClr val="accent1">
                    <a:lumMod val="75000"/>
                  </a:schemeClr>
                </a:solidFill>
                <a:latin typeface="Calibri" pitchFamily="34" charset="0"/>
                <a:ea typeface="Calibri" pitchFamily="34" charset="-122"/>
                <a:cs typeface="Calibri" pitchFamily="34" charset="-120"/>
              </a:rPr>
              <a:t>Comply with all requirements identified in the Checklist of Requirements for the Application for Electronic Invoicing Solutions Accreditation (Annex “A”). </a:t>
            </a:r>
          </a:p>
          <a:p>
            <a:pPr marL="457200" indent="-457200" algn="just">
              <a:lnSpc>
                <a:spcPct val="100000"/>
              </a:lnSpc>
              <a:buFont typeface="+mj-lt"/>
              <a:buAutoNum type="alphaLcPeriod"/>
            </a:pPr>
            <a:endParaRPr lang="en-US" sz="2000" dirty="0">
              <a:solidFill>
                <a:schemeClr val="accent1">
                  <a:lumMod val="75000"/>
                </a:schemeClr>
              </a:solidFill>
              <a:latin typeface="Calibri" pitchFamily="34" charset="0"/>
              <a:ea typeface="Calibri" pitchFamily="34" charset="-122"/>
              <a:cs typeface="Calibri" pitchFamily="34" charset="-120"/>
            </a:endParaRPr>
          </a:p>
          <a:p>
            <a:pPr marL="457200" indent="-457200" algn="just">
              <a:lnSpc>
                <a:spcPct val="100000"/>
              </a:lnSpc>
              <a:buFont typeface="+mj-lt"/>
              <a:buAutoNum type="alphaLcPeriod"/>
            </a:pPr>
            <a:r>
              <a:rPr lang="en-US" sz="2000" dirty="0">
                <a:solidFill>
                  <a:schemeClr val="accent1">
                    <a:lumMod val="75000"/>
                  </a:schemeClr>
                </a:solidFill>
                <a:latin typeface="Calibri" pitchFamily="34" charset="0"/>
                <a:ea typeface="Calibri" pitchFamily="34" charset="-122"/>
                <a:cs typeface="Calibri" pitchFamily="34" charset="-120"/>
              </a:rPr>
              <a:t>Submission of incomplete, inaccurate, misleading, or falsified documents shall be a ground for non-acceptance or denial of the application;</a:t>
            </a:r>
          </a:p>
          <a:p>
            <a:pPr marL="457200" indent="-457200" algn="just">
              <a:lnSpc>
                <a:spcPct val="100000"/>
              </a:lnSpc>
              <a:buFont typeface="+mj-lt"/>
              <a:buAutoNum type="alphaLcPeriod"/>
            </a:pPr>
            <a:endParaRPr lang="en-US" sz="2000" dirty="0">
              <a:solidFill>
                <a:schemeClr val="accent1">
                  <a:lumMod val="75000"/>
                </a:schemeClr>
              </a:solidFill>
              <a:latin typeface="Calibri" pitchFamily="34" charset="0"/>
              <a:ea typeface="Calibri" pitchFamily="34" charset="-122"/>
              <a:cs typeface="Calibri" pitchFamily="34" charset="-120"/>
            </a:endParaRPr>
          </a:p>
          <a:p>
            <a:pPr marL="457200" indent="-457200" algn="just">
              <a:lnSpc>
                <a:spcPct val="100000"/>
              </a:lnSpc>
              <a:buFont typeface="+mj-lt"/>
              <a:buAutoNum type="alphaLcPeriod"/>
            </a:pPr>
            <a:r>
              <a:rPr lang="en-US" sz="2000" dirty="0">
                <a:solidFill>
                  <a:schemeClr val="accent1">
                    <a:lumMod val="75000"/>
                  </a:schemeClr>
                </a:solidFill>
                <a:latin typeface="Calibri" pitchFamily="34" charset="0"/>
                <a:ea typeface="Calibri" pitchFamily="34" charset="-122"/>
                <a:cs typeface="Calibri" pitchFamily="34" charset="-120"/>
              </a:rPr>
              <a:t>Provide a detailed system overview; </a:t>
            </a:r>
          </a:p>
        </p:txBody>
      </p:sp>
      <p:sp>
        <p:nvSpPr>
          <p:cNvPr id="6" name="Text 6">
            <a:extLst>
              <a:ext uri="{FF2B5EF4-FFF2-40B4-BE49-F238E27FC236}">
                <a16:creationId xmlns:a16="http://schemas.microsoft.com/office/drawing/2014/main" id="{65520C3E-628F-E6FB-BD7A-7CA3987A255A}"/>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732842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64292F-E704-4C6C-4B3F-435104765D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1EFB07-224F-01CB-EDFD-30E8D727F2DA}"/>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23983521-106B-C63E-D669-DBAB79CB6D59}"/>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
        <p:nvSpPr>
          <p:cNvPr id="4" name="Text 2">
            <a:extLst>
              <a:ext uri="{FF2B5EF4-FFF2-40B4-BE49-F238E27FC236}">
                <a16:creationId xmlns:a16="http://schemas.microsoft.com/office/drawing/2014/main" id="{83F25BDE-EFEC-0137-CC9B-1C33B1055957}"/>
              </a:ext>
            </a:extLst>
          </p:cNvPr>
          <p:cNvSpPr/>
          <p:nvPr/>
        </p:nvSpPr>
        <p:spPr>
          <a:xfrm>
            <a:off x="502920" y="658368"/>
            <a:ext cx="8764648" cy="731520"/>
          </a:xfrm>
          <a:prstGeom prst="rect">
            <a:avLst/>
          </a:prstGeom>
          <a:noFill/>
          <a:ln/>
        </p:spPr>
        <p:txBody>
          <a:bodyPr wrap="square" lIns="0" tIns="0" rIns="0" bIns="0" rtlCol="0" anchor="t">
            <a:normAutofit fontScale="92500" lnSpcReduction="20000"/>
          </a:bodyPr>
          <a:lstStyle/>
          <a:p>
            <a:pPr marL="0" indent="0" algn="l">
              <a:buNone/>
            </a:pPr>
            <a:r>
              <a:rPr lang="en-US" sz="3000" b="1" dirty="0">
                <a:solidFill>
                  <a:srgbClr val="2B2D42"/>
                </a:solidFill>
                <a:latin typeface="Georgia" pitchFamily="34" charset="0"/>
                <a:ea typeface="Georgia" pitchFamily="34" charset="-122"/>
                <a:cs typeface="Georgia" pitchFamily="34" charset="-120"/>
              </a:rPr>
              <a:t>QUALIFICATION AND ACCREDITATION REQUIREMENTS </a:t>
            </a:r>
          </a:p>
        </p:txBody>
      </p:sp>
      <p:sp>
        <p:nvSpPr>
          <p:cNvPr id="29" name="Shape 27">
            <a:extLst>
              <a:ext uri="{FF2B5EF4-FFF2-40B4-BE49-F238E27FC236}">
                <a16:creationId xmlns:a16="http://schemas.microsoft.com/office/drawing/2014/main" id="{55B04A32-D2A9-B1EF-E7B0-1A446FB6598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77D44BCD-A918-E221-3A27-62DEFDE951CD}"/>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F3A6F70C-F6C0-EF86-8014-762DFA8C60DF}"/>
              </a:ext>
            </a:extLst>
          </p:cNvPr>
          <p:cNvSpPr/>
          <p:nvPr/>
        </p:nvSpPr>
        <p:spPr>
          <a:xfrm>
            <a:off x="557825" y="1486807"/>
            <a:ext cx="7452360" cy="548640"/>
          </a:xfrm>
          <a:prstGeom prst="rect">
            <a:avLst/>
          </a:prstGeom>
          <a:noFill/>
          <a:ln/>
        </p:spPr>
        <p:txBody>
          <a:bodyPr wrap="square" lIns="0" tIns="0" rIns="0" bIns="0" rtlCol="0" anchor="t"/>
          <a:lstStyle/>
          <a:p>
            <a:pPr algn="just">
              <a:lnSpc>
                <a:spcPct val="100000"/>
              </a:lnSpc>
            </a:pPr>
            <a:r>
              <a:rPr lang="en-US" sz="2000" dirty="0">
                <a:solidFill>
                  <a:schemeClr val="accent1">
                    <a:lumMod val="75000"/>
                  </a:schemeClr>
                </a:solidFill>
                <a:latin typeface="Calibri" pitchFamily="34" charset="0"/>
                <a:ea typeface="Calibri" pitchFamily="34" charset="-122"/>
                <a:cs typeface="Calibri" pitchFamily="34" charset="-120"/>
              </a:rPr>
              <a:t>The ESP shall: </a:t>
            </a:r>
          </a:p>
          <a:p>
            <a:pPr algn="just">
              <a:lnSpc>
                <a:spcPct val="100000"/>
              </a:lnSpc>
            </a:pPr>
            <a:endParaRPr lang="en-US" sz="2000" dirty="0">
              <a:solidFill>
                <a:schemeClr val="accent1">
                  <a:lumMod val="75000"/>
                </a:schemeClr>
              </a:solidFill>
              <a:latin typeface="Calibri" pitchFamily="34" charset="0"/>
              <a:ea typeface="Calibri" pitchFamily="34" charset="-122"/>
              <a:cs typeface="Calibri" pitchFamily="34" charset="-120"/>
            </a:endParaRPr>
          </a:p>
          <a:p>
            <a:pPr marL="457200" indent="-457200" algn="just">
              <a:lnSpc>
                <a:spcPct val="100000"/>
              </a:lnSpc>
              <a:buFont typeface="+mj-lt"/>
              <a:buAutoNum type="alphaLcPeriod" startAt="4"/>
            </a:pPr>
            <a:r>
              <a:rPr lang="en-US" sz="2000" dirty="0">
                <a:solidFill>
                  <a:schemeClr val="accent1">
                    <a:lumMod val="75000"/>
                  </a:schemeClr>
                </a:solidFill>
                <a:latin typeface="Calibri" pitchFamily="34" charset="0"/>
                <a:ea typeface="Calibri" pitchFamily="34" charset="-122"/>
                <a:cs typeface="Calibri" pitchFamily="34" charset="-120"/>
              </a:rPr>
              <a:t>Demonstrate compliance with mandatory technical, security, and data privacy requirements, business continuity, disaster recovery, interoperability, auditability, and data portability prescribed by the BIR; and</a:t>
            </a:r>
          </a:p>
          <a:p>
            <a:pPr marL="457200" indent="-457200" algn="just">
              <a:lnSpc>
                <a:spcPct val="100000"/>
              </a:lnSpc>
              <a:buFont typeface="+mj-lt"/>
              <a:buAutoNum type="alphaLcPeriod" startAt="4"/>
            </a:pPr>
            <a:endParaRPr lang="en-US" sz="2000" dirty="0">
              <a:solidFill>
                <a:schemeClr val="accent1">
                  <a:lumMod val="75000"/>
                </a:schemeClr>
              </a:solidFill>
              <a:latin typeface="Calibri" pitchFamily="34" charset="0"/>
              <a:ea typeface="Calibri" pitchFamily="34" charset="-122"/>
              <a:cs typeface="Calibri" pitchFamily="34" charset="-120"/>
            </a:endParaRPr>
          </a:p>
          <a:p>
            <a:pPr marL="457200" indent="-457200" algn="just">
              <a:lnSpc>
                <a:spcPct val="100000"/>
              </a:lnSpc>
              <a:buFont typeface="+mj-lt"/>
              <a:buAutoNum type="alphaLcPeriod" startAt="4"/>
            </a:pPr>
            <a:r>
              <a:rPr lang="en-US" sz="2000" dirty="0">
                <a:solidFill>
                  <a:schemeClr val="accent1">
                    <a:lumMod val="75000"/>
                  </a:schemeClr>
                </a:solidFill>
                <a:latin typeface="Calibri" pitchFamily="34" charset="0"/>
                <a:ea typeface="Calibri" pitchFamily="34" charset="-122"/>
                <a:cs typeface="Calibri" pitchFamily="34" charset="-120"/>
              </a:rPr>
              <a:t>Designate authorized technical and compliance focal persons.  </a:t>
            </a:r>
          </a:p>
        </p:txBody>
      </p:sp>
      <p:sp>
        <p:nvSpPr>
          <p:cNvPr id="6" name="Text 6">
            <a:extLst>
              <a:ext uri="{FF2B5EF4-FFF2-40B4-BE49-F238E27FC236}">
                <a16:creationId xmlns:a16="http://schemas.microsoft.com/office/drawing/2014/main" id="{4D727F6F-945B-845C-115B-00C67ED9014E}"/>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630412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DD6515-796E-350F-09EC-18333C919E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1B3A0D-90AD-798F-32A1-891747C527D5}"/>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7B5802B4-A7E7-3D65-33AE-8338EAE8E3B1}"/>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
        <p:nvSpPr>
          <p:cNvPr id="4" name="Text 2">
            <a:extLst>
              <a:ext uri="{FF2B5EF4-FFF2-40B4-BE49-F238E27FC236}">
                <a16:creationId xmlns:a16="http://schemas.microsoft.com/office/drawing/2014/main" id="{AABF078A-190E-9592-24FE-0A02029FB71E}"/>
              </a:ext>
            </a:extLst>
          </p:cNvPr>
          <p:cNvSpPr/>
          <p:nvPr/>
        </p:nvSpPr>
        <p:spPr>
          <a:xfrm>
            <a:off x="502920" y="658368"/>
            <a:ext cx="8764648" cy="731520"/>
          </a:xfrm>
          <a:prstGeom prst="rect">
            <a:avLst/>
          </a:prstGeom>
          <a:noFill/>
          <a:ln/>
        </p:spPr>
        <p:txBody>
          <a:bodyPr wrap="square" lIns="0" tIns="0" rIns="0" bIns="0" rtlCol="0" anchor="t">
            <a:normAutofit fontScale="92500" lnSpcReduction="20000"/>
          </a:bodyPr>
          <a:lstStyle/>
          <a:p>
            <a:pPr marL="0" indent="0" algn="l">
              <a:buNone/>
            </a:pPr>
            <a:r>
              <a:rPr lang="en-US" sz="3000" b="1" dirty="0">
                <a:solidFill>
                  <a:srgbClr val="2B2D42"/>
                </a:solidFill>
                <a:latin typeface="Georgia" pitchFamily="34" charset="0"/>
                <a:ea typeface="Georgia" pitchFamily="34" charset="-122"/>
                <a:cs typeface="Georgia" pitchFamily="34" charset="-120"/>
              </a:rPr>
              <a:t>QUALIFICATION AND ACCREDITATION REQUIREMENTS </a:t>
            </a:r>
          </a:p>
        </p:txBody>
      </p:sp>
      <p:sp>
        <p:nvSpPr>
          <p:cNvPr id="29" name="Shape 27">
            <a:extLst>
              <a:ext uri="{FF2B5EF4-FFF2-40B4-BE49-F238E27FC236}">
                <a16:creationId xmlns:a16="http://schemas.microsoft.com/office/drawing/2014/main" id="{15877226-D1DB-FEF2-7A95-8025BFDCB72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A848EF03-AB8E-E090-F5FD-4F0B2F081E47}"/>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1BE615B1-6934-F956-6395-77878D37D672}"/>
              </a:ext>
            </a:extLst>
          </p:cNvPr>
          <p:cNvSpPr/>
          <p:nvPr/>
        </p:nvSpPr>
        <p:spPr>
          <a:xfrm>
            <a:off x="557825" y="1769364"/>
            <a:ext cx="7452360" cy="548640"/>
          </a:xfrm>
          <a:prstGeom prst="rect">
            <a:avLst/>
          </a:prstGeom>
          <a:noFill/>
          <a:ln/>
        </p:spPr>
        <p:txBody>
          <a:bodyPr wrap="square" lIns="0" tIns="0" rIns="0" bIns="0" rtlCol="0" anchor="t"/>
          <a:lstStyle/>
          <a:p>
            <a:pPr marL="7938" indent="-7938" algn="just">
              <a:lnSpc>
                <a:spcPct val="100000"/>
              </a:lnSpc>
            </a:pPr>
            <a:r>
              <a:rPr lang="en-US" sz="2000" dirty="0">
                <a:solidFill>
                  <a:schemeClr val="accent1">
                    <a:lumMod val="75000"/>
                  </a:schemeClr>
                </a:solidFill>
                <a:latin typeface="Calibri" pitchFamily="34" charset="0"/>
                <a:ea typeface="Calibri" pitchFamily="34" charset="-122"/>
                <a:cs typeface="Calibri" pitchFamily="34" charset="-120"/>
              </a:rPr>
              <a:t>The ESP shall disclose beneficial owners, directors, officers, key technical personnel, subcontractors, cloud service providers, and relevant affiliates involved in the processing, storage, transmission, hosting, or support of taxpayer data. The ESP shall update the disclosure before engaging or changing any material subcontractor, hosting provider, cloud provider, affiliate, or foreign processor.</a:t>
            </a:r>
          </a:p>
        </p:txBody>
      </p:sp>
      <p:sp>
        <p:nvSpPr>
          <p:cNvPr id="6" name="Text 6">
            <a:extLst>
              <a:ext uri="{FF2B5EF4-FFF2-40B4-BE49-F238E27FC236}">
                <a16:creationId xmlns:a16="http://schemas.microsoft.com/office/drawing/2014/main" id="{A1E9ACDF-78A2-A5F9-92DD-4F1C1FE9785C}"/>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274901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CCBB14-1BE7-9392-9726-0F5D2C7B4D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FDF40A-11F6-642A-8A80-2E06348396DB}"/>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DD17B0CD-26FB-5C86-B70D-A7726011547A}"/>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
        <p:nvSpPr>
          <p:cNvPr id="4" name="Text 2">
            <a:extLst>
              <a:ext uri="{FF2B5EF4-FFF2-40B4-BE49-F238E27FC236}">
                <a16:creationId xmlns:a16="http://schemas.microsoft.com/office/drawing/2014/main" id="{8650E71F-253D-845E-B324-C7B59BF1C4B2}"/>
              </a:ext>
            </a:extLst>
          </p:cNvPr>
          <p:cNvSpPr/>
          <p:nvPr/>
        </p:nvSpPr>
        <p:spPr>
          <a:xfrm>
            <a:off x="502920" y="658368"/>
            <a:ext cx="8764648" cy="731520"/>
          </a:xfrm>
          <a:prstGeom prst="rect">
            <a:avLst/>
          </a:prstGeom>
          <a:noFill/>
          <a:ln/>
        </p:spPr>
        <p:txBody>
          <a:bodyPr wrap="square" lIns="0" tIns="0" rIns="0" bIns="0" rtlCol="0" anchor="t">
            <a:normAutofit fontScale="92500" lnSpcReduction="20000"/>
          </a:bodyPr>
          <a:lstStyle/>
          <a:p>
            <a:pPr marL="0" indent="0" algn="l">
              <a:buNone/>
            </a:pPr>
            <a:r>
              <a:rPr lang="en-US" sz="3000" b="1" dirty="0">
                <a:solidFill>
                  <a:srgbClr val="2B2D42"/>
                </a:solidFill>
                <a:latin typeface="Georgia" pitchFamily="34" charset="0"/>
                <a:ea typeface="Georgia" pitchFamily="34" charset="-122"/>
                <a:cs typeface="Georgia" pitchFamily="34" charset="-120"/>
              </a:rPr>
              <a:t>QUALIFICATION AND ACCREDITATION REQUIREMENTS </a:t>
            </a:r>
          </a:p>
        </p:txBody>
      </p:sp>
      <p:sp>
        <p:nvSpPr>
          <p:cNvPr id="29" name="Shape 27">
            <a:extLst>
              <a:ext uri="{FF2B5EF4-FFF2-40B4-BE49-F238E27FC236}">
                <a16:creationId xmlns:a16="http://schemas.microsoft.com/office/drawing/2014/main" id="{D5085D0F-52AB-CC84-3381-7C78E75097D7}"/>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a:extLst>
              <a:ext uri="{FF2B5EF4-FFF2-40B4-BE49-F238E27FC236}">
                <a16:creationId xmlns:a16="http://schemas.microsoft.com/office/drawing/2014/main" id="{5796AD3A-C6FC-4DF3-1C97-41D74B868372}"/>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 name="Text 6">
            <a:extLst>
              <a:ext uri="{FF2B5EF4-FFF2-40B4-BE49-F238E27FC236}">
                <a16:creationId xmlns:a16="http://schemas.microsoft.com/office/drawing/2014/main" id="{F6BD59AC-8AEB-1BF0-E9CB-1683A69DAD70}"/>
              </a:ext>
            </a:extLst>
          </p:cNvPr>
          <p:cNvSpPr/>
          <p:nvPr/>
        </p:nvSpPr>
        <p:spPr>
          <a:xfrm>
            <a:off x="557825" y="1769364"/>
            <a:ext cx="7452360" cy="548640"/>
          </a:xfrm>
          <a:prstGeom prst="rect">
            <a:avLst/>
          </a:prstGeom>
          <a:noFill/>
          <a:ln/>
        </p:spPr>
        <p:txBody>
          <a:bodyPr wrap="square" lIns="0" tIns="0" rIns="0" bIns="0" rtlCol="0" anchor="t"/>
          <a:lstStyle/>
          <a:p>
            <a:pPr marL="7938" indent="-7938" algn="just">
              <a:lnSpc>
                <a:spcPct val="100000"/>
              </a:lnSpc>
            </a:pPr>
            <a:r>
              <a:rPr lang="en-US" sz="2000" dirty="0">
                <a:solidFill>
                  <a:schemeClr val="accent1">
                    <a:lumMod val="75000"/>
                  </a:schemeClr>
                </a:solidFill>
                <a:latin typeface="Calibri" pitchFamily="34" charset="0"/>
                <a:ea typeface="Calibri" pitchFamily="34" charset="-122"/>
                <a:cs typeface="Calibri" pitchFamily="34" charset="-120"/>
              </a:rPr>
              <a:t>The BIR shall conduct fit-and-proper review of the ESP, including tax compliance status, financial capacity, prior regulatory violations, cybersecurity incidents, breach history, operational sustainability, beneficial ownership, integrity, financial condition, tax compliance, litigation and enforcement history, and capacity to sustain operations.</a:t>
            </a:r>
          </a:p>
        </p:txBody>
      </p:sp>
      <p:sp>
        <p:nvSpPr>
          <p:cNvPr id="6" name="Text 6">
            <a:extLst>
              <a:ext uri="{FF2B5EF4-FFF2-40B4-BE49-F238E27FC236}">
                <a16:creationId xmlns:a16="http://schemas.microsoft.com/office/drawing/2014/main" id="{9C2A724D-4917-1664-8D13-F08FB2DAC662}"/>
              </a:ext>
            </a:extLst>
          </p:cNvPr>
          <p:cNvSpPr/>
          <p:nvPr/>
        </p:nvSpPr>
        <p:spPr>
          <a:xfrm>
            <a:off x="557825" y="2397952"/>
            <a:ext cx="7452360" cy="548640"/>
          </a:xfrm>
          <a:prstGeom prst="rect">
            <a:avLst/>
          </a:prstGeom>
          <a:noFill/>
          <a:ln/>
        </p:spPr>
        <p:txBody>
          <a:bodyPr wrap="square" lIns="0" tIns="0" rIns="0" bIns="0" rtlCol="0" anchor="t"/>
          <a:lstStyle/>
          <a:p>
            <a:pPr marL="342900" indent="-342900" algn="just">
              <a:lnSpc>
                <a:spcPct val="100000"/>
              </a:lnSpc>
              <a:buFont typeface="Wingdings" pitchFamily="2" charset="2"/>
              <a:buChar char="§"/>
            </a:pPr>
            <a:endParaRPr lang="en-US" sz="2000" dirty="0">
              <a:solidFill>
                <a:schemeClr val="accent1">
                  <a:lumMod val="75000"/>
                </a:schemeClr>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161620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Accreditation Stages</a:t>
            </a:r>
            <a:endParaRPr lang="en-US" sz="3000" dirty="0"/>
          </a:p>
        </p:txBody>
      </p:sp>
      <p:sp>
        <p:nvSpPr>
          <p:cNvPr id="24" name="Shape 22"/>
          <p:cNvSpPr/>
          <p:nvPr/>
        </p:nvSpPr>
        <p:spPr>
          <a:xfrm>
            <a:off x="548640" y="3981503"/>
            <a:ext cx="457200" cy="457200"/>
          </a:xfrm>
          <a:prstGeom prst="ellipse">
            <a:avLst/>
          </a:prstGeom>
          <a:solidFill>
            <a:srgbClr val="2B2D42"/>
          </a:solidFill>
          <a:ln/>
        </p:spPr>
        <p:txBody>
          <a:bodyPr/>
          <a:lstStyle/>
          <a:p>
            <a:endParaRPr lang="en-US"/>
          </a:p>
        </p:txBody>
      </p:sp>
      <p:grpSp>
        <p:nvGrpSpPr>
          <p:cNvPr id="33" name="Group 32"/>
          <p:cNvGrpSpPr/>
          <p:nvPr/>
        </p:nvGrpSpPr>
        <p:grpSpPr>
          <a:xfrm>
            <a:off x="548640" y="1284417"/>
            <a:ext cx="8046720" cy="3118104"/>
            <a:chOff x="548640" y="1536192"/>
            <a:chExt cx="8046720" cy="3118104"/>
          </a:xfrm>
        </p:grpSpPr>
        <p:sp>
          <p:nvSpPr>
            <p:cNvPr id="6" name="Shape 4"/>
            <p:cNvSpPr/>
            <p:nvPr/>
          </p:nvSpPr>
          <p:spPr>
            <a:xfrm>
              <a:off x="548640" y="1536192"/>
              <a:ext cx="457200" cy="457200"/>
            </a:xfrm>
            <a:prstGeom prst="ellipse">
              <a:avLst/>
            </a:prstGeom>
            <a:solidFill>
              <a:srgbClr val="2B2D42"/>
            </a:solidFill>
            <a:ln/>
          </p:spPr>
          <p:txBody>
            <a:bodyPr/>
            <a:lstStyle/>
            <a:p>
              <a:endParaRPr lang="en-US"/>
            </a:p>
          </p:txBody>
        </p:sp>
        <p:sp>
          <p:nvSpPr>
            <p:cNvPr id="7" name="Text 5"/>
            <p:cNvSpPr/>
            <p:nvPr/>
          </p:nvSpPr>
          <p:spPr>
            <a:xfrm>
              <a:off x="548640" y="1536192"/>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a</a:t>
              </a:r>
              <a:endParaRPr lang="en-US" sz="1500" dirty="0"/>
            </a:p>
          </p:txBody>
        </p:sp>
        <p:sp>
          <p:nvSpPr>
            <p:cNvPr id="8" name="Text 6"/>
            <p:cNvSpPr/>
            <p:nvPr/>
          </p:nvSpPr>
          <p:spPr>
            <a:xfrm>
              <a:off x="1188720" y="1554480"/>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Documentary completeness review</a:t>
              </a:r>
              <a:endParaRPr lang="en-US" sz="1300" dirty="0"/>
            </a:p>
          </p:txBody>
        </p:sp>
        <p:sp>
          <p:nvSpPr>
            <p:cNvPr id="9" name="Shape 7"/>
            <p:cNvSpPr/>
            <p:nvPr/>
          </p:nvSpPr>
          <p:spPr>
            <a:xfrm>
              <a:off x="548640" y="1984248"/>
              <a:ext cx="457200" cy="457200"/>
            </a:xfrm>
            <a:prstGeom prst="ellipse">
              <a:avLst/>
            </a:prstGeom>
            <a:solidFill>
              <a:srgbClr val="2B2D42"/>
            </a:solidFill>
            <a:ln/>
          </p:spPr>
          <p:txBody>
            <a:bodyPr/>
            <a:lstStyle/>
            <a:p>
              <a:endParaRPr lang="en-US"/>
            </a:p>
          </p:txBody>
        </p:sp>
        <p:sp>
          <p:nvSpPr>
            <p:cNvPr id="10" name="Text 8"/>
            <p:cNvSpPr/>
            <p:nvPr/>
          </p:nvSpPr>
          <p:spPr>
            <a:xfrm>
              <a:off x="548640" y="1984248"/>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b</a:t>
              </a:r>
              <a:endParaRPr lang="en-US" sz="1500" dirty="0"/>
            </a:p>
          </p:txBody>
        </p:sp>
        <p:sp>
          <p:nvSpPr>
            <p:cNvPr id="11" name="Text 9"/>
            <p:cNvSpPr/>
            <p:nvPr/>
          </p:nvSpPr>
          <p:spPr>
            <a:xfrm>
              <a:off x="1188720" y="2002536"/>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Fit-and-proper &amp; financial capacity review</a:t>
              </a:r>
              <a:endParaRPr lang="en-US" sz="1300" dirty="0"/>
            </a:p>
          </p:txBody>
        </p:sp>
        <p:sp>
          <p:nvSpPr>
            <p:cNvPr id="12" name="Shape 10"/>
            <p:cNvSpPr/>
            <p:nvPr/>
          </p:nvSpPr>
          <p:spPr>
            <a:xfrm>
              <a:off x="548640" y="2432304"/>
              <a:ext cx="457200" cy="457200"/>
            </a:xfrm>
            <a:prstGeom prst="ellipse">
              <a:avLst/>
            </a:prstGeom>
            <a:solidFill>
              <a:srgbClr val="2B2D42"/>
            </a:solidFill>
            <a:ln/>
          </p:spPr>
          <p:txBody>
            <a:bodyPr/>
            <a:lstStyle/>
            <a:p>
              <a:endParaRPr lang="en-US"/>
            </a:p>
          </p:txBody>
        </p:sp>
        <p:sp>
          <p:nvSpPr>
            <p:cNvPr id="13" name="Text 11"/>
            <p:cNvSpPr/>
            <p:nvPr/>
          </p:nvSpPr>
          <p:spPr>
            <a:xfrm>
              <a:off x="548640" y="2432304"/>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c</a:t>
              </a:r>
              <a:endParaRPr lang="en-US" sz="1500" dirty="0"/>
            </a:p>
          </p:txBody>
        </p:sp>
        <p:sp>
          <p:nvSpPr>
            <p:cNvPr id="14" name="Text 12"/>
            <p:cNvSpPr/>
            <p:nvPr/>
          </p:nvSpPr>
          <p:spPr>
            <a:xfrm>
              <a:off x="1188720" y="2450592"/>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Technical architecture &amp; end-to-end data-flow review</a:t>
              </a:r>
              <a:endParaRPr lang="en-US" sz="1300" dirty="0"/>
            </a:p>
          </p:txBody>
        </p:sp>
        <p:sp>
          <p:nvSpPr>
            <p:cNvPr id="15" name="Shape 13"/>
            <p:cNvSpPr/>
            <p:nvPr/>
          </p:nvSpPr>
          <p:spPr>
            <a:xfrm>
              <a:off x="548640" y="2880360"/>
              <a:ext cx="457200" cy="457200"/>
            </a:xfrm>
            <a:prstGeom prst="ellipse">
              <a:avLst/>
            </a:prstGeom>
            <a:solidFill>
              <a:srgbClr val="2B2D42"/>
            </a:solidFill>
            <a:ln/>
          </p:spPr>
          <p:txBody>
            <a:bodyPr/>
            <a:lstStyle/>
            <a:p>
              <a:endParaRPr lang="en-US"/>
            </a:p>
          </p:txBody>
        </p:sp>
        <p:sp>
          <p:nvSpPr>
            <p:cNvPr id="16" name="Text 14"/>
            <p:cNvSpPr/>
            <p:nvPr/>
          </p:nvSpPr>
          <p:spPr>
            <a:xfrm>
              <a:off x="548640" y="2880360"/>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d</a:t>
              </a:r>
              <a:endParaRPr lang="en-US" sz="1500" dirty="0"/>
            </a:p>
          </p:txBody>
        </p:sp>
        <p:sp>
          <p:nvSpPr>
            <p:cNvPr id="17" name="Text 15"/>
            <p:cNvSpPr/>
            <p:nvPr/>
          </p:nvSpPr>
          <p:spPr>
            <a:xfrm>
              <a:off x="1188720" y="2898648"/>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Data-privacy, EO 119, and cybersecurity assessment</a:t>
              </a:r>
              <a:endParaRPr lang="en-US" sz="1300" dirty="0"/>
            </a:p>
          </p:txBody>
        </p:sp>
        <p:sp>
          <p:nvSpPr>
            <p:cNvPr id="18" name="Shape 16"/>
            <p:cNvSpPr/>
            <p:nvPr/>
          </p:nvSpPr>
          <p:spPr>
            <a:xfrm>
              <a:off x="548640" y="3328416"/>
              <a:ext cx="457200" cy="457200"/>
            </a:xfrm>
            <a:prstGeom prst="ellipse">
              <a:avLst/>
            </a:prstGeom>
            <a:solidFill>
              <a:srgbClr val="2B2D42"/>
            </a:solidFill>
            <a:ln/>
          </p:spPr>
          <p:txBody>
            <a:bodyPr/>
            <a:lstStyle/>
            <a:p>
              <a:endParaRPr lang="en-US"/>
            </a:p>
          </p:txBody>
        </p:sp>
        <p:sp>
          <p:nvSpPr>
            <p:cNvPr id="19" name="Text 17"/>
            <p:cNvSpPr/>
            <p:nvPr/>
          </p:nvSpPr>
          <p:spPr>
            <a:xfrm>
              <a:off x="548640" y="3328416"/>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e</a:t>
              </a:r>
              <a:endParaRPr lang="en-US" sz="1500" dirty="0"/>
            </a:p>
          </p:txBody>
        </p:sp>
        <p:sp>
          <p:nvSpPr>
            <p:cNvPr id="20" name="Text 18"/>
            <p:cNvSpPr/>
            <p:nvPr/>
          </p:nvSpPr>
          <p:spPr>
            <a:xfrm>
              <a:off x="1188720" y="3346704"/>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System / solution demonstration</a:t>
              </a:r>
              <a:endParaRPr lang="en-US" sz="1300" dirty="0"/>
            </a:p>
          </p:txBody>
        </p:sp>
        <p:sp>
          <p:nvSpPr>
            <p:cNvPr id="21" name="Shape 19"/>
            <p:cNvSpPr/>
            <p:nvPr/>
          </p:nvSpPr>
          <p:spPr>
            <a:xfrm>
              <a:off x="548640" y="3776472"/>
              <a:ext cx="457200" cy="457200"/>
            </a:xfrm>
            <a:prstGeom prst="ellipse">
              <a:avLst/>
            </a:prstGeom>
            <a:solidFill>
              <a:srgbClr val="2B2D42"/>
            </a:solidFill>
            <a:ln/>
          </p:spPr>
          <p:txBody>
            <a:bodyPr/>
            <a:lstStyle/>
            <a:p>
              <a:endParaRPr lang="en-US"/>
            </a:p>
          </p:txBody>
        </p:sp>
        <p:sp>
          <p:nvSpPr>
            <p:cNvPr id="22" name="Text 20"/>
            <p:cNvSpPr/>
            <p:nvPr/>
          </p:nvSpPr>
          <p:spPr>
            <a:xfrm>
              <a:off x="548640" y="3776472"/>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f</a:t>
              </a:r>
              <a:endParaRPr lang="en-US" sz="1500" dirty="0"/>
            </a:p>
          </p:txBody>
        </p:sp>
        <p:sp>
          <p:nvSpPr>
            <p:cNvPr id="23" name="Text 21"/>
            <p:cNvSpPr/>
            <p:nvPr/>
          </p:nvSpPr>
          <p:spPr>
            <a:xfrm>
              <a:off x="1188720" y="3794760"/>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Interoperability &amp; end-to-end transmission testing</a:t>
              </a:r>
              <a:endParaRPr lang="en-US" sz="1300" dirty="0"/>
            </a:p>
          </p:txBody>
        </p:sp>
        <p:sp>
          <p:nvSpPr>
            <p:cNvPr id="25" name="Text 23"/>
            <p:cNvSpPr/>
            <p:nvPr/>
          </p:nvSpPr>
          <p:spPr>
            <a:xfrm>
              <a:off x="548640" y="4197096"/>
              <a:ext cx="457200" cy="45720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g</a:t>
              </a:r>
              <a:endParaRPr lang="en-US" sz="1500" dirty="0"/>
            </a:p>
          </p:txBody>
        </p:sp>
        <p:sp>
          <p:nvSpPr>
            <p:cNvPr id="26" name="Text 24"/>
            <p:cNvSpPr/>
            <p:nvPr/>
          </p:nvSpPr>
          <p:spPr>
            <a:xfrm>
              <a:off x="1188720" y="4242816"/>
              <a:ext cx="7406640" cy="411480"/>
            </a:xfrm>
            <a:prstGeom prst="rect">
              <a:avLst/>
            </a:prstGeom>
            <a:noFill/>
            <a:ln/>
          </p:spPr>
          <p:txBody>
            <a:bodyPr wrap="square" lIns="0" tIns="0" rIns="0" bIns="0" rtlCol="0" anchor="ctr"/>
            <a:lstStyle/>
            <a:p>
              <a:pPr marL="0" indent="0" algn="l">
                <a:buNone/>
              </a:pPr>
              <a:r>
                <a:rPr lang="en-US" sz="1300" dirty="0">
                  <a:solidFill>
                    <a:srgbClr val="2B2D42"/>
                  </a:solidFill>
                  <a:latin typeface="Calibri" pitchFamily="34" charset="0"/>
                  <a:ea typeface="Calibri" pitchFamily="34" charset="-122"/>
                  <a:cs typeface="Calibri" pitchFamily="34" charset="-120"/>
                </a:rPr>
                <a:t>Load, stress, scalability, failover, backup &amp; recovery testing</a:t>
              </a:r>
              <a:endParaRPr lang="en-US" sz="1300" dirty="0"/>
            </a:p>
          </p:txBody>
        </p:sp>
      </p:grpSp>
      <p:grpSp>
        <p:nvGrpSpPr>
          <p:cNvPr id="32" name="Group 31"/>
          <p:cNvGrpSpPr/>
          <p:nvPr/>
        </p:nvGrpSpPr>
        <p:grpSpPr>
          <a:xfrm>
            <a:off x="548640" y="4635377"/>
            <a:ext cx="7763887" cy="457200"/>
            <a:chOff x="571500" y="4572000"/>
            <a:chExt cx="8092440" cy="457200"/>
          </a:xfrm>
        </p:grpSpPr>
        <p:sp>
          <p:nvSpPr>
            <p:cNvPr id="27" name="Shape 25"/>
            <p:cNvSpPr/>
            <p:nvPr/>
          </p:nvSpPr>
          <p:spPr>
            <a:xfrm>
              <a:off x="571500" y="4667854"/>
              <a:ext cx="8092440" cy="310896"/>
            </a:xfrm>
            <a:prstGeom prst="roundRect">
              <a:avLst>
                <a:gd name="adj" fmla="val 16000"/>
              </a:avLst>
            </a:prstGeom>
            <a:solidFill>
              <a:srgbClr val="D90429"/>
            </a:solidFill>
            <a:ln/>
          </p:spPr>
          <p:txBody>
            <a:bodyPr/>
            <a:lstStyle/>
            <a:p>
              <a:endParaRPr lang="en-US"/>
            </a:p>
          </p:txBody>
        </p:sp>
        <p:sp>
          <p:nvSpPr>
            <p:cNvPr id="28" name="Text 26"/>
            <p:cNvSpPr/>
            <p:nvPr/>
          </p:nvSpPr>
          <p:spPr>
            <a:xfrm>
              <a:off x="731520" y="4572000"/>
              <a:ext cx="7772400" cy="45720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Documentary compliance alone is NOT sufficient. Failure of any stage halts progression until corrected and successfully retested.</a:t>
              </a:r>
              <a:endParaRPr lang="en-US" sz="1100" dirty="0"/>
            </a:p>
          </p:txBody>
        </p:sp>
      </p:grpSp>
      <p:sp>
        <p:nvSpPr>
          <p:cNvPr id="29" name="Shape 27"/>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0" name="Text 28"/>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1" name="Text 1">
            <a:extLst>
              <a:ext uri="{FF2B5EF4-FFF2-40B4-BE49-F238E27FC236}">
                <a16:creationId xmlns:a16="http://schemas.microsoft.com/office/drawing/2014/main" id="{F44863FD-FF16-4A9E-F638-0883F2FFC398}"/>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GENERAL POLICIES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MINIMUM THRESHOLDS</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Track Record &amp; Operational Capability</a:t>
            </a:r>
            <a:endParaRPr lang="en-US" sz="3000" dirty="0"/>
          </a:p>
        </p:txBody>
      </p:sp>
      <p:sp>
        <p:nvSpPr>
          <p:cNvPr id="18" name="Shape 16"/>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19" name="Text 17"/>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21" name="Text 6">
            <a:extLst>
              <a:ext uri="{FF2B5EF4-FFF2-40B4-BE49-F238E27FC236}">
                <a16:creationId xmlns:a16="http://schemas.microsoft.com/office/drawing/2014/main" id="{377B2241-8590-F475-3F79-267A62119274}"/>
              </a:ext>
            </a:extLst>
          </p:cNvPr>
          <p:cNvSpPr/>
          <p:nvPr/>
        </p:nvSpPr>
        <p:spPr>
          <a:xfrm>
            <a:off x="557825" y="1769364"/>
            <a:ext cx="7452360" cy="548640"/>
          </a:xfrm>
          <a:prstGeom prst="rect">
            <a:avLst/>
          </a:prstGeom>
          <a:noFill/>
          <a:ln/>
        </p:spPr>
        <p:txBody>
          <a:bodyPr wrap="square" lIns="0" tIns="0" rIns="0" bIns="0" rtlCol="0" anchor="t"/>
          <a:lstStyle/>
          <a:p>
            <a:pPr marL="342900" indent="-342900" algn="just">
              <a:lnSpc>
                <a:spcPct val="100000"/>
              </a:lnSpc>
              <a:buFont typeface="Wingdings" panose="05000000000000000000" pitchFamily="2" charset="2"/>
              <a:buChar char="§"/>
            </a:pPr>
            <a:r>
              <a:rPr lang="en-GB" sz="2000" dirty="0">
                <a:solidFill>
                  <a:schemeClr val="accent1">
                    <a:lumMod val="75000"/>
                  </a:schemeClr>
                </a:solidFill>
                <a:latin typeface="Calibri" pitchFamily="34" charset="0"/>
                <a:ea typeface="Calibri" pitchFamily="34" charset="-122"/>
                <a:cs typeface="Calibri" pitchFamily="34" charset="-120"/>
              </a:rPr>
              <a:t>The ESP shall demonstrate independently verifiable experience, financial capacity, qualified personnel, infrastructure, scalability, reliability, and operational maturity appropriate to its proposed service model and projected taxpayer and transaction volumes.</a:t>
            </a:r>
          </a:p>
        </p:txBody>
      </p:sp>
      <p:sp>
        <p:nvSpPr>
          <p:cNvPr id="22" name="Text 6">
            <a:extLst>
              <a:ext uri="{FF2B5EF4-FFF2-40B4-BE49-F238E27FC236}">
                <a16:creationId xmlns:a16="http://schemas.microsoft.com/office/drawing/2014/main" id="{5F91D256-95C1-D069-6BE4-4CA3EE688D54}"/>
              </a:ext>
            </a:extLst>
          </p:cNvPr>
          <p:cNvSpPr/>
          <p:nvPr/>
        </p:nvSpPr>
        <p:spPr>
          <a:xfrm>
            <a:off x="557825" y="3209884"/>
            <a:ext cx="7452360" cy="548640"/>
          </a:xfrm>
          <a:prstGeom prst="rect">
            <a:avLst/>
          </a:prstGeom>
          <a:noFill/>
          <a:ln/>
        </p:spPr>
        <p:txBody>
          <a:bodyPr wrap="square" lIns="0" tIns="0" rIns="0" bIns="0" rtlCol="0" anchor="t"/>
          <a:lstStyle/>
          <a:p>
            <a:pPr marL="342900" indent="-342900" algn="just">
              <a:lnSpc>
                <a:spcPct val="100000"/>
              </a:lnSpc>
              <a:buFont typeface="Wingdings" panose="05000000000000000000" pitchFamily="2" charset="2"/>
              <a:buChar char="§"/>
            </a:pPr>
            <a:r>
              <a:rPr lang="en-GB" sz="2000" dirty="0">
                <a:solidFill>
                  <a:schemeClr val="accent1">
                    <a:lumMod val="75000"/>
                  </a:schemeClr>
                </a:solidFill>
                <a:latin typeface="Calibri" pitchFamily="34" charset="0"/>
                <a:ea typeface="Calibri" pitchFamily="34" charset="-122"/>
                <a:cs typeface="Calibri" pitchFamily="34" charset="-120"/>
              </a:rPr>
              <a:t>The e-invoicing solutions shall pass BIR-supervised stress, load, concurrency, scalability, failover, recovery, and peak-volume tests based on projected and contingency transaction volumes.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E0E752-459C-9101-7602-E9D8D812F3C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9CD7602-2608-4CE3-A50E-24F06D006424}"/>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ECC128CF-3F15-5396-F50C-59F46DA31C9B}"/>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MINIMUM THRESHOLDS</a:t>
            </a:r>
            <a:endParaRPr lang="en-US" sz="1200" dirty="0"/>
          </a:p>
        </p:txBody>
      </p:sp>
      <p:sp>
        <p:nvSpPr>
          <p:cNvPr id="4" name="Text 2">
            <a:extLst>
              <a:ext uri="{FF2B5EF4-FFF2-40B4-BE49-F238E27FC236}">
                <a16:creationId xmlns:a16="http://schemas.microsoft.com/office/drawing/2014/main" id="{29D2C780-F150-AC65-3638-A4E433D14A45}"/>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Track Record &amp; Operational Capability</a:t>
            </a:r>
            <a:endParaRPr lang="en-US" sz="3000" dirty="0"/>
          </a:p>
        </p:txBody>
      </p:sp>
      <p:sp>
        <p:nvSpPr>
          <p:cNvPr id="18" name="Shape 16">
            <a:extLst>
              <a:ext uri="{FF2B5EF4-FFF2-40B4-BE49-F238E27FC236}">
                <a16:creationId xmlns:a16="http://schemas.microsoft.com/office/drawing/2014/main" id="{C5038B35-95BF-6D61-30EC-97C58936FFDF}"/>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19" name="Text 17">
            <a:extLst>
              <a:ext uri="{FF2B5EF4-FFF2-40B4-BE49-F238E27FC236}">
                <a16:creationId xmlns:a16="http://schemas.microsoft.com/office/drawing/2014/main" id="{C2BBF7F5-088C-F11E-7E09-51D6AB8300FF}"/>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21" name="Text 6">
            <a:extLst>
              <a:ext uri="{FF2B5EF4-FFF2-40B4-BE49-F238E27FC236}">
                <a16:creationId xmlns:a16="http://schemas.microsoft.com/office/drawing/2014/main" id="{8F1D016F-9B8F-FC5A-7BBB-EAE3A00E6E86}"/>
              </a:ext>
            </a:extLst>
          </p:cNvPr>
          <p:cNvSpPr/>
          <p:nvPr/>
        </p:nvSpPr>
        <p:spPr>
          <a:xfrm>
            <a:off x="557825" y="1769364"/>
            <a:ext cx="7452360" cy="548640"/>
          </a:xfrm>
          <a:prstGeom prst="rect">
            <a:avLst/>
          </a:prstGeom>
          <a:noFill/>
          <a:ln/>
        </p:spPr>
        <p:txBody>
          <a:bodyPr wrap="square" lIns="0" tIns="0" rIns="0" bIns="0" rtlCol="0" anchor="t"/>
          <a:lstStyle/>
          <a:p>
            <a:pPr marL="342900" indent="-342900" algn="just">
              <a:lnSpc>
                <a:spcPct val="100000"/>
              </a:lnSpc>
              <a:buFont typeface="Wingdings" panose="05000000000000000000" pitchFamily="2" charset="2"/>
              <a:buChar char="§"/>
            </a:pPr>
            <a:r>
              <a:rPr lang="en-GB" sz="2000" dirty="0">
                <a:solidFill>
                  <a:schemeClr val="accent1">
                    <a:lumMod val="75000"/>
                  </a:schemeClr>
                </a:solidFill>
                <a:latin typeface="Calibri" pitchFamily="34" charset="0"/>
                <a:ea typeface="Calibri" pitchFamily="34" charset="-122"/>
                <a:cs typeface="Calibri" pitchFamily="34" charset="-120"/>
              </a:rPr>
              <a:t>The ESP shall maintain a secure, resilient, and scalable cloud infrastructure that supports high-volume operations, business continuity, regulatory compliance, and reliable integration with BIR systems. It shall provide documented architecture, monitoring and reporting capabilities, operational visibility, and full disclosure of hosting, support, disaster recovery, and administrative access arrangements.</a:t>
            </a:r>
          </a:p>
        </p:txBody>
      </p:sp>
    </p:spTree>
    <p:extLst>
      <p:ext uri="{BB962C8B-B14F-4D97-AF65-F5344CB8AC3E}">
        <p14:creationId xmlns:p14="http://schemas.microsoft.com/office/powerpoint/2010/main" val="2373215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88E886-6653-D380-B68B-1B45F711F1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EC8A95-81AF-8B77-D97D-B4F8B6EE0A50}"/>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DC619A22-0FCD-7643-71F7-C4D4FF9CF546}"/>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MINIMUM THRESHOLDS</a:t>
            </a:r>
            <a:endParaRPr lang="en-US" sz="1200" dirty="0"/>
          </a:p>
        </p:txBody>
      </p:sp>
      <p:sp>
        <p:nvSpPr>
          <p:cNvPr id="4" name="Text 2">
            <a:extLst>
              <a:ext uri="{FF2B5EF4-FFF2-40B4-BE49-F238E27FC236}">
                <a16:creationId xmlns:a16="http://schemas.microsoft.com/office/drawing/2014/main" id="{1515BC21-0792-2555-CAB8-4AF6F65881F2}"/>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Track Record &amp; Operational Capability</a:t>
            </a:r>
            <a:endParaRPr lang="en-US" sz="3000" dirty="0"/>
          </a:p>
        </p:txBody>
      </p:sp>
      <p:sp>
        <p:nvSpPr>
          <p:cNvPr id="5" name="Shape 3">
            <a:extLst>
              <a:ext uri="{FF2B5EF4-FFF2-40B4-BE49-F238E27FC236}">
                <a16:creationId xmlns:a16="http://schemas.microsoft.com/office/drawing/2014/main" id="{48491039-AA39-752F-C56E-A300257D4D23}"/>
              </a:ext>
            </a:extLst>
          </p:cNvPr>
          <p:cNvSpPr/>
          <p:nvPr/>
        </p:nvSpPr>
        <p:spPr>
          <a:xfrm>
            <a:off x="502920" y="1737360"/>
            <a:ext cx="2697480" cy="2194560"/>
          </a:xfrm>
          <a:prstGeom prst="roundRect">
            <a:avLst>
              <a:gd name="adj" fmla="val 4167"/>
            </a:avLst>
          </a:prstGeom>
          <a:solidFill>
            <a:srgbClr val="2B2D42"/>
          </a:solidFill>
          <a:ln/>
        </p:spPr>
        <p:txBody>
          <a:bodyPr/>
          <a:lstStyle/>
          <a:p>
            <a:endParaRPr lang="en-US"/>
          </a:p>
        </p:txBody>
      </p:sp>
      <p:sp>
        <p:nvSpPr>
          <p:cNvPr id="6" name="Text 4">
            <a:extLst>
              <a:ext uri="{FF2B5EF4-FFF2-40B4-BE49-F238E27FC236}">
                <a16:creationId xmlns:a16="http://schemas.microsoft.com/office/drawing/2014/main" id="{287BA55B-DBA2-3E32-BBC1-19E18EF707FE}"/>
              </a:ext>
            </a:extLst>
          </p:cNvPr>
          <p:cNvSpPr/>
          <p:nvPr/>
        </p:nvSpPr>
        <p:spPr>
          <a:xfrm>
            <a:off x="502920" y="1965960"/>
            <a:ext cx="2697480" cy="914400"/>
          </a:xfrm>
          <a:prstGeom prst="rect">
            <a:avLst/>
          </a:prstGeom>
          <a:noFill/>
          <a:ln/>
        </p:spPr>
        <p:txBody>
          <a:bodyPr wrap="square" rtlCol="0" anchor="ctr"/>
          <a:lstStyle/>
          <a:p>
            <a:pPr marL="0" indent="0" algn="ctr">
              <a:buNone/>
            </a:pPr>
            <a:r>
              <a:rPr lang="en-US" sz="6000" b="1" dirty="0">
                <a:solidFill>
                  <a:srgbClr val="D90429"/>
                </a:solidFill>
                <a:latin typeface="Georgia" pitchFamily="34" charset="0"/>
                <a:ea typeface="Georgia" pitchFamily="34" charset="-122"/>
                <a:cs typeface="Georgia" pitchFamily="34" charset="-120"/>
              </a:rPr>
              <a:t>5M</a:t>
            </a:r>
            <a:endParaRPr lang="en-US" sz="6000" dirty="0"/>
          </a:p>
        </p:txBody>
      </p:sp>
      <p:sp>
        <p:nvSpPr>
          <p:cNvPr id="7" name="Text 5">
            <a:extLst>
              <a:ext uri="{FF2B5EF4-FFF2-40B4-BE49-F238E27FC236}">
                <a16:creationId xmlns:a16="http://schemas.microsoft.com/office/drawing/2014/main" id="{24E38667-9AC5-A642-83D6-A0092D314A2E}"/>
              </a:ext>
            </a:extLst>
          </p:cNvPr>
          <p:cNvSpPr/>
          <p:nvPr/>
        </p:nvSpPr>
        <p:spPr>
          <a:xfrm>
            <a:off x="502920" y="2880360"/>
            <a:ext cx="2697480" cy="32004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TRANSACTIONS</a:t>
            </a:r>
            <a:endParaRPr lang="en-US" sz="1300" dirty="0"/>
          </a:p>
        </p:txBody>
      </p:sp>
      <p:sp>
        <p:nvSpPr>
          <p:cNvPr id="8" name="Text 6">
            <a:extLst>
              <a:ext uri="{FF2B5EF4-FFF2-40B4-BE49-F238E27FC236}">
                <a16:creationId xmlns:a16="http://schemas.microsoft.com/office/drawing/2014/main" id="{47226DD2-5DFA-BF76-D0FA-5FBA8EAFB1B1}"/>
              </a:ext>
            </a:extLst>
          </p:cNvPr>
          <p:cNvSpPr/>
          <p:nvPr/>
        </p:nvSpPr>
        <p:spPr>
          <a:xfrm>
            <a:off x="731520" y="3218688"/>
            <a:ext cx="2240280" cy="640080"/>
          </a:xfrm>
          <a:prstGeom prst="rect">
            <a:avLst/>
          </a:prstGeom>
          <a:noFill/>
          <a:ln/>
        </p:spPr>
        <p:txBody>
          <a:bodyPr wrap="square" lIns="0" tIns="0" rIns="0" bIns="0" rtlCol="0" anchor="t"/>
          <a:lstStyle/>
          <a:p>
            <a:pPr marL="0" indent="0" algn="ctr">
              <a:lnSpc>
                <a:spcPct val="100000"/>
              </a:lnSpc>
              <a:buNone/>
            </a:pPr>
            <a:r>
              <a:rPr lang="en-US" sz="950" dirty="0">
                <a:solidFill>
                  <a:srgbClr val="8D99AE"/>
                </a:solidFill>
                <a:latin typeface="Calibri" pitchFamily="34" charset="0"/>
                <a:ea typeface="Calibri" pitchFamily="34" charset="-122"/>
                <a:cs typeface="Calibri" pitchFamily="34" charset="-120"/>
              </a:rPr>
              <a:t>Processed annually, for each of the immediately preceding three (3) years</a:t>
            </a:r>
            <a:endParaRPr lang="en-US" sz="950" dirty="0"/>
          </a:p>
        </p:txBody>
      </p:sp>
      <p:sp>
        <p:nvSpPr>
          <p:cNvPr id="9" name="Shape 7">
            <a:extLst>
              <a:ext uri="{FF2B5EF4-FFF2-40B4-BE49-F238E27FC236}">
                <a16:creationId xmlns:a16="http://schemas.microsoft.com/office/drawing/2014/main" id="{8379074E-55C6-D65C-3168-746C18BB8694}"/>
              </a:ext>
            </a:extLst>
          </p:cNvPr>
          <p:cNvSpPr/>
          <p:nvPr/>
        </p:nvSpPr>
        <p:spPr>
          <a:xfrm>
            <a:off x="3401568" y="1737360"/>
            <a:ext cx="2697480" cy="2194560"/>
          </a:xfrm>
          <a:prstGeom prst="roundRect">
            <a:avLst>
              <a:gd name="adj" fmla="val 4167"/>
            </a:avLst>
          </a:prstGeom>
          <a:solidFill>
            <a:srgbClr val="2B2D42"/>
          </a:solidFill>
          <a:ln/>
        </p:spPr>
        <p:txBody>
          <a:bodyPr/>
          <a:lstStyle/>
          <a:p>
            <a:endParaRPr lang="en-US"/>
          </a:p>
        </p:txBody>
      </p:sp>
      <p:sp>
        <p:nvSpPr>
          <p:cNvPr id="10" name="Text 8">
            <a:extLst>
              <a:ext uri="{FF2B5EF4-FFF2-40B4-BE49-F238E27FC236}">
                <a16:creationId xmlns:a16="http://schemas.microsoft.com/office/drawing/2014/main" id="{778C3FCC-2E2D-C65B-D7A0-5A0EC832B3FC}"/>
              </a:ext>
            </a:extLst>
          </p:cNvPr>
          <p:cNvSpPr/>
          <p:nvPr/>
        </p:nvSpPr>
        <p:spPr>
          <a:xfrm>
            <a:off x="3401568" y="1965960"/>
            <a:ext cx="2697480" cy="914400"/>
          </a:xfrm>
          <a:prstGeom prst="rect">
            <a:avLst/>
          </a:prstGeom>
          <a:noFill/>
          <a:ln/>
        </p:spPr>
        <p:txBody>
          <a:bodyPr wrap="square" rtlCol="0" anchor="ctr"/>
          <a:lstStyle/>
          <a:p>
            <a:pPr marL="0" indent="0" algn="ctr">
              <a:buNone/>
            </a:pPr>
            <a:r>
              <a:rPr lang="en-US" sz="6000" b="1" dirty="0">
                <a:solidFill>
                  <a:srgbClr val="D90429"/>
                </a:solidFill>
                <a:latin typeface="Georgia" pitchFamily="34" charset="0"/>
                <a:ea typeface="Georgia" pitchFamily="34" charset="-122"/>
                <a:cs typeface="Georgia" pitchFamily="34" charset="-120"/>
              </a:rPr>
              <a:t>1,000</a:t>
            </a:r>
            <a:endParaRPr lang="en-US" sz="6000" dirty="0"/>
          </a:p>
        </p:txBody>
      </p:sp>
      <p:sp>
        <p:nvSpPr>
          <p:cNvPr id="11" name="Text 9">
            <a:extLst>
              <a:ext uri="{FF2B5EF4-FFF2-40B4-BE49-F238E27FC236}">
                <a16:creationId xmlns:a16="http://schemas.microsoft.com/office/drawing/2014/main" id="{9297D78A-FDAC-4313-A192-F469A6F8484B}"/>
              </a:ext>
            </a:extLst>
          </p:cNvPr>
          <p:cNvSpPr/>
          <p:nvPr/>
        </p:nvSpPr>
        <p:spPr>
          <a:xfrm>
            <a:off x="3401568" y="2880360"/>
            <a:ext cx="2697480" cy="32004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ACTIVE ACCOUNTS</a:t>
            </a:r>
            <a:endParaRPr lang="en-US" sz="1300" dirty="0"/>
          </a:p>
        </p:txBody>
      </p:sp>
      <p:sp>
        <p:nvSpPr>
          <p:cNvPr id="12" name="Text 10">
            <a:extLst>
              <a:ext uri="{FF2B5EF4-FFF2-40B4-BE49-F238E27FC236}">
                <a16:creationId xmlns:a16="http://schemas.microsoft.com/office/drawing/2014/main" id="{CB50B2D3-F985-0E8B-0164-E11FDA8A080D}"/>
              </a:ext>
            </a:extLst>
          </p:cNvPr>
          <p:cNvSpPr/>
          <p:nvPr/>
        </p:nvSpPr>
        <p:spPr>
          <a:xfrm>
            <a:off x="3630168" y="3218688"/>
            <a:ext cx="2240280" cy="640080"/>
          </a:xfrm>
          <a:prstGeom prst="rect">
            <a:avLst/>
          </a:prstGeom>
          <a:noFill/>
          <a:ln/>
        </p:spPr>
        <p:txBody>
          <a:bodyPr wrap="square" lIns="0" tIns="0" rIns="0" bIns="0" rtlCol="0" anchor="t"/>
          <a:lstStyle/>
          <a:p>
            <a:pPr marL="0" indent="0" algn="ctr">
              <a:lnSpc>
                <a:spcPct val="100000"/>
              </a:lnSpc>
              <a:buNone/>
            </a:pPr>
            <a:r>
              <a:rPr lang="en-US" sz="950" dirty="0">
                <a:solidFill>
                  <a:srgbClr val="8D99AE"/>
                </a:solidFill>
                <a:latin typeface="Calibri" pitchFamily="34" charset="0"/>
                <a:ea typeface="Calibri" pitchFamily="34" charset="-122"/>
                <a:cs typeface="Calibri" pitchFamily="34" charset="-120"/>
              </a:rPr>
              <a:t>Active user or customer accounts supported per year</a:t>
            </a:r>
            <a:endParaRPr lang="en-US" sz="950" dirty="0"/>
          </a:p>
        </p:txBody>
      </p:sp>
      <p:sp>
        <p:nvSpPr>
          <p:cNvPr id="13" name="Shape 11">
            <a:extLst>
              <a:ext uri="{FF2B5EF4-FFF2-40B4-BE49-F238E27FC236}">
                <a16:creationId xmlns:a16="http://schemas.microsoft.com/office/drawing/2014/main" id="{37B4DA44-792B-DA8C-6387-6ED405219945}"/>
              </a:ext>
            </a:extLst>
          </p:cNvPr>
          <p:cNvSpPr/>
          <p:nvPr/>
        </p:nvSpPr>
        <p:spPr>
          <a:xfrm>
            <a:off x="6300216" y="1737360"/>
            <a:ext cx="2697480" cy="2194560"/>
          </a:xfrm>
          <a:prstGeom prst="roundRect">
            <a:avLst>
              <a:gd name="adj" fmla="val 4167"/>
            </a:avLst>
          </a:prstGeom>
          <a:solidFill>
            <a:srgbClr val="2B2D42"/>
          </a:solidFill>
          <a:ln/>
        </p:spPr>
        <p:txBody>
          <a:bodyPr/>
          <a:lstStyle/>
          <a:p>
            <a:endParaRPr lang="en-US"/>
          </a:p>
        </p:txBody>
      </p:sp>
      <p:sp>
        <p:nvSpPr>
          <p:cNvPr id="14" name="Text 12">
            <a:extLst>
              <a:ext uri="{FF2B5EF4-FFF2-40B4-BE49-F238E27FC236}">
                <a16:creationId xmlns:a16="http://schemas.microsoft.com/office/drawing/2014/main" id="{F5A13CD2-38C5-D8FE-4A0F-FAA0BC5326BA}"/>
              </a:ext>
            </a:extLst>
          </p:cNvPr>
          <p:cNvSpPr/>
          <p:nvPr/>
        </p:nvSpPr>
        <p:spPr>
          <a:xfrm>
            <a:off x="6300216" y="1965960"/>
            <a:ext cx="2697480" cy="914400"/>
          </a:xfrm>
          <a:prstGeom prst="rect">
            <a:avLst/>
          </a:prstGeom>
          <a:noFill/>
          <a:ln/>
        </p:spPr>
        <p:txBody>
          <a:bodyPr wrap="square" rtlCol="0" anchor="ctr"/>
          <a:lstStyle/>
          <a:p>
            <a:pPr marL="0" indent="0" algn="ctr">
              <a:buNone/>
            </a:pPr>
            <a:r>
              <a:rPr lang="en-US" sz="6000" b="1" dirty="0">
                <a:solidFill>
                  <a:srgbClr val="D90429"/>
                </a:solidFill>
                <a:latin typeface="Georgia" pitchFamily="34" charset="0"/>
                <a:ea typeface="Georgia" pitchFamily="34" charset="-122"/>
                <a:cs typeface="Georgia" pitchFamily="34" charset="-120"/>
              </a:rPr>
              <a:t>3</a:t>
            </a:r>
            <a:endParaRPr lang="en-US" sz="6000" dirty="0"/>
          </a:p>
        </p:txBody>
      </p:sp>
      <p:sp>
        <p:nvSpPr>
          <p:cNvPr id="15" name="Text 13">
            <a:extLst>
              <a:ext uri="{FF2B5EF4-FFF2-40B4-BE49-F238E27FC236}">
                <a16:creationId xmlns:a16="http://schemas.microsoft.com/office/drawing/2014/main" id="{18955516-7B07-35C5-486E-074524E79BEE}"/>
              </a:ext>
            </a:extLst>
          </p:cNvPr>
          <p:cNvSpPr/>
          <p:nvPr/>
        </p:nvSpPr>
        <p:spPr>
          <a:xfrm>
            <a:off x="6300216" y="2880360"/>
            <a:ext cx="2697480" cy="32004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YEARS</a:t>
            </a:r>
            <a:endParaRPr lang="en-US" sz="1300" dirty="0"/>
          </a:p>
        </p:txBody>
      </p:sp>
      <p:sp>
        <p:nvSpPr>
          <p:cNvPr id="16" name="Text 14">
            <a:extLst>
              <a:ext uri="{FF2B5EF4-FFF2-40B4-BE49-F238E27FC236}">
                <a16:creationId xmlns:a16="http://schemas.microsoft.com/office/drawing/2014/main" id="{E34CA925-DFD5-00E3-D61A-83CD8C5C613D}"/>
              </a:ext>
            </a:extLst>
          </p:cNvPr>
          <p:cNvSpPr/>
          <p:nvPr/>
        </p:nvSpPr>
        <p:spPr>
          <a:xfrm>
            <a:off x="6528816" y="3218688"/>
            <a:ext cx="2240280" cy="640080"/>
          </a:xfrm>
          <a:prstGeom prst="rect">
            <a:avLst/>
          </a:prstGeom>
          <a:noFill/>
          <a:ln/>
        </p:spPr>
        <p:txBody>
          <a:bodyPr wrap="square" lIns="0" tIns="0" rIns="0" bIns="0" rtlCol="0" anchor="t"/>
          <a:lstStyle/>
          <a:p>
            <a:pPr marL="0" indent="0" algn="ctr">
              <a:lnSpc>
                <a:spcPct val="100000"/>
              </a:lnSpc>
              <a:buNone/>
            </a:pPr>
            <a:r>
              <a:rPr lang="en-US" sz="950" dirty="0">
                <a:solidFill>
                  <a:srgbClr val="8D99AE"/>
                </a:solidFill>
                <a:latin typeface="Calibri" pitchFamily="34" charset="0"/>
                <a:ea typeface="Calibri" pitchFamily="34" charset="-122"/>
                <a:cs typeface="Calibri" pitchFamily="34" charset="-120"/>
              </a:rPr>
              <a:t>Of verifiable experience operating or supporting comparable systems</a:t>
            </a:r>
            <a:endParaRPr lang="en-US" sz="950" dirty="0"/>
          </a:p>
        </p:txBody>
      </p:sp>
      <p:sp>
        <p:nvSpPr>
          <p:cNvPr id="17" name="Text 15">
            <a:extLst>
              <a:ext uri="{FF2B5EF4-FFF2-40B4-BE49-F238E27FC236}">
                <a16:creationId xmlns:a16="http://schemas.microsoft.com/office/drawing/2014/main" id="{EA3620A4-8432-1BC8-652F-256C8E3C7A11}"/>
              </a:ext>
            </a:extLst>
          </p:cNvPr>
          <p:cNvSpPr/>
          <p:nvPr/>
        </p:nvSpPr>
        <p:spPr>
          <a:xfrm>
            <a:off x="502920" y="4160520"/>
            <a:ext cx="8092440" cy="548640"/>
          </a:xfrm>
          <a:prstGeom prst="rect">
            <a:avLst/>
          </a:prstGeom>
          <a:noFill/>
          <a:ln/>
        </p:spPr>
        <p:txBody>
          <a:bodyPr wrap="square" lIns="0" tIns="0" rIns="0" bIns="0" rtlCol="0" anchor="t"/>
          <a:lstStyle/>
          <a:p>
            <a:pPr marL="0" indent="0" algn="l">
              <a:lnSpc>
                <a:spcPct val="100000"/>
              </a:lnSpc>
              <a:buNone/>
            </a:pPr>
            <a:r>
              <a:rPr lang="en-US" sz="1100" i="1" dirty="0">
                <a:solidFill>
                  <a:srgbClr val="8D99AE"/>
                </a:solidFill>
                <a:latin typeface="Calibri" pitchFamily="34" charset="0"/>
                <a:ea typeface="Calibri" pitchFamily="34" charset="-122"/>
                <a:cs typeface="Calibri" pitchFamily="34" charset="-120"/>
              </a:rPr>
              <a:t>Solutions must pass BIR-supervised stress, load, concurrency, scalability, failover, and recovery tests based on projected and peak transaction volumes.</a:t>
            </a:r>
            <a:endParaRPr lang="en-US" sz="1100" dirty="0"/>
          </a:p>
        </p:txBody>
      </p:sp>
      <p:sp>
        <p:nvSpPr>
          <p:cNvPr id="18" name="Shape 16">
            <a:extLst>
              <a:ext uri="{FF2B5EF4-FFF2-40B4-BE49-F238E27FC236}">
                <a16:creationId xmlns:a16="http://schemas.microsoft.com/office/drawing/2014/main" id="{4AB67B6D-4097-9A89-4736-9D0421CFDA0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19" name="Text 17">
            <a:extLst>
              <a:ext uri="{FF2B5EF4-FFF2-40B4-BE49-F238E27FC236}">
                <a16:creationId xmlns:a16="http://schemas.microsoft.com/office/drawing/2014/main" id="{7E4A37E4-A47D-BE1E-5FC7-125F813A81F7}"/>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Tree>
    <p:extLst>
      <p:ext uri="{BB962C8B-B14F-4D97-AF65-F5344CB8AC3E}">
        <p14:creationId xmlns:p14="http://schemas.microsoft.com/office/powerpoint/2010/main" val="2956180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PROCESS &amp; LIFECYCLE</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Evaluation, Approval &amp; Validity</a:t>
            </a:r>
            <a:endParaRPr lang="en-US" sz="3000" dirty="0"/>
          </a:p>
        </p:txBody>
      </p:sp>
      <p:sp>
        <p:nvSpPr>
          <p:cNvPr id="5" name="Text 3"/>
          <p:cNvSpPr/>
          <p:nvPr/>
        </p:nvSpPr>
        <p:spPr>
          <a:xfrm>
            <a:off x="548640" y="1554480"/>
            <a:ext cx="4114800" cy="274320"/>
          </a:xfrm>
          <a:prstGeom prst="rect">
            <a:avLst/>
          </a:prstGeom>
          <a:noFill/>
          <a:ln/>
        </p:spPr>
        <p:txBody>
          <a:bodyPr wrap="square" lIns="0" tIns="0" rIns="0" bIns="0" rtlCol="0" anchor="ctr"/>
          <a:lstStyle/>
          <a:p>
            <a:pPr marL="0" indent="0" algn="l">
              <a:buNone/>
            </a:pPr>
            <a:r>
              <a:rPr lang="en-US" sz="1200" b="1" kern="0" spc="100" dirty="0">
                <a:solidFill>
                  <a:srgbClr val="D90429"/>
                </a:solidFill>
                <a:latin typeface="Calibri" pitchFamily="34" charset="0"/>
                <a:ea typeface="Calibri" pitchFamily="34" charset="-122"/>
                <a:cs typeface="Calibri" pitchFamily="34" charset="-120"/>
              </a:rPr>
              <a:t>EVALUATION PROCESS</a:t>
            </a:r>
            <a:endParaRPr lang="en-US" sz="1200" dirty="0"/>
          </a:p>
        </p:txBody>
      </p:sp>
      <p:sp>
        <p:nvSpPr>
          <p:cNvPr id="6" name="Shape 4"/>
          <p:cNvSpPr/>
          <p:nvPr/>
        </p:nvSpPr>
        <p:spPr>
          <a:xfrm>
            <a:off x="548640" y="1920240"/>
            <a:ext cx="73152" cy="658368"/>
          </a:xfrm>
          <a:prstGeom prst="rect">
            <a:avLst/>
          </a:prstGeom>
          <a:solidFill>
            <a:srgbClr val="D90429"/>
          </a:solidFill>
          <a:ln/>
        </p:spPr>
        <p:txBody>
          <a:bodyPr/>
          <a:lstStyle/>
          <a:p>
            <a:endParaRPr lang="en-US"/>
          </a:p>
        </p:txBody>
      </p:sp>
      <p:sp>
        <p:nvSpPr>
          <p:cNvPr id="7" name="Text 5"/>
          <p:cNvSpPr/>
          <p:nvPr/>
        </p:nvSpPr>
        <p:spPr>
          <a:xfrm>
            <a:off x="749808" y="2087985"/>
            <a:ext cx="3931920" cy="822960"/>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Reviewed by the Electronic Invoicing Solutions Accreditation Board, drawn from the ISG, Operations, and Strategic Reforms Groups.</a:t>
            </a:r>
            <a:endParaRPr lang="en-US" sz="1050" dirty="0"/>
          </a:p>
        </p:txBody>
      </p:sp>
      <p:sp>
        <p:nvSpPr>
          <p:cNvPr id="8" name="Shape 6"/>
          <p:cNvSpPr/>
          <p:nvPr/>
        </p:nvSpPr>
        <p:spPr>
          <a:xfrm>
            <a:off x="548640" y="2761488"/>
            <a:ext cx="73152" cy="658368"/>
          </a:xfrm>
          <a:prstGeom prst="rect">
            <a:avLst/>
          </a:prstGeom>
          <a:solidFill>
            <a:srgbClr val="D90429"/>
          </a:solidFill>
          <a:ln/>
        </p:spPr>
        <p:txBody>
          <a:bodyPr/>
          <a:lstStyle/>
          <a:p>
            <a:endParaRPr lang="en-US"/>
          </a:p>
        </p:txBody>
      </p:sp>
      <p:sp>
        <p:nvSpPr>
          <p:cNvPr id="9" name="Text 7"/>
          <p:cNvSpPr/>
          <p:nvPr/>
        </p:nvSpPr>
        <p:spPr>
          <a:xfrm>
            <a:off x="749808" y="2875630"/>
            <a:ext cx="3931920" cy="822960"/>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Every applicant undergoes a live end-to-end demonstration plus baseline conformance, interoperability, security, and continuity tests.</a:t>
            </a:r>
            <a:endParaRPr lang="en-US" sz="1050" dirty="0"/>
          </a:p>
        </p:txBody>
      </p:sp>
      <p:sp>
        <p:nvSpPr>
          <p:cNvPr id="10" name="Shape 8"/>
          <p:cNvSpPr/>
          <p:nvPr/>
        </p:nvSpPr>
        <p:spPr>
          <a:xfrm>
            <a:off x="548640" y="3602736"/>
            <a:ext cx="73152" cy="658368"/>
          </a:xfrm>
          <a:prstGeom prst="rect">
            <a:avLst/>
          </a:prstGeom>
          <a:solidFill>
            <a:srgbClr val="D90429"/>
          </a:solidFill>
          <a:ln/>
        </p:spPr>
        <p:txBody>
          <a:bodyPr/>
          <a:lstStyle/>
          <a:p>
            <a:endParaRPr lang="en-US"/>
          </a:p>
        </p:txBody>
      </p:sp>
      <p:sp>
        <p:nvSpPr>
          <p:cNvPr id="11" name="Text 9"/>
          <p:cNvSpPr/>
          <p:nvPr/>
        </p:nvSpPr>
        <p:spPr>
          <a:xfrm>
            <a:off x="749808" y="3587835"/>
            <a:ext cx="3931920" cy="822960"/>
          </a:xfrm>
          <a:prstGeom prst="rect">
            <a:avLst/>
          </a:prstGeom>
          <a:noFill/>
          <a:ln/>
        </p:spPr>
        <p:txBody>
          <a:bodyPr wrap="square" lIns="0" tIns="0" rIns="0" bIns="0" rtlCol="0" anchor="t"/>
          <a:lstStyle/>
          <a:p>
            <a:pPr marL="0" indent="0" algn="l">
              <a:lnSpc>
                <a:spcPct val="100000"/>
              </a:lnSpc>
              <a:buNone/>
            </a:pPr>
            <a:r>
              <a:rPr lang="en-GB" sz="1050" dirty="0">
                <a:solidFill>
                  <a:srgbClr val="2B2D42"/>
                </a:solidFill>
                <a:latin typeface="Calibri" pitchFamily="34" charset="0"/>
                <a:ea typeface="Calibri" pitchFamily="34" charset="-122"/>
                <a:cs typeface="Calibri" pitchFamily="34" charset="-120"/>
              </a:rPr>
              <a:t>Provide a functional demonstration of platform capabilities, including taxpayer onboarding, e-invoice issuance, administrative governance and oversight, operational reporting, audit visibility, and monitoring capabilities as part of the accreditation assessment process.</a:t>
            </a:r>
          </a:p>
        </p:txBody>
      </p:sp>
      <p:sp>
        <p:nvSpPr>
          <p:cNvPr id="12" name="Shape 10"/>
          <p:cNvSpPr/>
          <p:nvPr/>
        </p:nvSpPr>
        <p:spPr>
          <a:xfrm>
            <a:off x="4937760" y="1554480"/>
            <a:ext cx="3703320" cy="3017520"/>
          </a:xfrm>
          <a:prstGeom prst="roundRect">
            <a:avLst>
              <a:gd name="adj" fmla="val 3030"/>
            </a:avLst>
          </a:prstGeom>
          <a:solidFill>
            <a:srgbClr val="2B2D42"/>
          </a:solidFill>
          <a:ln/>
        </p:spPr>
        <p:txBody>
          <a:bodyPr/>
          <a:lstStyle/>
          <a:p>
            <a:endParaRPr lang="en-US"/>
          </a:p>
        </p:txBody>
      </p:sp>
      <p:sp>
        <p:nvSpPr>
          <p:cNvPr id="13" name="Text 11"/>
          <p:cNvSpPr/>
          <p:nvPr/>
        </p:nvSpPr>
        <p:spPr>
          <a:xfrm>
            <a:off x="5166360" y="1783080"/>
            <a:ext cx="3291840" cy="274320"/>
          </a:xfrm>
          <a:prstGeom prst="rect">
            <a:avLst/>
          </a:prstGeom>
          <a:noFill/>
          <a:ln/>
        </p:spPr>
        <p:txBody>
          <a:bodyPr wrap="square" lIns="0" tIns="0" rIns="0" bIns="0" rtlCol="0" anchor="ctr"/>
          <a:lstStyle/>
          <a:p>
            <a:pPr marL="0" indent="0" algn="l">
              <a:buNone/>
            </a:pPr>
            <a:r>
              <a:rPr lang="en-US" sz="1200" b="1" kern="0" spc="100" dirty="0">
                <a:solidFill>
                  <a:srgbClr val="D90429"/>
                </a:solidFill>
                <a:latin typeface="Calibri" pitchFamily="34" charset="0"/>
                <a:ea typeface="Calibri" pitchFamily="34" charset="-122"/>
                <a:cs typeface="Calibri" pitchFamily="34" charset="-120"/>
              </a:rPr>
              <a:t>ACCREDITATION LIFECYCLE</a:t>
            </a:r>
            <a:endParaRPr lang="en-US" sz="1200" dirty="0"/>
          </a:p>
        </p:txBody>
      </p:sp>
      <p:sp>
        <p:nvSpPr>
          <p:cNvPr id="14" name="Text 12"/>
          <p:cNvSpPr/>
          <p:nvPr/>
        </p:nvSpPr>
        <p:spPr>
          <a:xfrm>
            <a:off x="5166360" y="2194560"/>
            <a:ext cx="3291840" cy="411480"/>
          </a:xfrm>
          <a:prstGeom prst="rect">
            <a:avLst/>
          </a:prstGeom>
          <a:noFill/>
          <a:ln/>
        </p:spPr>
        <p:txBody>
          <a:bodyPr wrap="square" lIns="0" tIns="0" rIns="0" bIns="0" rtlCol="0" anchor="t"/>
          <a:lstStyle/>
          <a:p>
            <a:pPr marL="0" indent="0" algn="l">
              <a:buNone/>
            </a:pPr>
            <a:r>
              <a:rPr lang="en-US" sz="2400" b="1" dirty="0">
                <a:solidFill>
                  <a:srgbClr val="FFFFFF"/>
                </a:solidFill>
                <a:latin typeface="Georgia" pitchFamily="34" charset="0"/>
                <a:ea typeface="Georgia" pitchFamily="34" charset="-122"/>
                <a:cs typeface="Georgia" pitchFamily="34" charset="-120"/>
              </a:rPr>
              <a:t>5 years</a:t>
            </a:r>
            <a:endParaRPr lang="en-US" sz="2400" dirty="0"/>
          </a:p>
        </p:txBody>
      </p:sp>
      <p:sp>
        <p:nvSpPr>
          <p:cNvPr id="15" name="Text 13"/>
          <p:cNvSpPr/>
          <p:nvPr/>
        </p:nvSpPr>
        <p:spPr>
          <a:xfrm>
            <a:off x="5166360" y="2578608"/>
            <a:ext cx="3246120" cy="457200"/>
          </a:xfrm>
          <a:prstGeom prst="rect">
            <a:avLst/>
          </a:prstGeom>
          <a:noFill/>
          <a:ln/>
        </p:spPr>
        <p:txBody>
          <a:bodyPr wrap="square" lIns="0" tIns="0" rIns="0" bIns="0" rtlCol="0" anchor="t"/>
          <a:lstStyle/>
          <a:p>
            <a:pPr marL="0" indent="0" algn="l">
              <a:lnSpc>
                <a:spcPct val="100000"/>
              </a:lnSpc>
              <a:buNone/>
            </a:pPr>
            <a:r>
              <a:rPr lang="en-US" sz="1000" dirty="0">
                <a:solidFill>
                  <a:srgbClr val="8D99AE"/>
                </a:solidFill>
                <a:latin typeface="Calibri" pitchFamily="34" charset="0"/>
                <a:ea typeface="Calibri" pitchFamily="34" charset="-122"/>
                <a:cs typeface="Calibri" pitchFamily="34" charset="-120"/>
              </a:rPr>
              <a:t>Validity, subject to annual compliance review and continuous monitoring</a:t>
            </a:r>
            <a:endParaRPr lang="en-US" sz="1000" dirty="0"/>
          </a:p>
        </p:txBody>
      </p:sp>
      <p:sp>
        <p:nvSpPr>
          <p:cNvPr id="16" name="Text 14"/>
          <p:cNvSpPr/>
          <p:nvPr/>
        </p:nvSpPr>
        <p:spPr>
          <a:xfrm>
            <a:off x="5166360" y="2980944"/>
            <a:ext cx="3291840" cy="411480"/>
          </a:xfrm>
          <a:prstGeom prst="rect">
            <a:avLst/>
          </a:prstGeom>
          <a:noFill/>
          <a:ln/>
        </p:spPr>
        <p:txBody>
          <a:bodyPr wrap="square" lIns="0" tIns="0" rIns="0" bIns="0" rtlCol="0" anchor="t"/>
          <a:lstStyle/>
          <a:p>
            <a:pPr marL="0" indent="0" algn="l">
              <a:buNone/>
            </a:pPr>
            <a:r>
              <a:rPr lang="en-US" sz="2400" b="1" dirty="0">
                <a:solidFill>
                  <a:srgbClr val="FFFFFF"/>
                </a:solidFill>
                <a:latin typeface="Georgia" pitchFamily="34" charset="0"/>
                <a:ea typeface="Georgia" pitchFamily="34" charset="-122"/>
                <a:cs typeface="Georgia" pitchFamily="34" charset="-120"/>
              </a:rPr>
              <a:t>60 days</a:t>
            </a:r>
            <a:endParaRPr lang="en-US" sz="2400" dirty="0"/>
          </a:p>
        </p:txBody>
      </p:sp>
      <p:sp>
        <p:nvSpPr>
          <p:cNvPr id="17" name="Text 15"/>
          <p:cNvSpPr/>
          <p:nvPr/>
        </p:nvSpPr>
        <p:spPr>
          <a:xfrm>
            <a:off x="5166360" y="3364992"/>
            <a:ext cx="3246120" cy="457200"/>
          </a:xfrm>
          <a:prstGeom prst="rect">
            <a:avLst/>
          </a:prstGeom>
          <a:noFill/>
          <a:ln/>
        </p:spPr>
        <p:txBody>
          <a:bodyPr wrap="square" lIns="0" tIns="0" rIns="0" bIns="0" rtlCol="0" anchor="t"/>
          <a:lstStyle/>
          <a:p>
            <a:pPr marL="0" indent="0" algn="l">
              <a:lnSpc>
                <a:spcPct val="100000"/>
              </a:lnSpc>
              <a:buNone/>
            </a:pPr>
            <a:r>
              <a:rPr lang="en-US" sz="1000" dirty="0">
                <a:solidFill>
                  <a:srgbClr val="8D99AE"/>
                </a:solidFill>
                <a:latin typeface="Calibri" pitchFamily="34" charset="0"/>
                <a:ea typeface="Calibri" pitchFamily="34" charset="-122"/>
                <a:cs typeface="Calibri" pitchFamily="34" charset="-120"/>
              </a:rPr>
              <a:t>Minimum renewal lead time before certificate expiration</a:t>
            </a:r>
            <a:endParaRPr lang="en-US" sz="1000" dirty="0"/>
          </a:p>
        </p:txBody>
      </p:sp>
      <p:sp>
        <p:nvSpPr>
          <p:cNvPr id="18" name="Text 16"/>
          <p:cNvSpPr/>
          <p:nvPr/>
        </p:nvSpPr>
        <p:spPr>
          <a:xfrm>
            <a:off x="5166360" y="3767328"/>
            <a:ext cx="3291840" cy="411480"/>
          </a:xfrm>
          <a:prstGeom prst="rect">
            <a:avLst/>
          </a:prstGeom>
          <a:noFill/>
          <a:ln/>
        </p:spPr>
        <p:txBody>
          <a:bodyPr wrap="square" lIns="0" tIns="0" rIns="0" bIns="0" rtlCol="0" anchor="t"/>
          <a:lstStyle/>
          <a:p>
            <a:pPr marL="0" indent="0" algn="l">
              <a:buNone/>
            </a:pPr>
            <a:r>
              <a:rPr lang="en-US" sz="2400" b="1" dirty="0">
                <a:solidFill>
                  <a:srgbClr val="FFFFFF"/>
                </a:solidFill>
                <a:latin typeface="Georgia" pitchFamily="34" charset="0"/>
                <a:ea typeface="Georgia" pitchFamily="34" charset="-122"/>
                <a:cs typeface="Georgia" pitchFamily="34" charset="-120"/>
              </a:rPr>
              <a:t>24 hours</a:t>
            </a:r>
            <a:endParaRPr lang="en-US" sz="2400" dirty="0"/>
          </a:p>
        </p:txBody>
      </p:sp>
      <p:sp>
        <p:nvSpPr>
          <p:cNvPr id="19" name="Text 17"/>
          <p:cNvSpPr/>
          <p:nvPr/>
        </p:nvSpPr>
        <p:spPr>
          <a:xfrm>
            <a:off x="5166360" y="4151376"/>
            <a:ext cx="3246120" cy="457200"/>
          </a:xfrm>
          <a:prstGeom prst="rect">
            <a:avLst/>
          </a:prstGeom>
          <a:noFill/>
          <a:ln/>
        </p:spPr>
        <p:txBody>
          <a:bodyPr wrap="square" lIns="0" tIns="0" rIns="0" bIns="0" rtlCol="0" anchor="t"/>
          <a:lstStyle/>
          <a:p>
            <a:pPr marL="0" indent="0" algn="l">
              <a:lnSpc>
                <a:spcPct val="100000"/>
              </a:lnSpc>
              <a:buNone/>
            </a:pPr>
            <a:r>
              <a:rPr lang="en-US" sz="1000" dirty="0">
                <a:solidFill>
                  <a:srgbClr val="8D99AE"/>
                </a:solidFill>
                <a:latin typeface="Calibri" pitchFamily="34" charset="0"/>
                <a:ea typeface="Calibri" pitchFamily="34" charset="-122"/>
                <a:cs typeface="Calibri" pitchFamily="34" charset="-120"/>
              </a:rPr>
              <a:t>Window to report a critical security or transmission incident</a:t>
            </a:r>
            <a:endParaRPr lang="en-US" sz="1000" dirty="0"/>
          </a:p>
        </p:txBody>
      </p:sp>
      <p:sp>
        <p:nvSpPr>
          <p:cNvPr id="20" name="Shape 18"/>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1" name="Text 19"/>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22" name="Shape 8">
            <a:extLst>
              <a:ext uri="{FF2B5EF4-FFF2-40B4-BE49-F238E27FC236}">
                <a16:creationId xmlns:a16="http://schemas.microsoft.com/office/drawing/2014/main" id="{FA31827F-147B-CB36-6AA0-AC0DA5C85AF5}"/>
              </a:ext>
            </a:extLst>
          </p:cNvPr>
          <p:cNvSpPr/>
          <p:nvPr/>
        </p:nvSpPr>
        <p:spPr>
          <a:xfrm>
            <a:off x="566928" y="4434840"/>
            <a:ext cx="73152" cy="658368"/>
          </a:xfrm>
          <a:prstGeom prst="rect">
            <a:avLst/>
          </a:prstGeom>
          <a:solidFill>
            <a:srgbClr val="D90429"/>
          </a:solidFill>
          <a:ln/>
        </p:spPr>
        <p:txBody>
          <a:bodyPr/>
          <a:lstStyle/>
          <a:p>
            <a:endParaRPr lang="en-US"/>
          </a:p>
        </p:txBody>
      </p:sp>
      <p:sp>
        <p:nvSpPr>
          <p:cNvPr id="23" name="Text 9">
            <a:extLst>
              <a:ext uri="{FF2B5EF4-FFF2-40B4-BE49-F238E27FC236}">
                <a16:creationId xmlns:a16="http://schemas.microsoft.com/office/drawing/2014/main" id="{FE118ABE-30EB-83B4-2F89-58767031287D}"/>
              </a:ext>
            </a:extLst>
          </p:cNvPr>
          <p:cNvSpPr/>
          <p:nvPr/>
        </p:nvSpPr>
        <p:spPr>
          <a:xfrm>
            <a:off x="768096" y="4572000"/>
            <a:ext cx="3931920" cy="822960"/>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Third-party certifications may support, but cannot replace, BIR testing, inspection, audit, or independent verification.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CONTINUING COMPLIANCE</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Key Obligations of ESPs</a:t>
            </a:r>
            <a:endParaRPr lang="en-US" sz="3000" dirty="0"/>
          </a:p>
        </p:txBody>
      </p:sp>
      <p:sp>
        <p:nvSpPr>
          <p:cNvPr id="5" name="Shape 3"/>
          <p:cNvSpPr/>
          <p:nvPr/>
        </p:nvSpPr>
        <p:spPr>
          <a:xfrm>
            <a:off x="502920" y="1508760"/>
            <a:ext cx="3968496" cy="658368"/>
          </a:xfrm>
          <a:prstGeom prst="roundRect">
            <a:avLst>
              <a:gd name="adj" fmla="val 8333"/>
            </a:avLst>
          </a:prstGeom>
          <a:solidFill>
            <a:srgbClr val="EDF2F4"/>
          </a:solidFill>
          <a:ln/>
        </p:spPr>
        <p:txBody>
          <a:bodyPr/>
          <a:lstStyle/>
          <a:p>
            <a:endParaRPr lang="en-US"/>
          </a:p>
        </p:txBody>
      </p:sp>
      <p:sp>
        <p:nvSpPr>
          <p:cNvPr id="6" name="Shape 4"/>
          <p:cNvSpPr/>
          <p:nvPr/>
        </p:nvSpPr>
        <p:spPr>
          <a:xfrm>
            <a:off x="640080" y="1682496"/>
            <a:ext cx="310896" cy="310896"/>
          </a:xfrm>
          <a:prstGeom prst="ellipse">
            <a:avLst/>
          </a:prstGeom>
          <a:solidFill>
            <a:srgbClr val="D90429"/>
          </a:solidFill>
          <a:ln/>
        </p:spPr>
        <p:txBody>
          <a:bodyPr/>
          <a:lstStyle/>
          <a:p>
            <a:endParaRPr lang="en-US"/>
          </a:p>
        </p:txBody>
      </p:sp>
      <p:sp>
        <p:nvSpPr>
          <p:cNvPr id="7" name="Text 5"/>
          <p:cNvSpPr/>
          <p:nvPr/>
        </p:nvSpPr>
        <p:spPr>
          <a:xfrm>
            <a:off x="640080" y="1682496"/>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051560" y="1545336"/>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Validate the legal existence of taxpayer-clients before onboarding</a:t>
            </a:r>
            <a:endParaRPr lang="en-US" sz="1050" dirty="0"/>
          </a:p>
        </p:txBody>
      </p:sp>
      <p:sp>
        <p:nvSpPr>
          <p:cNvPr id="9" name="Shape 7"/>
          <p:cNvSpPr/>
          <p:nvPr/>
        </p:nvSpPr>
        <p:spPr>
          <a:xfrm>
            <a:off x="4572000" y="1508760"/>
            <a:ext cx="4069080" cy="658368"/>
          </a:xfrm>
          <a:prstGeom prst="roundRect">
            <a:avLst>
              <a:gd name="adj" fmla="val 8333"/>
            </a:avLst>
          </a:prstGeom>
          <a:solidFill>
            <a:srgbClr val="EDF2F4"/>
          </a:solidFill>
          <a:ln/>
        </p:spPr>
        <p:txBody>
          <a:bodyPr/>
          <a:lstStyle/>
          <a:p>
            <a:endParaRPr lang="en-US"/>
          </a:p>
        </p:txBody>
      </p:sp>
      <p:sp>
        <p:nvSpPr>
          <p:cNvPr id="10" name="Shape 8"/>
          <p:cNvSpPr/>
          <p:nvPr/>
        </p:nvSpPr>
        <p:spPr>
          <a:xfrm>
            <a:off x="4709160" y="1682496"/>
            <a:ext cx="310896" cy="310896"/>
          </a:xfrm>
          <a:prstGeom prst="ellipse">
            <a:avLst/>
          </a:prstGeom>
          <a:solidFill>
            <a:srgbClr val="D90429"/>
          </a:solidFill>
          <a:ln/>
        </p:spPr>
        <p:txBody>
          <a:bodyPr/>
          <a:lstStyle/>
          <a:p>
            <a:endParaRPr lang="en-US"/>
          </a:p>
        </p:txBody>
      </p:sp>
      <p:sp>
        <p:nvSpPr>
          <p:cNvPr id="11" name="Text 9"/>
          <p:cNvSpPr/>
          <p:nvPr/>
        </p:nvSpPr>
        <p:spPr>
          <a:xfrm>
            <a:off x="4709160" y="1682496"/>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5120640" y="1545336"/>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Ensure accuracy, completeness, integrity, and non-duplication of data</a:t>
            </a:r>
            <a:endParaRPr lang="en-US" sz="1050" dirty="0"/>
          </a:p>
        </p:txBody>
      </p:sp>
      <p:sp>
        <p:nvSpPr>
          <p:cNvPr id="13" name="Shape 11"/>
          <p:cNvSpPr/>
          <p:nvPr/>
        </p:nvSpPr>
        <p:spPr>
          <a:xfrm>
            <a:off x="502920" y="2295144"/>
            <a:ext cx="3968496" cy="658368"/>
          </a:xfrm>
          <a:prstGeom prst="roundRect">
            <a:avLst>
              <a:gd name="adj" fmla="val 8333"/>
            </a:avLst>
          </a:prstGeom>
          <a:solidFill>
            <a:srgbClr val="EDF2F4"/>
          </a:solidFill>
          <a:ln/>
        </p:spPr>
        <p:txBody>
          <a:bodyPr/>
          <a:lstStyle/>
          <a:p>
            <a:endParaRPr lang="en-US"/>
          </a:p>
        </p:txBody>
      </p:sp>
      <p:sp>
        <p:nvSpPr>
          <p:cNvPr id="14" name="Shape 12"/>
          <p:cNvSpPr/>
          <p:nvPr/>
        </p:nvSpPr>
        <p:spPr>
          <a:xfrm>
            <a:off x="640080" y="2468880"/>
            <a:ext cx="310896" cy="310896"/>
          </a:xfrm>
          <a:prstGeom prst="ellipse">
            <a:avLst/>
          </a:prstGeom>
          <a:solidFill>
            <a:srgbClr val="D90429"/>
          </a:solidFill>
          <a:ln/>
        </p:spPr>
        <p:txBody>
          <a:bodyPr/>
          <a:lstStyle/>
          <a:p>
            <a:endParaRPr lang="en-US"/>
          </a:p>
        </p:txBody>
      </p:sp>
      <p:sp>
        <p:nvSpPr>
          <p:cNvPr id="15" name="Text 13"/>
          <p:cNvSpPr/>
          <p:nvPr/>
        </p:nvSpPr>
        <p:spPr>
          <a:xfrm>
            <a:off x="640080" y="2468880"/>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051560" y="2331720"/>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Maintain immutable, time-synchronized audit logs accessible to the BIR</a:t>
            </a:r>
            <a:endParaRPr lang="en-US" sz="1050" dirty="0"/>
          </a:p>
        </p:txBody>
      </p:sp>
      <p:sp>
        <p:nvSpPr>
          <p:cNvPr id="17" name="Shape 15"/>
          <p:cNvSpPr/>
          <p:nvPr/>
        </p:nvSpPr>
        <p:spPr>
          <a:xfrm>
            <a:off x="4572000" y="2295144"/>
            <a:ext cx="4069080" cy="658368"/>
          </a:xfrm>
          <a:prstGeom prst="roundRect">
            <a:avLst>
              <a:gd name="adj" fmla="val 8333"/>
            </a:avLst>
          </a:prstGeom>
          <a:solidFill>
            <a:srgbClr val="EDF2F4"/>
          </a:solidFill>
          <a:ln/>
        </p:spPr>
        <p:txBody>
          <a:bodyPr/>
          <a:lstStyle/>
          <a:p>
            <a:endParaRPr lang="en-US"/>
          </a:p>
        </p:txBody>
      </p:sp>
      <p:sp>
        <p:nvSpPr>
          <p:cNvPr id="18" name="Shape 16"/>
          <p:cNvSpPr/>
          <p:nvPr/>
        </p:nvSpPr>
        <p:spPr>
          <a:xfrm>
            <a:off x="4709160" y="2468880"/>
            <a:ext cx="310896" cy="310896"/>
          </a:xfrm>
          <a:prstGeom prst="ellipse">
            <a:avLst/>
          </a:prstGeom>
          <a:solidFill>
            <a:srgbClr val="D90429"/>
          </a:solidFill>
          <a:ln/>
        </p:spPr>
        <p:txBody>
          <a:bodyPr/>
          <a:lstStyle/>
          <a:p>
            <a:endParaRPr lang="en-US"/>
          </a:p>
        </p:txBody>
      </p:sp>
      <p:sp>
        <p:nvSpPr>
          <p:cNvPr id="19" name="Text 17"/>
          <p:cNvSpPr/>
          <p:nvPr/>
        </p:nvSpPr>
        <p:spPr>
          <a:xfrm>
            <a:off x="4709160" y="2468880"/>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5120640" y="2331720"/>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Meet service levels: availability, RTO, RPO, and transmission-success rates</a:t>
            </a:r>
            <a:endParaRPr lang="en-US" sz="1050" dirty="0"/>
          </a:p>
        </p:txBody>
      </p:sp>
      <p:sp>
        <p:nvSpPr>
          <p:cNvPr id="21" name="Shape 19"/>
          <p:cNvSpPr/>
          <p:nvPr/>
        </p:nvSpPr>
        <p:spPr>
          <a:xfrm>
            <a:off x="502920" y="3081528"/>
            <a:ext cx="3968496" cy="658368"/>
          </a:xfrm>
          <a:prstGeom prst="roundRect">
            <a:avLst>
              <a:gd name="adj" fmla="val 8333"/>
            </a:avLst>
          </a:prstGeom>
          <a:solidFill>
            <a:srgbClr val="EDF2F4"/>
          </a:solidFill>
          <a:ln/>
        </p:spPr>
        <p:txBody>
          <a:bodyPr/>
          <a:lstStyle/>
          <a:p>
            <a:endParaRPr lang="en-US"/>
          </a:p>
        </p:txBody>
      </p:sp>
      <p:sp>
        <p:nvSpPr>
          <p:cNvPr id="22" name="Shape 20"/>
          <p:cNvSpPr/>
          <p:nvPr/>
        </p:nvSpPr>
        <p:spPr>
          <a:xfrm>
            <a:off x="640080" y="3255264"/>
            <a:ext cx="310896" cy="310896"/>
          </a:xfrm>
          <a:prstGeom prst="ellipse">
            <a:avLst/>
          </a:prstGeom>
          <a:solidFill>
            <a:srgbClr val="D90429"/>
          </a:solidFill>
          <a:ln/>
        </p:spPr>
        <p:txBody>
          <a:bodyPr/>
          <a:lstStyle/>
          <a:p>
            <a:endParaRPr lang="en-US"/>
          </a:p>
        </p:txBody>
      </p:sp>
      <p:sp>
        <p:nvSpPr>
          <p:cNvPr id="23" name="Text 21"/>
          <p:cNvSpPr/>
          <p:nvPr/>
        </p:nvSpPr>
        <p:spPr>
          <a:xfrm>
            <a:off x="640080" y="3255264"/>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051560" y="3118104"/>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Report critical incidents to the RDO in writing within 24 hours</a:t>
            </a:r>
            <a:endParaRPr lang="en-US" sz="1050" dirty="0"/>
          </a:p>
        </p:txBody>
      </p:sp>
      <p:sp>
        <p:nvSpPr>
          <p:cNvPr id="25" name="Shape 23"/>
          <p:cNvSpPr/>
          <p:nvPr/>
        </p:nvSpPr>
        <p:spPr>
          <a:xfrm>
            <a:off x="4572000" y="3081528"/>
            <a:ext cx="4069080" cy="658368"/>
          </a:xfrm>
          <a:prstGeom prst="roundRect">
            <a:avLst>
              <a:gd name="adj" fmla="val 8333"/>
            </a:avLst>
          </a:prstGeom>
          <a:solidFill>
            <a:srgbClr val="EDF2F4"/>
          </a:solidFill>
          <a:ln/>
        </p:spPr>
        <p:txBody>
          <a:bodyPr/>
          <a:lstStyle/>
          <a:p>
            <a:endParaRPr lang="en-US"/>
          </a:p>
        </p:txBody>
      </p:sp>
      <p:sp>
        <p:nvSpPr>
          <p:cNvPr id="26" name="Shape 24"/>
          <p:cNvSpPr/>
          <p:nvPr/>
        </p:nvSpPr>
        <p:spPr>
          <a:xfrm>
            <a:off x="4709160" y="3255264"/>
            <a:ext cx="310896" cy="310896"/>
          </a:xfrm>
          <a:prstGeom prst="ellipse">
            <a:avLst/>
          </a:prstGeom>
          <a:solidFill>
            <a:srgbClr val="D90429"/>
          </a:solidFill>
          <a:ln/>
        </p:spPr>
        <p:txBody>
          <a:bodyPr/>
          <a:lstStyle/>
          <a:p>
            <a:endParaRPr lang="en-US"/>
          </a:p>
        </p:txBody>
      </p:sp>
      <p:sp>
        <p:nvSpPr>
          <p:cNvPr id="27" name="Text 25"/>
          <p:cNvSpPr/>
          <p:nvPr/>
        </p:nvSpPr>
        <p:spPr>
          <a:xfrm>
            <a:off x="4709160" y="3255264"/>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5120640" y="3118104"/>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Obtain prior BIR approval before any material change</a:t>
            </a:r>
            <a:endParaRPr lang="en-US" sz="1050" dirty="0"/>
          </a:p>
        </p:txBody>
      </p:sp>
      <p:sp>
        <p:nvSpPr>
          <p:cNvPr id="29" name="Shape 27"/>
          <p:cNvSpPr/>
          <p:nvPr/>
        </p:nvSpPr>
        <p:spPr>
          <a:xfrm>
            <a:off x="502920" y="3867912"/>
            <a:ext cx="3968496" cy="658368"/>
          </a:xfrm>
          <a:prstGeom prst="roundRect">
            <a:avLst>
              <a:gd name="adj" fmla="val 8333"/>
            </a:avLst>
          </a:prstGeom>
          <a:solidFill>
            <a:srgbClr val="EDF2F4"/>
          </a:solidFill>
          <a:ln/>
        </p:spPr>
        <p:txBody>
          <a:bodyPr/>
          <a:lstStyle/>
          <a:p>
            <a:endParaRPr lang="en-US"/>
          </a:p>
        </p:txBody>
      </p:sp>
      <p:sp>
        <p:nvSpPr>
          <p:cNvPr id="30" name="Shape 28"/>
          <p:cNvSpPr/>
          <p:nvPr/>
        </p:nvSpPr>
        <p:spPr>
          <a:xfrm>
            <a:off x="640080" y="4041648"/>
            <a:ext cx="310896" cy="310896"/>
          </a:xfrm>
          <a:prstGeom prst="ellipse">
            <a:avLst/>
          </a:prstGeom>
          <a:solidFill>
            <a:srgbClr val="D90429"/>
          </a:solidFill>
          <a:ln/>
        </p:spPr>
        <p:txBody>
          <a:bodyPr/>
          <a:lstStyle/>
          <a:p>
            <a:endParaRPr lang="en-US"/>
          </a:p>
        </p:txBody>
      </p:sp>
      <p:sp>
        <p:nvSpPr>
          <p:cNvPr id="31" name="Text 29"/>
          <p:cNvSpPr/>
          <p:nvPr/>
        </p:nvSpPr>
        <p:spPr>
          <a:xfrm>
            <a:off x="640080" y="4041648"/>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1051560" y="3904488"/>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Provide manual-invoicing functionality during service interruptions</a:t>
            </a:r>
            <a:endParaRPr lang="en-US" sz="1050" dirty="0"/>
          </a:p>
        </p:txBody>
      </p:sp>
      <p:sp>
        <p:nvSpPr>
          <p:cNvPr id="33" name="Shape 31"/>
          <p:cNvSpPr/>
          <p:nvPr/>
        </p:nvSpPr>
        <p:spPr>
          <a:xfrm>
            <a:off x="4572000" y="3867912"/>
            <a:ext cx="4069080" cy="658368"/>
          </a:xfrm>
          <a:prstGeom prst="roundRect">
            <a:avLst>
              <a:gd name="adj" fmla="val 8333"/>
            </a:avLst>
          </a:prstGeom>
          <a:solidFill>
            <a:srgbClr val="EDF2F4"/>
          </a:solidFill>
          <a:ln/>
        </p:spPr>
        <p:txBody>
          <a:bodyPr/>
          <a:lstStyle/>
          <a:p>
            <a:endParaRPr lang="en-US"/>
          </a:p>
        </p:txBody>
      </p:sp>
      <p:sp>
        <p:nvSpPr>
          <p:cNvPr id="34" name="Shape 32"/>
          <p:cNvSpPr/>
          <p:nvPr/>
        </p:nvSpPr>
        <p:spPr>
          <a:xfrm>
            <a:off x="4709160" y="4041648"/>
            <a:ext cx="310896" cy="310896"/>
          </a:xfrm>
          <a:prstGeom prst="ellipse">
            <a:avLst/>
          </a:prstGeom>
          <a:solidFill>
            <a:srgbClr val="D90429"/>
          </a:solidFill>
          <a:ln/>
        </p:spPr>
        <p:txBody>
          <a:bodyPr/>
          <a:lstStyle/>
          <a:p>
            <a:endParaRPr lang="en-US"/>
          </a:p>
        </p:txBody>
      </p:sp>
      <p:sp>
        <p:nvSpPr>
          <p:cNvPr id="35" name="Text 33"/>
          <p:cNvSpPr/>
          <p:nvPr/>
        </p:nvSpPr>
        <p:spPr>
          <a:xfrm>
            <a:off x="4709160" y="4041648"/>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6" name="Text 34"/>
          <p:cNvSpPr/>
          <p:nvPr/>
        </p:nvSpPr>
        <p:spPr>
          <a:xfrm>
            <a:off x="5120640" y="3904488"/>
            <a:ext cx="3383280" cy="585216"/>
          </a:xfrm>
          <a:prstGeom prst="rect">
            <a:avLst/>
          </a:prstGeom>
          <a:noFill/>
          <a:ln/>
        </p:spPr>
        <p:txBody>
          <a:bodyPr wrap="square" lIns="0" tIns="0" rIns="0" bIns="0" rtlCol="0" anchor="ctr"/>
          <a:lstStyle/>
          <a:p>
            <a:pPr marL="0" indent="0" algn="l">
              <a:lnSpc>
                <a:spcPct val="95000"/>
              </a:lnSpc>
              <a:buNone/>
            </a:pPr>
            <a:r>
              <a:rPr lang="en-US" sz="1050" dirty="0">
                <a:solidFill>
                  <a:srgbClr val="2B2D42"/>
                </a:solidFill>
                <a:latin typeface="Calibri" pitchFamily="34" charset="0"/>
                <a:ea typeface="Calibri" pitchFamily="34" charset="-122"/>
                <a:cs typeface="Calibri" pitchFamily="34" charset="-120"/>
              </a:rPr>
              <a:t>Maintain a facility for automatic generation of the Summary List of Sales</a:t>
            </a:r>
            <a:endParaRPr lang="en-US" sz="1050" dirty="0"/>
          </a:p>
        </p:txBody>
      </p:sp>
      <p:sp>
        <p:nvSpPr>
          <p:cNvPr id="37" name="Shape 3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8" name="Text 3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EF1CED-DB60-7977-3B05-B8B8A000A4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FA2231-9272-123C-F04C-28710BB53203}"/>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A7E72925-39B2-A571-FEB4-D81A3723FA22}"/>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DATA GOVERNANCE</a:t>
            </a:r>
            <a:endParaRPr lang="en-US" sz="1200" dirty="0"/>
          </a:p>
        </p:txBody>
      </p:sp>
      <p:sp>
        <p:nvSpPr>
          <p:cNvPr id="4" name="Text 2">
            <a:extLst>
              <a:ext uri="{FF2B5EF4-FFF2-40B4-BE49-F238E27FC236}">
                <a16:creationId xmlns:a16="http://schemas.microsoft.com/office/drawing/2014/main" id="{082BED53-FECA-A552-A83D-BA14C1A5657D}"/>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Data Ownership, Access &amp; Portability</a:t>
            </a:r>
            <a:endParaRPr lang="en-US" sz="3000" dirty="0"/>
          </a:p>
        </p:txBody>
      </p:sp>
      <p:sp>
        <p:nvSpPr>
          <p:cNvPr id="5" name="Shape 3">
            <a:extLst>
              <a:ext uri="{FF2B5EF4-FFF2-40B4-BE49-F238E27FC236}">
                <a16:creationId xmlns:a16="http://schemas.microsoft.com/office/drawing/2014/main" id="{DAC2DAE8-B8DA-D9F5-0DD3-0E414F133DE1}"/>
              </a:ext>
            </a:extLst>
          </p:cNvPr>
          <p:cNvSpPr/>
          <p:nvPr/>
        </p:nvSpPr>
        <p:spPr>
          <a:xfrm>
            <a:off x="548640" y="1499616"/>
            <a:ext cx="91440" cy="530352"/>
          </a:xfrm>
          <a:prstGeom prst="rect">
            <a:avLst/>
          </a:prstGeom>
          <a:solidFill>
            <a:srgbClr val="D90429"/>
          </a:solidFill>
          <a:ln/>
        </p:spPr>
        <p:txBody>
          <a:bodyPr/>
          <a:lstStyle/>
          <a:p>
            <a:endParaRPr lang="en-US"/>
          </a:p>
        </p:txBody>
      </p:sp>
      <p:sp>
        <p:nvSpPr>
          <p:cNvPr id="6" name="Text 4">
            <a:extLst>
              <a:ext uri="{FF2B5EF4-FFF2-40B4-BE49-F238E27FC236}">
                <a16:creationId xmlns:a16="http://schemas.microsoft.com/office/drawing/2014/main" id="{4D2AAE04-6581-294B-7441-0114C6FA03C8}"/>
              </a:ext>
            </a:extLst>
          </p:cNvPr>
          <p:cNvSpPr/>
          <p:nvPr/>
        </p:nvSpPr>
        <p:spPr>
          <a:xfrm>
            <a:off x="777240" y="1463040"/>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Ownership &amp; Control</a:t>
            </a:r>
            <a:endParaRPr lang="en-US" sz="1250" dirty="0"/>
          </a:p>
        </p:txBody>
      </p:sp>
      <p:sp>
        <p:nvSpPr>
          <p:cNvPr id="7" name="Text 5">
            <a:extLst>
              <a:ext uri="{FF2B5EF4-FFF2-40B4-BE49-F238E27FC236}">
                <a16:creationId xmlns:a16="http://schemas.microsoft.com/office/drawing/2014/main" id="{F7357C5A-69C6-AE76-9464-6243A713BB43}"/>
              </a:ext>
            </a:extLst>
          </p:cNvPr>
          <p:cNvSpPr/>
          <p:nvPr/>
        </p:nvSpPr>
        <p:spPr>
          <a:xfrm>
            <a:off x="3383280" y="1463040"/>
            <a:ext cx="5303520" cy="640080"/>
          </a:xfrm>
          <a:prstGeom prst="rect">
            <a:avLst/>
          </a:prstGeom>
          <a:noFill/>
          <a:ln/>
        </p:spPr>
        <p:txBody>
          <a:bodyPr wrap="square" lIns="0" tIns="0" rIns="0" bIns="0" rtlCol="0" anchor="t"/>
          <a:lstStyle/>
          <a:p>
            <a:pPr marL="0" indent="0" algn="l">
              <a:lnSpc>
                <a:spcPct val="100000"/>
              </a:lnSpc>
              <a:buNone/>
            </a:pPr>
            <a:r>
              <a:rPr lang="en-US" sz="1000" dirty="0">
                <a:latin typeface="Calibri" pitchFamily="34" charset="0"/>
                <a:ea typeface="Calibri" pitchFamily="34" charset="-122"/>
                <a:cs typeface="Calibri" pitchFamily="34" charset="-120"/>
              </a:rPr>
              <a:t>Taxpayers retain ownership of underlying records. All e-invoice and sales data transmitted to or stored for the BIR are official tax-administration records under BIR custody. The ESP acquires no proprietary right.</a:t>
            </a:r>
            <a:endParaRPr lang="en-US" sz="1000" dirty="0"/>
          </a:p>
        </p:txBody>
      </p:sp>
      <p:sp>
        <p:nvSpPr>
          <p:cNvPr id="8" name="Shape 6">
            <a:extLst>
              <a:ext uri="{FF2B5EF4-FFF2-40B4-BE49-F238E27FC236}">
                <a16:creationId xmlns:a16="http://schemas.microsoft.com/office/drawing/2014/main" id="{07D6FAA9-00EF-089D-E0B1-F7931524CAFC}"/>
              </a:ext>
            </a:extLst>
          </p:cNvPr>
          <p:cNvSpPr/>
          <p:nvPr/>
        </p:nvSpPr>
        <p:spPr>
          <a:xfrm>
            <a:off x="548640" y="2176272"/>
            <a:ext cx="91440" cy="530352"/>
          </a:xfrm>
          <a:prstGeom prst="rect">
            <a:avLst/>
          </a:prstGeom>
          <a:solidFill>
            <a:srgbClr val="D90429"/>
          </a:solidFill>
          <a:ln/>
        </p:spPr>
        <p:txBody>
          <a:bodyPr/>
          <a:lstStyle/>
          <a:p>
            <a:endParaRPr lang="en-US"/>
          </a:p>
        </p:txBody>
      </p:sp>
      <p:sp>
        <p:nvSpPr>
          <p:cNvPr id="9" name="Text 7">
            <a:extLst>
              <a:ext uri="{FF2B5EF4-FFF2-40B4-BE49-F238E27FC236}">
                <a16:creationId xmlns:a16="http://schemas.microsoft.com/office/drawing/2014/main" id="{48454C58-A864-D156-0276-9386A3A36349}"/>
              </a:ext>
            </a:extLst>
          </p:cNvPr>
          <p:cNvSpPr/>
          <p:nvPr/>
        </p:nvSpPr>
        <p:spPr>
          <a:xfrm>
            <a:off x="777240" y="2139696"/>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BIR Access</a:t>
            </a:r>
            <a:endParaRPr lang="en-US" sz="1250" dirty="0"/>
          </a:p>
        </p:txBody>
      </p:sp>
      <p:sp>
        <p:nvSpPr>
          <p:cNvPr id="10" name="Text 8">
            <a:extLst>
              <a:ext uri="{FF2B5EF4-FFF2-40B4-BE49-F238E27FC236}">
                <a16:creationId xmlns:a16="http://schemas.microsoft.com/office/drawing/2014/main" id="{A4C51620-4D69-D68A-CD49-5CA2FD357D2F}"/>
              </a:ext>
            </a:extLst>
          </p:cNvPr>
          <p:cNvSpPr/>
          <p:nvPr/>
        </p:nvSpPr>
        <p:spPr>
          <a:xfrm>
            <a:off x="3383280" y="2139696"/>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provide the BIR complete, direct, secure, timely, and continuous access to all e-invoice and sales data, metadata, audit logs, acknowledgments, rejection and error records, and other information lawfully required for tax </a:t>
            </a:r>
            <a:endParaRPr lang="en-US" sz="1000" dirty="0"/>
          </a:p>
        </p:txBody>
      </p:sp>
      <p:sp>
        <p:nvSpPr>
          <p:cNvPr id="11" name="Shape 9">
            <a:extLst>
              <a:ext uri="{FF2B5EF4-FFF2-40B4-BE49-F238E27FC236}">
                <a16:creationId xmlns:a16="http://schemas.microsoft.com/office/drawing/2014/main" id="{C33A6F8A-BF89-AC9B-3A4B-8AA95719D286}"/>
              </a:ext>
            </a:extLst>
          </p:cNvPr>
          <p:cNvSpPr/>
          <p:nvPr/>
        </p:nvSpPr>
        <p:spPr>
          <a:xfrm>
            <a:off x="548640" y="2852928"/>
            <a:ext cx="91440" cy="530352"/>
          </a:xfrm>
          <a:prstGeom prst="rect">
            <a:avLst/>
          </a:prstGeom>
          <a:solidFill>
            <a:srgbClr val="D90429"/>
          </a:solidFill>
          <a:ln/>
        </p:spPr>
        <p:txBody>
          <a:bodyPr/>
          <a:lstStyle/>
          <a:p>
            <a:endParaRPr lang="en-US"/>
          </a:p>
        </p:txBody>
      </p:sp>
      <p:sp>
        <p:nvSpPr>
          <p:cNvPr id="12" name="Text 10">
            <a:extLst>
              <a:ext uri="{FF2B5EF4-FFF2-40B4-BE49-F238E27FC236}">
                <a16:creationId xmlns:a16="http://schemas.microsoft.com/office/drawing/2014/main" id="{7EE554BF-997E-1769-6F62-99669EBD2758}"/>
              </a:ext>
            </a:extLst>
          </p:cNvPr>
          <p:cNvSpPr/>
          <p:nvPr/>
        </p:nvSpPr>
        <p:spPr>
          <a:xfrm>
            <a:off x="777240" y="2816352"/>
            <a:ext cx="2514600" cy="603504"/>
          </a:xfrm>
          <a:prstGeom prst="rect">
            <a:avLst/>
          </a:prstGeom>
          <a:noFill/>
          <a:ln/>
        </p:spPr>
        <p:txBody>
          <a:bodyPr wrap="square" lIns="0" tIns="0" rIns="0" bIns="0" rtlCol="0" anchor="t"/>
          <a:lstStyle/>
          <a:p>
            <a:pPr marL="0" indent="0" algn="l">
              <a:lnSpc>
                <a:spcPct val="95000"/>
              </a:lnSpc>
              <a:buNone/>
            </a:pPr>
            <a:r>
              <a:rPr lang="en-GB" sz="1250" b="1" dirty="0">
                <a:solidFill>
                  <a:srgbClr val="2B2D42"/>
                </a:solidFill>
                <a:latin typeface="Georgia" pitchFamily="34" charset="0"/>
                <a:ea typeface="Georgia" pitchFamily="34" charset="-122"/>
                <a:cs typeface="Georgia" pitchFamily="34" charset="-120"/>
              </a:rPr>
              <a:t>Summary and Detailed Reports </a:t>
            </a:r>
            <a:endParaRPr lang="en-US" sz="1250" dirty="0"/>
          </a:p>
        </p:txBody>
      </p:sp>
      <p:sp>
        <p:nvSpPr>
          <p:cNvPr id="13" name="Text 11">
            <a:extLst>
              <a:ext uri="{FF2B5EF4-FFF2-40B4-BE49-F238E27FC236}">
                <a16:creationId xmlns:a16="http://schemas.microsoft.com/office/drawing/2014/main" id="{F1B8FBA3-696D-86B9-30D1-850C027981E5}"/>
              </a:ext>
            </a:extLst>
          </p:cNvPr>
          <p:cNvSpPr/>
          <p:nvPr/>
        </p:nvSpPr>
        <p:spPr>
          <a:xfrm>
            <a:off x="3383280" y="2816352"/>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Standard summary reports in the format prescribed by the BIR within one working day and</a:t>
            </a:r>
          </a:p>
          <a:p>
            <a:pPr marL="0" indent="0" algn="l">
              <a:lnSpc>
                <a:spcPct val="100000"/>
              </a:lnSpc>
              <a:buNone/>
            </a:pPr>
            <a:r>
              <a:rPr lang="en-GB" sz="1000" dirty="0">
                <a:latin typeface="Calibri" pitchFamily="34" charset="0"/>
                <a:ea typeface="Calibri" pitchFamily="34" charset="-122"/>
                <a:cs typeface="Calibri" pitchFamily="34" charset="-120"/>
              </a:rPr>
              <a:t>Complete transaction-level extracts in a structured, machine-readable, and non-proprietary format within three working days, or within a shorter period when required for an authorized audit, investigation, enforcement action, cybersecurity incident, or system emergency.</a:t>
            </a:r>
          </a:p>
        </p:txBody>
      </p:sp>
      <p:sp>
        <p:nvSpPr>
          <p:cNvPr id="14" name="Shape 12">
            <a:extLst>
              <a:ext uri="{FF2B5EF4-FFF2-40B4-BE49-F238E27FC236}">
                <a16:creationId xmlns:a16="http://schemas.microsoft.com/office/drawing/2014/main" id="{630C3DEC-3990-D33B-130D-A1478FBD7E6B}"/>
              </a:ext>
            </a:extLst>
          </p:cNvPr>
          <p:cNvSpPr/>
          <p:nvPr/>
        </p:nvSpPr>
        <p:spPr>
          <a:xfrm>
            <a:off x="548640" y="3529584"/>
            <a:ext cx="91440" cy="530352"/>
          </a:xfrm>
          <a:prstGeom prst="rect">
            <a:avLst/>
          </a:prstGeom>
          <a:solidFill>
            <a:srgbClr val="D90429"/>
          </a:solidFill>
          <a:ln/>
        </p:spPr>
        <p:txBody>
          <a:bodyPr/>
          <a:lstStyle/>
          <a:p>
            <a:endParaRPr lang="en-US"/>
          </a:p>
        </p:txBody>
      </p:sp>
      <p:sp>
        <p:nvSpPr>
          <p:cNvPr id="15" name="Text 13">
            <a:extLst>
              <a:ext uri="{FF2B5EF4-FFF2-40B4-BE49-F238E27FC236}">
                <a16:creationId xmlns:a16="http://schemas.microsoft.com/office/drawing/2014/main" id="{F9807154-2C57-60DE-809C-FFAC01F27C75}"/>
              </a:ext>
            </a:extLst>
          </p:cNvPr>
          <p:cNvSpPr/>
          <p:nvPr/>
        </p:nvSpPr>
        <p:spPr>
          <a:xfrm>
            <a:off x="777240" y="3493008"/>
            <a:ext cx="2514600" cy="603504"/>
          </a:xfrm>
          <a:prstGeom prst="rect">
            <a:avLst/>
          </a:prstGeom>
          <a:noFill/>
          <a:ln/>
        </p:spPr>
        <p:txBody>
          <a:bodyPr wrap="square" lIns="0" tIns="0" rIns="0" bIns="0" rtlCol="0" anchor="t"/>
          <a:lstStyle/>
          <a:p>
            <a:pPr marL="0" indent="0" algn="l">
              <a:lnSpc>
                <a:spcPct val="95000"/>
              </a:lnSpc>
              <a:buNone/>
            </a:pPr>
            <a:r>
              <a:rPr lang="en-GB" sz="1250" b="1" dirty="0">
                <a:solidFill>
                  <a:srgbClr val="2B2D42"/>
                </a:solidFill>
                <a:latin typeface="Georgia" pitchFamily="34" charset="0"/>
                <a:ea typeface="Georgia" pitchFamily="34" charset="-122"/>
                <a:cs typeface="Georgia" pitchFamily="34" charset="-120"/>
              </a:rPr>
              <a:t>Storage Pending BIR Readiness </a:t>
            </a:r>
            <a:endParaRPr lang="en-US" sz="1250" dirty="0"/>
          </a:p>
        </p:txBody>
      </p:sp>
      <p:sp>
        <p:nvSpPr>
          <p:cNvPr id="16" name="Text 14">
            <a:extLst>
              <a:ext uri="{FF2B5EF4-FFF2-40B4-BE49-F238E27FC236}">
                <a16:creationId xmlns:a16="http://schemas.microsoft.com/office/drawing/2014/main" id="{5A473052-333E-DF42-908D-D5B9798F1872}"/>
              </a:ext>
            </a:extLst>
          </p:cNvPr>
          <p:cNvSpPr/>
          <p:nvPr/>
        </p:nvSpPr>
        <p:spPr>
          <a:xfrm>
            <a:off x="3383280" y="3493008"/>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securely retain complete transaction-level e-invoice and sales data, associated metadata, acknowledgments, error records, and audit trails for the period required under the Tax Code and thereafter until the BIR confirms in writing that the required data have been completely and successfully migrated to the BIR infrastructure and authorizes discontinuance of storage. </a:t>
            </a:r>
            <a:endParaRPr lang="en-US" sz="1000" dirty="0"/>
          </a:p>
        </p:txBody>
      </p:sp>
      <p:sp>
        <p:nvSpPr>
          <p:cNvPr id="17" name="Shape 15">
            <a:extLst>
              <a:ext uri="{FF2B5EF4-FFF2-40B4-BE49-F238E27FC236}">
                <a16:creationId xmlns:a16="http://schemas.microsoft.com/office/drawing/2014/main" id="{1AFE85F9-A4C7-96B8-03A2-34085B37B31E}"/>
              </a:ext>
            </a:extLst>
          </p:cNvPr>
          <p:cNvSpPr/>
          <p:nvPr/>
        </p:nvSpPr>
        <p:spPr>
          <a:xfrm>
            <a:off x="548640" y="4206240"/>
            <a:ext cx="91440" cy="530352"/>
          </a:xfrm>
          <a:prstGeom prst="rect">
            <a:avLst/>
          </a:prstGeom>
          <a:solidFill>
            <a:srgbClr val="D90429"/>
          </a:solidFill>
          <a:ln/>
        </p:spPr>
        <p:txBody>
          <a:bodyPr/>
          <a:lstStyle/>
          <a:p>
            <a:endParaRPr lang="en-US"/>
          </a:p>
        </p:txBody>
      </p:sp>
      <p:sp>
        <p:nvSpPr>
          <p:cNvPr id="18" name="Text 16">
            <a:extLst>
              <a:ext uri="{FF2B5EF4-FFF2-40B4-BE49-F238E27FC236}">
                <a16:creationId xmlns:a16="http://schemas.microsoft.com/office/drawing/2014/main" id="{CBBEFAA9-DCC1-7F89-B6B9-6EAFB9241ADB}"/>
              </a:ext>
            </a:extLst>
          </p:cNvPr>
          <p:cNvSpPr/>
          <p:nvPr/>
        </p:nvSpPr>
        <p:spPr>
          <a:xfrm>
            <a:off x="777240" y="4169664"/>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Continuing Obligation </a:t>
            </a:r>
            <a:endParaRPr lang="en-US" sz="1250" dirty="0"/>
          </a:p>
        </p:txBody>
      </p:sp>
      <p:sp>
        <p:nvSpPr>
          <p:cNvPr id="19" name="Text 17">
            <a:extLst>
              <a:ext uri="{FF2B5EF4-FFF2-40B4-BE49-F238E27FC236}">
                <a16:creationId xmlns:a16="http://schemas.microsoft.com/office/drawing/2014/main" id="{569E7BDE-F680-5BA7-B1A2-C53DA88F9711}"/>
              </a:ext>
            </a:extLst>
          </p:cNvPr>
          <p:cNvSpPr/>
          <p:nvPr/>
        </p:nvSpPr>
        <p:spPr>
          <a:xfrm>
            <a:off x="3383280" y="4169664"/>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Expiration, suspension, revocation, termination of a taxpayer contract, insolvency, cessation of business, merger, or change in control shall not extinguish the ESP’s storage, access, preservation, confidentiality, audit-support, or migration obligations. </a:t>
            </a:r>
          </a:p>
        </p:txBody>
      </p:sp>
      <p:sp>
        <p:nvSpPr>
          <p:cNvPr id="20" name="Shape 18">
            <a:extLst>
              <a:ext uri="{FF2B5EF4-FFF2-40B4-BE49-F238E27FC236}">
                <a16:creationId xmlns:a16="http://schemas.microsoft.com/office/drawing/2014/main" id="{C08D8EE3-51B6-AF59-BC46-9D8EDF4EC6DD}"/>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1" name="Text 19">
            <a:extLst>
              <a:ext uri="{FF2B5EF4-FFF2-40B4-BE49-F238E27FC236}">
                <a16:creationId xmlns:a16="http://schemas.microsoft.com/office/drawing/2014/main" id="{24603826-F831-5C3A-17F9-3A32B2D99891}"/>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Tree>
    <p:extLst>
      <p:ext uri="{BB962C8B-B14F-4D97-AF65-F5344CB8AC3E}">
        <p14:creationId xmlns:p14="http://schemas.microsoft.com/office/powerpoint/2010/main" val="3233101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AF627F-BCED-5EDC-E7EA-B10FF0172D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7F50EA-A2A4-DBDB-A7E6-16B9352618D0}"/>
              </a:ext>
            </a:extLst>
          </p:cNvPr>
          <p:cNvSpPr/>
          <p:nvPr/>
        </p:nvSpPr>
        <p:spPr>
          <a:xfrm>
            <a:off x="0" y="0"/>
            <a:ext cx="164592" cy="5143500"/>
          </a:xfrm>
          <a:prstGeom prst="rect">
            <a:avLst/>
          </a:prstGeom>
          <a:solidFill>
            <a:srgbClr val="D90429"/>
          </a:solidFill>
          <a:ln/>
        </p:spPr>
        <p:txBody>
          <a:bodyPr/>
          <a:lstStyle/>
          <a:p>
            <a:endParaRPr lang="en-US"/>
          </a:p>
        </p:txBody>
      </p:sp>
      <p:sp>
        <p:nvSpPr>
          <p:cNvPr id="3" name="Text 1">
            <a:extLst>
              <a:ext uri="{FF2B5EF4-FFF2-40B4-BE49-F238E27FC236}">
                <a16:creationId xmlns:a16="http://schemas.microsoft.com/office/drawing/2014/main" id="{8FC40397-4BE5-EEFF-F70B-4B608F1629A9}"/>
              </a:ext>
            </a:extLst>
          </p:cNvPr>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DATA GOVERNANCE</a:t>
            </a:r>
            <a:endParaRPr lang="en-US" sz="1200" dirty="0"/>
          </a:p>
        </p:txBody>
      </p:sp>
      <p:sp>
        <p:nvSpPr>
          <p:cNvPr id="4" name="Text 2">
            <a:extLst>
              <a:ext uri="{FF2B5EF4-FFF2-40B4-BE49-F238E27FC236}">
                <a16:creationId xmlns:a16="http://schemas.microsoft.com/office/drawing/2014/main" id="{123C2832-0051-E167-05E6-8D93F2F6F737}"/>
              </a:ext>
            </a:extLst>
          </p:cNvPr>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Data Ownership, Access &amp; Portability</a:t>
            </a:r>
            <a:endParaRPr lang="en-US" sz="3000" dirty="0"/>
          </a:p>
        </p:txBody>
      </p:sp>
      <p:sp>
        <p:nvSpPr>
          <p:cNvPr id="5" name="Shape 3">
            <a:extLst>
              <a:ext uri="{FF2B5EF4-FFF2-40B4-BE49-F238E27FC236}">
                <a16:creationId xmlns:a16="http://schemas.microsoft.com/office/drawing/2014/main" id="{5D3A4B35-807E-1D84-C56C-3B13F1CC625A}"/>
              </a:ext>
            </a:extLst>
          </p:cNvPr>
          <p:cNvSpPr/>
          <p:nvPr/>
        </p:nvSpPr>
        <p:spPr>
          <a:xfrm>
            <a:off x="548640" y="1499616"/>
            <a:ext cx="91440" cy="530352"/>
          </a:xfrm>
          <a:prstGeom prst="rect">
            <a:avLst/>
          </a:prstGeom>
          <a:solidFill>
            <a:srgbClr val="D90429"/>
          </a:solidFill>
          <a:ln/>
        </p:spPr>
        <p:txBody>
          <a:bodyPr/>
          <a:lstStyle/>
          <a:p>
            <a:endParaRPr lang="en-US"/>
          </a:p>
        </p:txBody>
      </p:sp>
      <p:sp>
        <p:nvSpPr>
          <p:cNvPr id="6" name="Text 4">
            <a:extLst>
              <a:ext uri="{FF2B5EF4-FFF2-40B4-BE49-F238E27FC236}">
                <a16:creationId xmlns:a16="http://schemas.microsoft.com/office/drawing/2014/main" id="{7C03740C-71CD-E9F1-A826-B31FB2A229AB}"/>
              </a:ext>
            </a:extLst>
          </p:cNvPr>
          <p:cNvSpPr/>
          <p:nvPr/>
        </p:nvSpPr>
        <p:spPr>
          <a:xfrm>
            <a:off x="777240" y="1463040"/>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No Vendor Lock-In </a:t>
            </a:r>
            <a:endParaRPr lang="en-US" sz="1250" dirty="0"/>
          </a:p>
        </p:txBody>
      </p:sp>
      <p:sp>
        <p:nvSpPr>
          <p:cNvPr id="7" name="Text 5">
            <a:extLst>
              <a:ext uri="{FF2B5EF4-FFF2-40B4-BE49-F238E27FC236}">
                <a16:creationId xmlns:a16="http://schemas.microsoft.com/office/drawing/2014/main" id="{AD749F29-2B40-851F-9254-850401BA95BE}"/>
              </a:ext>
            </a:extLst>
          </p:cNvPr>
          <p:cNvSpPr/>
          <p:nvPr/>
        </p:nvSpPr>
        <p:spPr>
          <a:xfrm>
            <a:off x="3383280" y="1463040"/>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not withhold, disable, delete, degrade, or condition access to data because of a contractual dispute, unpaid service fee, termination, or change of provider.</a:t>
            </a:r>
            <a:endParaRPr lang="en-US" sz="1000" dirty="0"/>
          </a:p>
        </p:txBody>
      </p:sp>
      <p:sp>
        <p:nvSpPr>
          <p:cNvPr id="8" name="Shape 6">
            <a:extLst>
              <a:ext uri="{FF2B5EF4-FFF2-40B4-BE49-F238E27FC236}">
                <a16:creationId xmlns:a16="http://schemas.microsoft.com/office/drawing/2014/main" id="{031162D1-1549-07BE-883A-A1C53F2FB94C}"/>
              </a:ext>
            </a:extLst>
          </p:cNvPr>
          <p:cNvSpPr/>
          <p:nvPr/>
        </p:nvSpPr>
        <p:spPr>
          <a:xfrm>
            <a:off x="548640" y="2176272"/>
            <a:ext cx="91440" cy="530352"/>
          </a:xfrm>
          <a:prstGeom prst="rect">
            <a:avLst/>
          </a:prstGeom>
          <a:solidFill>
            <a:srgbClr val="D90429"/>
          </a:solidFill>
          <a:ln/>
        </p:spPr>
        <p:txBody>
          <a:bodyPr/>
          <a:lstStyle/>
          <a:p>
            <a:endParaRPr lang="en-US"/>
          </a:p>
        </p:txBody>
      </p:sp>
      <p:sp>
        <p:nvSpPr>
          <p:cNvPr id="9" name="Text 7">
            <a:extLst>
              <a:ext uri="{FF2B5EF4-FFF2-40B4-BE49-F238E27FC236}">
                <a16:creationId xmlns:a16="http://schemas.microsoft.com/office/drawing/2014/main" id="{57BDFDE8-D70C-3DAA-58F1-B4B7850BE7B3}"/>
              </a:ext>
            </a:extLst>
          </p:cNvPr>
          <p:cNvSpPr/>
          <p:nvPr/>
        </p:nvSpPr>
        <p:spPr>
          <a:xfrm>
            <a:off x="777240" y="2139696"/>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Portability and Migration </a:t>
            </a:r>
            <a:endParaRPr lang="en-US" sz="1250" dirty="0"/>
          </a:p>
        </p:txBody>
      </p:sp>
      <p:sp>
        <p:nvSpPr>
          <p:cNvPr id="10" name="Text 8">
            <a:extLst>
              <a:ext uri="{FF2B5EF4-FFF2-40B4-BE49-F238E27FC236}">
                <a16:creationId xmlns:a16="http://schemas.microsoft.com/office/drawing/2014/main" id="{DF7E6F34-A636-D293-985D-4E02853263C7}"/>
              </a:ext>
            </a:extLst>
          </p:cNvPr>
          <p:cNvSpPr/>
          <p:nvPr/>
        </p:nvSpPr>
        <p:spPr>
          <a:xfrm>
            <a:off x="3383280" y="2139696"/>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maintain the capability to export and transfer all relevant data, metadata, logs, and audit trails to the taxpayer, the BIR, or another accredited ESP without loss, alteration, duplication, unreasonable delay, or unreasonable cost.</a:t>
            </a:r>
          </a:p>
        </p:txBody>
      </p:sp>
      <p:sp>
        <p:nvSpPr>
          <p:cNvPr id="11" name="Shape 9">
            <a:extLst>
              <a:ext uri="{FF2B5EF4-FFF2-40B4-BE49-F238E27FC236}">
                <a16:creationId xmlns:a16="http://schemas.microsoft.com/office/drawing/2014/main" id="{83B3424C-71E1-4F83-A828-FC062AB5D2AB}"/>
              </a:ext>
            </a:extLst>
          </p:cNvPr>
          <p:cNvSpPr/>
          <p:nvPr/>
        </p:nvSpPr>
        <p:spPr>
          <a:xfrm>
            <a:off x="548640" y="2852928"/>
            <a:ext cx="91440" cy="530352"/>
          </a:xfrm>
          <a:prstGeom prst="rect">
            <a:avLst/>
          </a:prstGeom>
          <a:solidFill>
            <a:srgbClr val="D90429"/>
          </a:solidFill>
          <a:ln/>
        </p:spPr>
        <p:txBody>
          <a:bodyPr/>
          <a:lstStyle/>
          <a:p>
            <a:endParaRPr lang="en-US"/>
          </a:p>
        </p:txBody>
      </p:sp>
      <p:sp>
        <p:nvSpPr>
          <p:cNvPr id="12" name="Text 10">
            <a:extLst>
              <a:ext uri="{FF2B5EF4-FFF2-40B4-BE49-F238E27FC236}">
                <a16:creationId xmlns:a16="http://schemas.microsoft.com/office/drawing/2014/main" id="{4E73E3A5-86A3-2885-8D7A-7438F3D8081C}"/>
              </a:ext>
            </a:extLst>
          </p:cNvPr>
          <p:cNvSpPr/>
          <p:nvPr/>
        </p:nvSpPr>
        <p:spPr>
          <a:xfrm>
            <a:off x="777240" y="2816352"/>
            <a:ext cx="2514600" cy="603504"/>
          </a:xfrm>
          <a:prstGeom prst="rect">
            <a:avLst/>
          </a:prstGeom>
          <a:noFill/>
          <a:ln/>
        </p:spPr>
        <p:txBody>
          <a:bodyPr wrap="square" lIns="0" tIns="0" rIns="0" bIns="0" rtlCol="0" anchor="t"/>
          <a:lstStyle/>
          <a:p>
            <a:pPr marL="0" indent="0" algn="l">
              <a:lnSpc>
                <a:spcPct val="95000"/>
              </a:lnSpc>
              <a:buNone/>
            </a:pPr>
            <a:r>
              <a:rPr lang="en-GB" sz="1250" b="1" dirty="0">
                <a:solidFill>
                  <a:srgbClr val="2B2D42"/>
                </a:solidFill>
                <a:latin typeface="Georgia" pitchFamily="34" charset="0"/>
                <a:ea typeface="Georgia" pitchFamily="34" charset="-122"/>
                <a:cs typeface="Georgia" pitchFamily="34" charset="-120"/>
              </a:rPr>
              <a:t>Permitted Use </a:t>
            </a:r>
            <a:endParaRPr lang="en-US" sz="1250" dirty="0"/>
          </a:p>
        </p:txBody>
      </p:sp>
      <p:sp>
        <p:nvSpPr>
          <p:cNvPr id="13" name="Text 11">
            <a:extLst>
              <a:ext uri="{FF2B5EF4-FFF2-40B4-BE49-F238E27FC236}">
                <a16:creationId xmlns:a16="http://schemas.microsoft.com/office/drawing/2014/main" id="{6A0C1B7F-C458-1350-7D99-F9E140DC700A}"/>
              </a:ext>
            </a:extLst>
          </p:cNvPr>
          <p:cNvSpPr/>
          <p:nvPr/>
        </p:nvSpPr>
        <p:spPr>
          <a:xfrm>
            <a:off x="3383280" y="2816352"/>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use the data only for authorized e-invoicing, reporting, storage, support, security, reconciliation, and compliance purposes. It shall not sell, monetize, profile, combine, disclose, or use the data for advertising, credit scoring, competitive intelligence, or an unrelated purpose.</a:t>
            </a:r>
          </a:p>
        </p:txBody>
      </p:sp>
      <p:sp>
        <p:nvSpPr>
          <p:cNvPr id="14" name="Shape 12">
            <a:extLst>
              <a:ext uri="{FF2B5EF4-FFF2-40B4-BE49-F238E27FC236}">
                <a16:creationId xmlns:a16="http://schemas.microsoft.com/office/drawing/2014/main" id="{CABE86AC-AAFC-EB85-BB54-690CDAAC5534}"/>
              </a:ext>
            </a:extLst>
          </p:cNvPr>
          <p:cNvSpPr/>
          <p:nvPr/>
        </p:nvSpPr>
        <p:spPr>
          <a:xfrm>
            <a:off x="548640" y="3529584"/>
            <a:ext cx="91440" cy="530352"/>
          </a:xfrm>
          <a:prstGeom prst="rect">
            <a:avLst/>
          </a:prstGeom>
          <a:solidFill>
            <a:srgbClr val="D90429"/>
          </a:solidFill>
          <a:ln/>
        </p:spPr>
        <p:txBody>
          <a:bodyPr/>
          <a:lstStyle/>
          <a:p>
            <a:endParaRPr lang="en-US"/>
          </a:p>
        </p:txBody>
      </p:sp>
      <p:sp>
        <p:nvSpPr>
          <p:cNvPr id="15" name="Text 13">
            <a:extLst>
              <a:ext uri="{FF2B5EF4-FFF2-40B4-BE49-F238E27FC236}">
                <a16:creationId xmlns:a16="http://schemas.microsoft.com/office/drawing/2014/main" id="{714D3E03-5FD0-CE3A-82A6-D634ABE4E714}"/>
              </a:ext>
            </a:extLst>
          </p:cNvPr>
          <p:cNvSpPr/>
          <p:nvPr/>
        </p:nvSpPr>
        <p:spPr>
          <a:xfrm>
            <a:off x="777240" y="3493008"/>
            <a:ext cx="2514600" cy="603504"/>
          </a:xfrm>
          <a:prstGeom prst="rect">
            <a:avLst/>
          </a:prstGeom>
          <a:noFill/>
          <a:ln/>
        </p:spPr>
        <p:txBody>
          <a:bodyPr wrap="square" lIns="0" tIns="0" rIns="0" bIns="0" rtlCol="0" anchor="t"/>
          <a:lstStyle/>
          <a:p>
            <a:pPr marL="0" indent="0" algn="l">
              <a:lnSpc>
                <a:spcPct val="95000"/>
              </a:lnSpc>
              <a:buNone/>
            </a:pPr>
            <a:r>
              <a:rPr lang="en-GB" sz="1250" b="1" dirty="0">
                <a:solidFill>
                  <a:srgbClr val="2B2D42"/>
                </a:solidFill>
                <a:latin typeface="Georgia" pitchFamily="34" charset="0"/>
                <a:ea typeface="Georgia" pitchFamily="34" charset="-122"/>
                <a:cs typeface="Georgia" pitchFamily="34" charset="-120"/>
              </a:rPr>
              <a:t>Personnel and Third-party Service Providers’ Disclosure </a:t>
            </a:r>
            <a:endParaRPr lang="en-US" sz="1250" dirty="0"/>
          </a:p>
        </p:txBody>
      </p:sp>
      <p:sp>
        <p:nvSpPr>
          <p:cNvPr id="16" name="Text 14">
            <a:extLst>
              <a:ext uri="{FF2B5EF4-FFF2-40B4-BE49-F238E27FC236}">
                <a16:creationId xmlns:a16="http://schemas.microsoft.com/office/drawing/2014/main" id="{FC05B92B-1EF0-92CA-DE7F-A67D7182DC97}"/>
              </a:ext>
            </a:extLst>
          </p:cNvPr>
          <p:cNvSpPr/>
          <p:nvPr/>
        </p:nvSpPr>
        <p:spPr>
          <a:xfrm>
            <a:off x="3383280" y="3493008"/>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No affiliate, hosting provider, cloud provider, subcontractor, or foreign processor may access or process covered data unless disclosed to and approved by the BIR and contractually bound to obligations at least equivalent to those imposed on the ESP. </a:t>
            </a:r>
            <a:endParaRPr lang="en-US" sz="1000" dirty="0"/>
          </a:p>
        </p:txBody>
      </p:sp>
      <p:sp>
        <p:nvSpPr>
          <p:cNvPr id="17" name="Shape 15">
            <a:extLst>
              <a:ext uri="{FF2B5EF4-FFF2-40B4-BE49-F238E27FC236}">
                <a16:creationId xmlns:a16="http://schemas.microsoft.com/office/drawing/2014/main" id="{0FB7B7E8-4D29-98F3-D250-067675527FF5}"/>
              </a:ext>
            </a:extLst>
          </p:cNvPr>
          <p:cNvSpPr/>
          <p:nvPr/>
        </p:nvSpPr>
        <p:spPr>
          <a:xfrm>
            <a:off x="548640" y="4206240"/>
            <a:ext cx="91440" cy="530352"/>
          </a:xfrm>
          <a:prstGeom prst="rect">
            <a:avLst/>
          </a:prstGeom>
          <a:solidFill>
            <a:srgbClr val="D90429"/>
          </a:solidFill>
          <a:ln/>
        </p:spPr>
        <p:txBody>
          <a:bodyPr/>
          <a:lstStyle/>
          <a:p>
            <a:endParaRPr lang="en-US"/>
          </a:p>
        </p:txBody>
      </p:sp>
      <p:sp>
        <p:nvSpPr>
          <p:cNvPr id="18" name="Text 16">
            <a:extLst>
              <a:ext uri="{FF2B5EF4-FFF2-40B4-BE49-F238E27FC236}">
                <a16:creationId xmlns:a16="http://schemas.microsoft.com/office/drawing/2014/main" id="{FADE6A86-0B84-5FD8-8717-651EF9ED43BB}"/>
              </a:ext>
            </a:extLst>
          </p:cNvPr>
          <p:cNvSpPr/>
          <p:nvPr/>
        </p:nvSpPr>
        <p:spPr>
          <a:xfrm>
            <a:off x="777240" y="4169664"/>
            <a:ext cx="2514600" cy="603504"/>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Preservation of Records </a:t>
            </a:r>
            <a:endParaRPr lang="en-US" sz="1250" dirty="0"/>
          </a:p>
        </p:txBody>
      </p:sp>
      <p:sp>
        <p:nvSpPr>
          <p:cNvPr id="19" name="Text 17">
            <a:extLst>
              <a:ext uri="{FF2B5EF4-FFF2-40B4-BE49-F238E27FC236}">
                <a16:creationId xmlns:a16="http://schemas.microsoft.com/office/drawing/2014/main" id="{173C15F3-5FD2-CB8F-A56D-8EE9997388A2}"/>
              </a:ext>
            </a:extLst>
          </p:cNvPr>
          <p:cNvSpPr/>
          <p:nvPr/>
        </p:nvSpPr>
        <p:spPr>
          <a:xfrm>
            <a:off x="3383280" y="4169664"/>
            <a:ext cx="5303520" cy="640080"/>
          </a:xfrm>
          <a:prstGeom prst="rect">
            <a:avLst/>
          </a:prstGeom>
          <a:noFill/>
          <a:ln/>
        </p:spPr>
        <p:txBody>
          <a:bodyPr wrap="square" lIns="0" tIns="0" rIns="0" bIns="0" rtlCol="0" anchor="t"/>
          <a:lstStyle/>
          <a:p>
            <a:pPr marL="0" indent="0" algn="l">
              <a:lnSpc>
                <a:spcPct val="100000"/>
              </a:lnSpc>
              <a:buNone/>
            </a:pPr>
            <a:r>
              <a:rPr lang="en-GB" sz="1000" dirty="0">
                <a:latin typeface="Calibri" pitchFamily="34" charset="0"/>
                <a:ea typeface="Calibri" pitchFamily="34" charset="-122"/>
                <a:cs typeface="Calibri" pitchFamily="34" charset="-120"/>
              </a:rPr>
              <a:t>The ESP shall support legal hold or preservation orders for records subject to audit, investigation, enforcement, litigation, or fraud review. </a:t>
            </a:r>
          </a:p>
        </p:txBody>
      </p:sp>
      <p:sp>
        <p:nvSpPr>
          <p:cNvPr id="20" name="Shape 18">
            <a:extLst>
              <a:ext uri="{FF2B5EF4-FFF2-40B4-BE49-F238E27FC236}">
                <a16:creationId xmlns:a16="http://schemas.microsoft.com/office/drawing/2014/main" id="{B4B18C26-C406-731B-C26A-05C0643F7296}"/>
              </a:ext>
            </a:extLst>
          </p:cNvPr>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1" name="Text 19">
            <a:extLst>
              <a:ext uri="{FF2B5EF4-FFF2-40B4-BE49-F238E27FC236}">
                <a16:creationId xmlns:a16="http://schemas.microsoft.com/office/drawing/2014/main" id="{EA6BF1E4-76A3-DE93-1617-85C9E35A1363}"/>
              </a:ext>
            </a:extLst>
          </p:cNvPr>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Tree>
    <p:extLst>
      <p:ext uri="{BB962C8B-B14F-4D97-AF65-F5344CB8AC3E}">
        <p14:creationId xmlns:p14="http://schemas.microsoft.com/office/powerpoint/2010/main" val="1356259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ENFORCEMENT</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Accountability, Liability &amp; Sanctions</a:t>
            </a:r>
            <a:endParaRPr lang="en-US" sz="3000" dirty="0"/>
          </a:p>
        </p:txBody>
      </p:sp>
      <p:sp>
        <p:nvSpPr>
          <p:cNvPr id="5" name="Text 3"/>
          <p:cNvSpPr/>
          <p:nvPr/>
        </p:nvSpPr>
        <p:spPr>
          <a:xfrm>
            <a:off x="548640" y="1554480"/>
            <a:ext cx="4023360" cy="274320"/>
          </a:xfrm>
          <a:prstGeom prst="rect">
            <a:avLst/>
          </a:prstGeom>
          <a:noFill/>
          <a:ln/>
        </p:spPr>
        <p:txBody>
          <a:bodyPr wrap="square" lIns="0" tIns="0" rIns="0" bIns="0" rtlCol="0" anchor="ctr"/>
          <a:lstStyle/>
          <a:p>
            <a:pPr marL="0" indent="0" algn="l">
              <a:buNone/>
            </a:pPr>
            <a:r>
              <a:rPr lang="en-US" sz="1200" b="1" kern="0" spc="100" dirty="0">
                <a:solidFill>
                  <a:srgbClr val="D90429"/>
                </a:solidFill>
                <a:latin typeface="Calibri" pitchFamily="34" charset="0"/>
                <a:ea typeface="Calibri" pitchFamily="34" charset="-122"/>
                <a:cs typeface="Calibri" pitchFamily="34" charset="-120"/>
              </a:rPr>
              <a:t>ESP ACCOUNTABILITY</a:t>
            </a:r>
            <a:endParaRPr lang="en-US" sz="1200" dirty="0"/>
          </a:p>
        </p:txBody>
      </p:sp>
      <p:sp>
        <p:nvSpPr>
          <p:cNvPr id="6" name="Text 4"/>
          <p:cNvSpPr/>
          <p:nvPr/>
        </p:nvSpPr>
        <p:spPr>
          <a:xfrm>
            <a:off x="548640" y="1874520"/>
            <a:ext cx="228600" cy="274320"/>
          </a:xfrm>
          <a:prstGeom prst="rect">
            <a:avLst/>
          </a:prstGeom>
          <a:noFill/>
          <a:ln/>
        </p:spPr>
        <p:txBody>
          <a:bodyPr wrap="square" lIns="0" tIns="0" rIns="0" bIns="0" rtlCol="0" anchor="t"/>
          <a:lstStyle/>
          <a:p>
            <a:pPr marL="0" indent="0" algn="l">
              <a:buNone/>
            </a:pPr>
            <a:r>
              <a:rPr lang="en-US" sz="1000" dirty="0">
                <a:solidFill>
                  <a:srgbClr val="D90429"/>
                </a:solidFill>
              </a:rPr>
              <a:t>▪</a:t>
            </a:r>
            <a:endParaRPr lang="en-US" sz="1000" dirty="0"/>
          </a:p>
        </p:txBody>
      </p:sp>
      <p:sp>
        <p:nvSpPr>
          <p:cNvPr id="7" name="Text 5"/>
          <p:cNvSpPr/>
          <p:nvPr/>
        </p:nvSpPr>
        <p:spPr>
          <a:xfrm>
            <a:off x="822960" y="1874520"/>
            <a:ext cx="3749040" cy="658368"/>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Directly accountable to the BIR and client-taxpayers for compliance.</a:t>
            </a:r>
            <a:endParaRPr lang="en-US" sz="1050" dirty="0"/>
          </a:p>
        </p:txBody>
      </p:sp>
      <p:sp>
        <p:nvSpPr>
          <p:cNvPr id="8" name="Text 6"/>
          <p:cNvSpPr/>
          <p:nvPr/>
        </p:nvSpPr>
        <p:spPr>
          <a:xfrm>
            <a:off x="548640" y="2551176"/>
            <a:ext cx="228600" cy="274320"/>
          </a:xfrm>
          <a:prstGeom prst="rect">
            <a:avLst/>
          </a:prstGeom>
          <a:noFill/>
          <a:ln/>
        </p:spPr>
        <p:txBody>
          <a:bodyPr wrap="square" lIns="0" tIns="0" rIns="0" bIns="0" rtlCol="0" anchor="t"/>
          <a:lstStyle/>
          <a:p>
            <a:pPr marL="0" indent="0" algn="l">
              <a:buNone/>
            </a:pPr>
            <a:r>
              <a:rPr lang="en-US" sz="1000" dirty="0">
                <a:solidFill>
                  <a:srgbClr val="D90429"/>
                </a:solidFill>
              </a:rPr>
              <a:t>▪</a:t>
            </a:r>
            <a:endParaRPr lang="en-US" sz="1000" dirty="0"/>
          </a:p>
        </p:txBody>
      </p:sp>
      <p:sp>
        <p:nvSpPr>
          <p:cNvPr id="9" name="Text 7"/>
          <p:cNvSpPr/>
          <p:nvPr/>
        </p:nvSpPr>
        <p:spPr>
          <a:xfrm>
            <a:off x="822960" y="2551176"/>
            <a:ext cx="3749040" cy="658368"/>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Liable for fraud, breach, unauthorized data use, and system manipulation such as sales suppression or invoice falsification.</a:t>
            </a:r>
            <a:endParaRPr lang="en-US" sz="1050" dirty="0"/>
          </a:p>
        </p:txBody>
      </p:sp>
      <p:sp>
        <p:nvSpPr>
          <p:cNvPr id="10" name="Text 8"/>
          <p:cNvSpPr/>
          <p:nvPr/>
        </p:nvSpPr>
        <p:spPr>
          <a:xfrm>
            <a:off x="548640" y="3227832"/>
            <a:ext cx="228600" cy="274320"/>
          </a:xfrm>
          <a:prstGeom prst="rect">
            <a:avLst/>
          </a:prstGeom>
          <a:noFill/>
          <a:ln/>
        </p:spPr>
        <p:txBody>
          <a:bodyPr wrap="square" lIns="0" tIns="0" rIns="0" bIns="0" rtlCol="0" anchor="t"/>
          <a:lstStyle/>
          <a:p>
            <a:pPr marL="0" indent="0" algn="l">
              <a:buNone/>
            </a:pPr>
            <a:r>
              <a:rPr lang="en-US" sz="1000" dirty="0">
                <a:solidFill>
                  <a:srgbClr val="D90429"/>
                </a:solidFill>
              </a:rPr>
              <a:t>▪</a:t>
            </a:r>
            <a:endParaRPr lang="en-US" sz="1000" dirty="0"/>
          </a:p>
        </p:txBody>
      </p:sp>
      <p:sp>
        <p:nvSpPr>
          <p:cNvPr id="11" name="Text 9"/>
          <p:cNvSpPr/>
          <p:nvPr/>
        </p:nvSpPr>
        <p:spPr>
          <a:xfrm>
            <a:off x="822960" y="3227832"/>
            <a:ext cx="3749040" cy="658368"/>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May be required to post a performance bond, cyber-risk, or professional-liability insurance.</a:t>
            </a:r>
            <a:endParaRPr lang="en-US" sz="1050" dirty="0"/>
          </a:p>
        </p:txBody>
      </p:sp>
      <p:sp>
        <p:nvSpPr>
          <p:cNvPr id="12" name="Text 10"/>
          <p:cNvSpPr/>
          <p:nvPr/>
        </p:nvSpPr>
        <p:spPr>
          <a:xfrm>
            <a:off x="548640" y="3904488"/>
            <a:ext cx="228600" cy="274320"/>
          </a:xfrm>
          <a:prstGeom prst="rect">
            <a:avLst/>
          </a:prstGeom>
          <a:noFill/>
          <a:ln/>
        </p:spPr>
        <p:txBody>
          <a:bodyPr wrap="square" lIns="0" tIns="0" rIns="0" bIns="0" rtlCol="0" anchor="t"/>
          <a:lstStyle/>
          <a:p>
            <a:pPr marL="0" indent="0" algn="l">
              <a:buNone/>
            </a:pPr>
            <a:r>
              <a:rPr lang="en-US" sz="1000" dirty="0">
                <a:solidFill>
                  <a:srgbClr val="D90429"/>
                </a:solidFill>
              </a:rPr>
              <a:t>▪</a:t>
            </a:r>
            <a:endParaRPr lang="en-US" sz="1000" dirty="0"/>
          </a:p>
        </p:txBody>
      </p:sp>
      <p:sp>
        <p:nvSpPr>
          <p:cNvPr id="13" name="Text 11"/>
          <p:cNvSpPr/>
          <p:nvPr/>
        </p:nvSpPr>
        <p:spPr>
          <a:xfrm>
            <a:off x="822960" y="3904488"/>
            <a:ext cx="3749040" cy="658368"/>
          </a:xfrm>
          <a:prstGeom prst="rect">
            <a:avLst/>
          </a:prstGeom>
          <a:noFill/>
          <a:ln/>
        </p:spPr>
        <p:txBody>
          <a:bodyPr wrap="square" lIns="0" tIns="0" rIns="0" bIns="0" rtlCol="0" anchor="t"/>
          <a:lstStyle/>
          <a:p>
            <a:pPr marL="0" indent="0" algn="l">
              <a:lnSpc>
                <a:spcPct val="100000"/>
              </a:lnSpc>
              <a:buNone/>
            </a:pPr>
            <a:r>
              <a:rPr lang="en-US" sz="1050" dirty="0">
                <a:solidFill>
                  <a:srgbClr val="2B2D42"/>
                </a:solidFill>
                <a:latin typeface="Calibri" pitchFamily="34" charset="0"/>
                <a:ea typeface="Calibri" pitchFamily="34" charset="-122"/>
                <a:cs typeface="Calibri" pitchFamily="34" charset="-120"/>
              </a:rPr>
              <a:t>Using an ESP does not relieve the taxpayer of statutory tax responsibilities.</a:t>
            </a:r>
            <a:endParaRPr lang="en-US" sz="1050" dirty="0"/>
          </a:p>
        </p:txBody>
      </p:sp>
      <p:sp>
        <p:nvSpPr>
          <p:cNvPr id="14" name="Shape 12"/>
          <p:cNvSpPr/>
          <p:nvPr/>
        </p:nvSpPr>
        <p:spPr>
          <a:xfrm>
            <a:off x="4846320" y="1554480"/>
            <a:ext cx="3794760" cy="3063240"/>
          </a:xfrm>
          <a:prstGeom prst="roundRect">
            <a:avLst>
              <a:gd name="adj" fmla="val 2985"/>
            </a:avLst>
          </a:prstGeom>
          <a:solidFill>
            <a:srgbClr val="2B2D42"/>
          </a:solidFill>
          <a:ln/>
        </p:spPr>
        <p:txBody>
          <a:bodyPr/>
          <a:lstStyle/>
          <a:p>
            <a:endParaRPr lang="en-US"/>
          </a:p>
        </p:txBody>
      </p:sp>
      <p:sp>
        <p:nvSpPr>
          <p:cNvPr id="15" name="Text 13"/>
          <p:cNvSpPr/>
          <p:nvPr/>
        </p:nvSpPr>
        <p:spPr>
          <a:xfrm>
            <a:off x="5074920" y="1783080"/>
            <a:ext cx="3383280" cy="274320"/>
          </a:xfrm>
          <a:prstGeom prst="rect">
            <a:avLst/>
          </a:prstGeom>
          <a:noFill/>
          <a:ln/>
        </p:spPr>
        <p:txBody>
          <a:bodyPr wrap="square" lIns="0" tIns="0" rIns="0" bIns="0" rtlCol="0" anchor="ctr"/>
          <a:lstStyle/>
          <a:p>
            <a:pPr marL="0" indent="0" algn="l">
              <a:buNone/>
            </a:pPr>
            <a:r>
              <a:rPr lang="en-US" sz="1150" b="1" kern="0" spc="100" dirty="0">
                <a:solidFill>
                  <a:srgbClr val="D90429"/>
                </a:solidFill>
                <a:latin typeface="Calibri" pitchFamily="34" charset="0"/>
                <a:ea typeface="Calibri" pitchFamily="34" charset="-122"/>
                <a:cs typeface="Calibri" pitchFamily="34" charset="-120"/>
              </a:rPr>
              <a:t>CORRECTIVE ACTION &amp; SANCTIONS</a:t>
            </a:r>
            <a:endParaRPr lang="en-US" sz="1150" dirty="0"/>
          </a:p>
        </p:txBody>
      </p:sp>
      <p:sp>
        <p:nvSpPr>
          <p:cNvPr id="16" name="Text 14"/>
          <p:cNvSpPr/>
          <p:nvPr/>
        </p:nvSpPr>
        <p:spPr>
          <a:xfrm>
            <a:off x="5074920" y="2194560"/>
            <a:ext cx="274320" cy="320040"/>
          </a:xfrm>
          <a:prstGeom prst="rect">
            <a:avLst/>
          </a:prstGeom>
          <a:noFill/>
          <a:ln/>
        </p:spPr>
        <p:txBody>
          <a:bodyPr wrap="square" lIns="0" tIns="0" rIns="0" bIns="0" rtlCol="0" anchor="t"/>
          <a:lstStyle/>
          <a:p>
            <a:pPr marL="0" indent="0" algn="l">
              <a:buNone/>
            </a:pPr>
            <a:r>
              <a:rPr lang="en-US" sz="1300" b="1" dirty="0">
                <a:solidFill>
                  <a:srgbClr val="8D99AE"/>
                </a:solidFill>
              </a:rPr>
              <a:t>→</a:t>
            </a:r>
            <a:endParaRPr lang="en-US" sz="1300" dirty="0"/>
          </a:p>
        </p:txBody>
      </p:sp>
      <p:sp>
        <p:nvSpPr>
          <p:cNvPr id="17" name="Text 15"/>
          <p:cNvSpPr/>
          <p:nvPr/>
        </p:nvSpPr>
        <p:spPr>
          <a:xfrm>
            <a:off x="5394960" y="2194560"/>
            <a:ext cx="3063240" cy="457200"/>
          </a:xfrm>
          <a:prstGeom prst="rect">
            <a:avLst/>
          </a:prstGeom>
          <a:noFill/>
          <a:ln/>
        </p:spPr>
        <p:txBody>
          <a:bodyPr wrap="square" lIns="0" tIns="0" rIns="0" bIns="0" rtlCol="0" anchor="t"/>
          <a:lstStyle/>
          <a:p>
            <a:pPr marL="0" indent="0" algn="l">
              <a:lnSpc>
                <a:spcPct val="100000"/>
              </a:lnSpc>
              <a:buNone/>
            </a:pPr>
            <a:r>
              <a:rPr lang="en-US" sz="1100" dirty="0">
                <a:solidFill>
                  <a:srgbClr val="FFFFFF"/>
                </a:solidFill>
                <a:latin typeface="Calibri" pitchFamily="34" charset="0"/>
                <a:ea typeface="Calibri" pitchFamily="34" charset="-122"/>
                <a:cs typeface="Calibri" pitchFamily="34" charset="-120"/>
              </a:rPr>
              <a:t>Corrective action or restricted onboarding</a:t>
            </a:r>
            <a:endParaRPr lang="en-US" sz="1100" dirty="0"/>
          </a:p>
        </p:txBody>
      </p:sp>
      <p:sp>
        <p:nvSpPr>
          <p:cNvPr id="18" name="Text 16"/>
          <p:cNvSpPr/>
          <p:nvPr/>
        </p:nvSpPr>
        <p:spPr>
          <a:xfrm>
            <a:off x="5074920" y="2651760"/>
            <a:ext cx="274320" cy="320040"/>
          </a:xfrm>
          <a:prstGeom prst="rect">
            <a:avLst/>
          </a:prstGeom>
          <a:noFill/>
          <a:ln/>
        </p:spPr>
        <p:txBody>
          <a:bodyPr wrap="square" lIns="0" tIns="0" rIns="0" bIns="0" rtlCol="0" anchor="t"/>
          <a:lstStyle/>
          <a:p>
            <a:pPr marL="0" indent="0" algn="l">
              <a:buNone/>
            </a:pPr>
            <a:r>
              <a:rPr lang="en-US" sz="1300" b="1" dirty="0">
                <a:solidFill>
                  <a:srgbClr val="8D99AE"/>
                </a:solidFill>
              </a:rPr>
              <a:t>→</a:t>
            </a:r>
            <a:endParaRPr lang="en-US" sz="1300" dirty="0"/>
          </a:p>
        </p:txBody>
      </p:sp>
      <p:sp>
        <p:nvSpPr>
          <p:cNvPr id="19" name="Text 17"/>
          <p:cNvSpPr/>
          <p:nvPr/>
        </p:nvSpPr>
        <p:spPr>
          <a:xfrm>
            <a:off x="5394960" y="2651760"/>
            <a:ext cx="3063240" cy="457200"/>
          </a:xfrm>
          <a:prstGeom prst="rect">
            <a:avLst/>
          </a:prstGeom>
          <a:noFill/>
          <a:ln/>
        </p:spPr>
        <p:txBody>
          <a:bodyPr wrap="square" lIns="0" tIns="0" rIns="0" bIns="0" rtlCol="0" anchor="t"/>
          <a:lstStyle/>
          <a:p>
            <a:pPr marL="0" indent="0" algn="l">
              <a:lnSpc>
                <a:spcPct val="100000"/>
              </a:lnSpc>
              <a:buNone/>
            </a:pPr>
            <a:r>
              <a:rPr lang="en-US" sz="1100" dirty="0">
                <a:solidFill>
                  <a:srgbClr val="FFFFFF"/>
                </a:solidFill>
                <a:latin typeface="Calibri" pitchFamily="34" charset="0"/>
                <a:ea typeface="Calibri" pitchFamily="34" charset="-122"/>
                <a:cs typeface="Calibri" pitchFamily="34" charset="-120"/>
              </a:rPr>
              <a:t>Suspension of accreditation</a:t>
            </a:r>
            <a:endParaRPr lang="en-US" sz="1100" dirty="0"/>
          </a:p>
        </p:txBody>
      </p:sp>
      <p:sp>
        <p:nvSpPr>
          <p:cNvPr id="20" name="Text 18"/>
          <p:cNvSpPr/>
          <p:nvPr/>
        </p:nvSpPr>
        <p:spPr>
          <a:xfrm>
            <a:off x="5074920" y="3108960"/>
            <a:ext cx="274320" cy="320040"/>
          </a:xfrm>
          <a:prstGeom prst="rect">
            <a:avLst/>
          </a:prstGeom>
          <a:noFill/>
          <a:ln/>
        </p:spPr>
        <p:txBody>
          <a:bodyPr wrap="square" lIns="0" tIns="0" rIns="0" bIns="0" rtlCol="0" anchor="t"/>
          <a:lstStyle/>
          <a:p>
            <a:pPr marL="0" indent="0" algn="l">
              <a:buNone/>
            </a:pPr>
            <a:r>
              <a:rPr lang="en-US" sz="1300" b="1" dirty="0">
                <a:solidFill>
                  <a:srgbClr val="8D99AE"/>
                </a:solidFill>
              </a:rPr>
              <a:t>→</a:t>
            </a:r>
            <a:endParaRPr lang="en-US" sz="1300" dirty="0"/>
          </a:p>
        </p:txBody>
      </p:sp>
      <p:sp>
        <p:nvSpPr>
          <p:cNvPr id="21" name="Text 19"/>
          <p:cNvSpPr/>
          <p:nvPr/>
        </p:nvSpPr>
        <p:spPr>
          <a:xfrm>
            <a:off x="5394960" y="3108960"/>
            <a:ext cx="3063240" cy="457200"/>
          </a:xfrm>
          <a:prstGeom prst="rect">
            <a:avLst/>
          </a:prstGeom>
          <a:noFill/>
          <a:ln/>
        </p:spPr>
        <p:txBody>
          <a:bodyPr wrap="square" lIns="0" tIns="0" rIns="0" bIns="0" rtlCol="0" anchor="t"/>
          <a:lstStyle/>
          <a:p>
            <a:pPr marL="0" indent="0" algn="l">
              <a:lnSpc>
                <a:spcPct val="100000"/>
              </a:lnSpc>
              <a:buNone/>
            </a:pPr>
            <a:r>
              <a:rPr lang="en-US" sz="1100" dirty="0">
                <a:solidFill>
                  <a:srgbClr val="FFFFFF"/>
                </a:solidFill>
                <a:latin typeface="Calibri" pitchFamily="34" charset="0"/>
                <a:ea typeface="Calibri" pitchFamily="34" charset="-122"/>
                <a:cs typeface="Calibri" pitchFamily="34" charset="-120"/>
              </a:rPr>
              <a:t>Revocation of accreditation</a:t>
            </a:r>
            <a:endParaRPr lang="en-US" sz="1100" dirty="0"/>
          </a:p>
        </p:txBody>
      </p:sp>
      <p:sp>
        <p:nvSpPr>
          <p:cNvPr id="22" name="Text 20"/>
          <p:cNvSpPr/>
          <p:nvPr/>
        </p:nvSpPr>
        <p:spPr>
          <a:xfrm>
            <a:off x="5074920" y="3566160"/>
            <a:ext cx="274320" cy="320040"/>
          </a:xfrm>
          <a:prstGeom prst="rect">
            <a:avLst/>
          </a:prstGeom>
          <a:noFill/>
          <a:ln/>
        </p:spPr>
        <p:txBody>
          <a:bodyPr wrap="square" lIns="0" tIns="0" rIns="0" bIns="0" rtlCol="0" anchor="t"/>
          <a:lstStyle/>
          <a:p>
            <a:pPr marL="0" indent="0" algn="l">
              <a:buNone/>
            </a:pPr>
            <a:r>
              <a:rPr lang="en-US" sz="1300" b="1" dirty="0">
                <a:solidFill>
                  <a:srgbClr val="8D99AE"/>
                </a:solidFill>
              </a:rPr>
              <a:t>→</a:t>
            </a:r>
            <a:endParaRPr lang="en-US" sz="1300" dirty="0"/>
          </a:p>
        </p:txBody>
      </p:sp>
      <p:sp>
        <p:nvSpPr>
          <p:cNvPr id="23" name="Text 21"/>
          <p:cNvSpPr/>
          <p:nvPr/>
        </p:nvSpPr>
        <p:spPr>
          <a:xfrm>
            <a:off x="5394960" y="3566160"/>
            <a:ext cx="3063240" cy="457200"/>
          </a:xfrm>
          <a:prstGeom prst="rect">
            <a:avLst/>
          </a:prstGeom>
          <a:noFill/>
          <a:ln/>
        </p:spPr>
        <p:txBody>
          <a:bodyPr wrap="square" lIns="0" tIns="0" rIns="0" bIns="0" rtlCol="0" anchor="t"/>
          <a:lstStyle/>
          <a:p>
            <a:pPr marL="0" indent="0" algn="l">
              <a:lnSpc>
                <a:spcPct val="100000"/>
              </a:lnSpc>
              <a:buNone/>
            </a:pPr>
            <a:r>
              <a:rPr lang="en-US" sz="1100" dirty="0">
                <a:solidFill>
                  <a:srgbClr val="FFFFFF"/>
                </a:solidFill>
                <a:latin typeface="Calibri" pitchFamily="34" charset="0"/>
                <a:ea typeface="Calibri" pitchFamily="34" charset="-122"/>
                <a:cs typeface="Calibri" pitchFamily="34" charset="-120"/>
              </a:rPr>
              <a:t>Immediate temporary suspension for imminent risk</a:t>
            </a:r>
            <a:endParaRPr lang="en-US" sz="1100" dirty="0"/>
          </a:p>
        </p:txBody>
      </p:sp>
      <p:sp>
        <p:nvSpPr>
          <p:cNvPr id="24" name="Text 22"/>
          <p:cNvSpPr/>
          <p:nvPr/>
        </p:nvSpPr>
        <p:spPr>
          <a:xfrm>
            <a:off x="5074920" y="4023360"/>
            <a:ext cx="274320" cy="320040"/>
          </a:xfrm>
          <a:prstGeom prst="rect">
            <a:avLst/>
          </a:prstGeom>
          <a:noFill/>
          <a:ln/>
        </p:spPr>
        <p:txBody>
          <a:bodyPr wrap="square" lIns="0" tIns="0" rIns="0" bIns="0" rtlCol="0" anchor="t"/>
          <a:lstStyle/>
          <a:p>
            <a:pPr marL="0" indent="0" algn="l">
              <a:buNone/>
            </a:pPr>
            <a:r>
              <a:rPr lang="en-US" sz="1300" b="1" dirty="0">
                <a:solidFill>
                  <a:srgbClr val="8D99AE"/>
                </a:solidFill>
              </a:rPr>
              <a:t>→</a:t>
            </a:r>
            <a:endParaRPr lang="en-US" sz="1300" dirty="0"/>
          </a:p>
        </p:txBody>
      </p:sp>
      <p:sp>
        <p:nvSpPr>
          <p:cNvPr id="25" name="Text 23"/>
          <p:cNvSpPr/>
          <p:nvPr/>
        </p:nvSpPr>
        <p:spPr>
          <a:xfrm>
            <a:off x="5394960" y="4023360"/>
            <a:ext cx="3063240" cy="457200"/>
          </a:xfrm>
          <a:prstGeom prst="rect">
            <a:avLst/>
          </a:prstGeom>
          <a:noFill/>
          <a:ln/>
        </p:spPr>
        <p:txBody>
          <a:bodyPr wrap="square" lIns="0" tIns="0" rIns="0" bIns="0" rtlCol="0" anchor="t"/>
          <a:lstStyle/>
          <a:p>
            <a:pPr marL="0" indent="0" algn="l">
              <a:lnSpc>
                <a:spcPct val="100000"/>
              </a:lnSpc>
              <a:buNone/>
            </a:pPr>
            <a:r>
              <a:rPr lang="en-US" sz="1100" dirty="0">
                <a:solidFill>
                  <a:srgbClr val="FFFFFF"/>
                </a:solidFill>
                <a:latin typeface="Calibri" pitchFamily="34" charset="0"/>
                <a:ea typeface="Calibri" pitchFamily="34" charset="-122"/>
                <a:cs typeface="Calibri" pitchFamily="34" charset="-120"/>
              </a:rPr>
              <a:t>Without prejudice to civil, criminal, tax, or data-privacy liability</a:t>
            </a:r>
            <a:endParaRPr lang="en-US" sz="1100" dirty="0"/>
          </a:p>
        </p:txBody>
      </p:sp>
      <p:sp>
        <p:nvSpPr>
          <p:cNvPr id="26" name="Shape 24"/>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7" name="Text 25"/>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6">
    <p:bg>
      <p:bgPr>
        <a:solidFill>
          <a:srgbClr val="2B2D42"/>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D90429"/>
          </a:solidFill>
          <a:ln/>
        </p:spPr>
        <p:txBody>
          <a:bodyPr/>
          <a:lstStyle/>
          <a:p>
            <a:endParaRPr lang="en-US"/>
          </a:p>
        </p:txBody>
      </p:sp>
      <p:sp>
        <p:nvSpPr>
          <p:cNvPr id="3" name="Text 1"/>
          <p:cNvSpPr/>
          <p:nvPr/>
        </p:nvSpPr>
        <p:spPr>
          <a:xfrm>
            <a:off x="274320" y="1645920"/>
            <a:ext cx="2651760" cy="1828800"/>
          </a:xfrm>
          <a:prstGeom prst="rect">
            <a:avLst/>
          </a:prstGeom>
          <a:noFill/>
          <a:ln/>
        </p:spPr>
        <p:txBody>
          <a:bodyPr wrap="square" rtlCol="0" anchor="ctr"/>
          <a:lstStyle/>
          <a:p>
            <a:pPr marL="0" indent="0" algn="l">
              <a:buNone/>
            </a:pPr>
            <a:r>
              <a:rPr lang="en-US" sz="15000" b="1" dirty="0">
                <a:solidFill>
                  <a:srgbClr val="FFFFFF"/>
                </a:solidFill>
                <a:latin typeface="Georgia" pitchFamily="34" charset="0"/>
                <a:ea typeface="Georgia" pitchFamily="34" charset="-122"/>
                <a:cs typeface="Georgia" pitchFamily="34" charset="-120"/>
              </a:rPr>
              <a:t>03</a:t>
            </a:r>
            <a:endParaRPr lang="en-US" sz="15000" dirty="0"/>
          </a:p>
        </p:txBody>
      </p:sp>
      <p:sp>
        <p:nvSpPr>
          <p:cNvPr id="4" name="Text 2"/>
          <p:cNvSpPr/>
          <p:nvPr/>
        </p:nvSpPr>
        <p:spPr>
          <a:xfrm>
            <a:off x="3566160" y="1920240"/>
            <a:ext cx="5120640" cy="320040"/>
          </a:xfrm>
          <a:prstGeom prst="rect">
            <a:avLst/>
          </a:prstGeom>
          <a:noFill/>
          <a:ln/>
        </p:spPr>
        <p:txBody>
          <a:bodyPr wrap="square" lIns="0" tIns="0" rIns="0" bIns="0" rtlCol="0" anchor="ctr"/>
          <a:lstStyle/>
          <a:p>
            <a:pPr marL="0" indent="0" algn="l">
              <a:buNone/>
            </a:pPr>
            <a:r>
              <a:rPr lang="en-US" sz="1300" b="1" kern="0" spc="300" dirty="0">
                <a:solidFill>
                  <a:srgbClr val="8D99AE"/>
                </a:solidFill>
                <a:latin typeface="Calibri" pitchFamily="34" charset="0"/>
                <a:ea typeface="Calibri" pitchFamily="34" charset="-122"/>
                <a:cs typeface="Calibri" pitchFamily="34" charset="-120"/>
              </a:rPr>
              <a:t>ANNEX A</a:t>
            </a:r>
            <a:endParaRPr lang="en-US" sz="1300" dirty="0"/>
          </a:p>
        </p:txBody>
      </p:sp>
      <p:sp>
        <p:nvSpPr>
          <p:cNvPr id="5" name="Text 3"/>
          <p:cNvSpPr/>
          <p:nvPr/>
        </p:nvSpPr>
        <p:spPr>
          <a:xfrm>
            <a:off x="3566160" y="2240280"/>
            <a:ext cx="5394960" cy="822960"/>
          </a:xfrm>
          <a:prstGeom prst="rect">
            <a:avLst/>
          </a:prstGeom>
          <a:noFill/>
          <a:ln/>
        </p:spPr>
        <p:txBody>
          <a:bodyPr wrap="square" lIns="0" tIns="0" rIns="0" bIns="0" rtlCol="0" anchor="t"/>
          <a:lstStyle/>
          <a:p>
            <a:pPr marL="0" indent="0" algn="l">
              <a:buNone/>
            </a:pPr>
            <a:r>
              <a:rPr lang="en-US" sz="3600" b="1" dirty="0">
                <a:solidFill>
                  <a:srgbClr val="FFFFFF"/>
                </a:solidFill>
                <a:latin typeface="Georgia" pitchFamily="34" charset="0"/>
                <a:ea typeface="Georgia" pitchFamily="34" charset="-122"/>
                <a:cs typeface="Georgia" pitchFamily="34" charset="-120"/>
              </a:rPr>
              <a:t>Checklist of Requirements</a:t>
            </a:r>
            <a:endParaRPr lang="en-US" sz="3600" dirty="0"/>
          </a:p>
        </p:txBody>
      </p:sp>
      <p:sp>
        <p:nvSpPr>
          <p:cNvPr id="6" name="Text 4"/>
          <p:cNvSpPr/>
          <p:nvPr/>
        </p:nvSpPr>
        <p:spPr>
          <a:xfrm>
            <a:off x="3566160" y="3378550"/>
            <a:ext cx="5120640" cy="1005840"/>
          </a:xfrm>
          <a:prstGeom prst="rect">
            <a:avLst/>
          </a:prstGeom>
          <a:noFill/>
          <a:ln/>
        </p:spPr>
        <p:txBody>
          <a:bodyPr wrap="square" lIns="0" tIns="0" rIns="0" bIns="0" rtlCol="0" anchor="t"/>
          <a:lstStyle/>
          <a:p>
            <a:pPr marL="0" indent="0" algn="l">
              <a:lnSpc>
                <a:spcPct val="110000"/>
              </a:lnSpc>
              <a:buNone/>
            </a:pPr>
            <a:r>
              <a:rPr lang="en-US" sz="1400" dirty="0">
                <a:solidFill>
                  <a:srgbClr val="EDF2F4"/>
                </a:solidFill>
                <a:latin typeface="Calibri" pitchFamily="34" charset="0"/>
                <a:ea typeface="Calibri" pitchFamily="34" charset="-122"/>
                <a:cs typeface="Calibri" pitchFamily="34" charset="-120"/>
              </a:rPr>
              <a:t>Documentary requirements for the application for Electronic Invoicing Solutions Accreditation. Mark submitted items with a check; items for compliance with an X.</a:t>
            </a:r>
            <a:endParaRPr lang="en-US" sz="1400" dirty="0"/>
          </a:p>
        </p:txBody>
      </p:sp>
      <p:sp>
        <p:nvSpPr>
          <p:cNvPr id="7" name="Shape 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8" name="Text 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ANNEX A CHECKLIST</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Documentary Requirements (1–16)</a:t>
            </a:r>
            <a:endParaRPr lang="en-US" sz="3000" dirty="0"/>
          </a:p>
        </p:txBody>
      </p:sp>
      <p:sp>
        <p:nvSpPr>
          <p:cNvPr id="5" name="Text 3"/>
          <p:cNvSpPr/>
          <p:nvPr/>
        </p:nvSpPr>
        <p:spPr>
          <a:xfrm>
            <a:off x="502920" y="1463040"/>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886968" y="1463040"/>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Sworn Statement, duly notarized or apostilled</a:t>
            </a:r>
            <a:endParaRPr lang="en-US" sz="1000" dirty="0"/>
          </a:p>
        </p:txBody>
      </p:sp>
      <p:sp>
        <p:nvSpPr>
          <p:cNvPr id="7" name="Text 5"/>
          <p:cNvSpPr/>
          <p:nvPr/>
        </p:nvSpPr>
        <p:spPr>
          <a:xfrm>
            <a:off x="502920" y="1879092"/>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2</a:t>
            </a:r>
            <a:endParaRPr lang="en-US" sz="1400" dirty="0"/>
          </a:p>
        </p:txBody>
      </p:sp>
      <p:sp>
        <p:nvSpPr>
          <p:cNvPr id="8" name="Text 6"/>
          <p:cNvSpPr/>
          <p:nvPr/>
        </p:nvSpPr>
        <p:spPr>
          <a:xfrm>
            <a:off x="886968" y="1879092"/>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SEC Certificate of Registration</a:t>
            </a:r>
            <a:endParaRPr lang="en-US" sz="1000" dirty="0"/>
          </a:p>
        </p:txBody>
      </p:sp>
      <p:sp>
        <p:nvSpPr>
          <p:cNvPr id="9" name="Text 7"/>
          <p:cNvSpPr/>
          <p:nvPr/>
        </p:nvSpPr>
        <p:spPr>
          <a:xfrm>
            <a:off x="502920" y="2295144"/>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3</a:t>
            </a:r>
            <a:endParaRPr lang="en-US" sz="1400" dirty="0"/>
          </a:p>
        </p:txBody>
      </p:sp>
      <p:sp>
        <p:nvSpPr>
          <p:cNvPr id="10" name="Text 8"/>
          <p:cNvSpPr/>
          <p:nvPr/>
        </p:nvSpPr>
        <p:spPr>
          <a:xfrm>
            <a:off x="886968" y="2295144"/>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Latest General Information Sheet (if applicable)</a:t>
            </a:r>
            <a:endParaRPr lang="en-US" sz="1000" dirty="0"/>
          </a:p>
        </p:txBody>
      </p:sp>
      <p:sp>
        <p:nvSpPr>
          <p:cNvPr id="11" name="Text 9"/>
          <p:cNvSpPr/>
          <p:nvPr/>
        </p:nvSpPr>
        <p:spPr>
          <a:xfrm>
            <a:off x="502920" y="2711196"/>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4</a:t>
            </a:r>
            <a:endParaRPr lang="en-US" sz="1400" dirty="0"/>
          </a:p>
        </p:txBody>
      </p:sp>
      <p:sp>
        <p:nvSpPr>
          <p:cNvPr id="12" name="Text 10"/>
          <p:cNvSpPr/>
          <p:nvPr/>
        </p:nvSpPr>
        <p:spPr>
          <a:xfrm>
            <a:off x="886968" y="2711196"/>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Proof of authority of representative &amp; certifying employee</a:t>
            </a:r>
            <a:endParaRPr lang="en-US" sz="1000" dirty="0"/>
          </a:p>
        </p:txBody>
      </p:sp>
      <p:sp>
        <p:nvSpPr>
          <p:cNvPr id="13" name="Text 11"/>
          <p:cNvSpPr/>
          <p:nvPr/>
        </p:nvSpPr>
        <p:spPr>
          <a:xfrm>
            <a:off x="502920" y="3127248"/>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5</a:t>
            </a:r>
            <a:endParaRPr lang="en-US" sz="1400" dirty="0"/>
          </a:p>
        </p:txBody>
      </p:sp>
      <p:sp>
        <p:nvSpPr>
          <p:cNvPr id="14" name="Text 12"/>
          <p:cNvSpPr/>
          <p:nvPr/>
        </p:nvSpPr>
        <p:spPr>
          <a:xfrm>
            <a:off x="886968" y="3127248"/>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Latest Audited Financial Statements</a:t>
            </a:r>
            <a:endParaRPr lang="en-US" sz="1000" dirty="0"/>
          </a:p>
        </p:txBody>
      </p:sp>
      <p:sp>
        <p:nvSpPr>
          <p:cNvPr id="15" name="Text 13"/>
          <p:cNvSpPr/>
          <p:nvPr/>
        </p:nvSpPr>
        <p:spPr>
          <a:xfrm>
            <a:off x="502920" y="3543300"/>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6</a:t>
            </a:r>
            <a:endParaRPr lang="en-US" sz="1400" dirty="0"/>
          </a:p>
        </p:txBody>
      </p:sp>
      <p:sp>
        <p:nvSpPr>
          <p:cNvPr id="16" name="Text 14"/>
          <p:cNvSpPr/>
          <p:nvPr/>
        </p:nvSpPr>
        <p:spPr>
          <a:xfrm>
            <a:off x="886968" y="3543300"/>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Evidence of required insurance or financial assurance</a:t>
            </a:r>
            <a:endParaRPr lang="en-US" sz="1000" dirty="0"/>
          </a:p>
        </p:txBody>
      </p:sp>
      <p:sp>
        <p:nvSpPr>
          <p:cNvPr id="17" name="Text 15"/>
          <p:cNvSpPr/>
          <p:nvPr/>
        </p:nvSpPr>
        <p:spPr>
          <a:xfrm>
            <a:off x="502920" y="3959352"/>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7</a:t>
            </a:r>
            <a:endParaRPr lang="en-US" sz="1400" dirty="0"/>
          </a:p>
        </p:txBody>
      </p:sp>
      <p:sp>
        <p:nvSpPr>
          <p:cNvPr id="18" name="Text 16"/>
          <p:cNvSpPr/>
          <p:nvPr/>
        </p:nvSpPr>
        <p:spPr>
          <a:xfrm>
            <a:off x="886968" y="3959352"/>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Company Profile</a:t>
            </a:r>
            <a:endParaRPr lang="en-US" sz="1000" dirty="0"/>
          </a:p>
        </p:txBody>
      </p:sp>
      <p:sp>
        <p:nvSpPr>
          <p:cNvPr id="19" name="Text 17"/>
          <p:cNvSpPr/>
          <p:nvPr/>
        </p:nvSpPr>
        <p:spPr>
          <a:xfrm>
            <a:off x="502920" y="4375404"/>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8</a:t>
            </a:r>
            <a:endParaRPr lang="en-US" sz="1400" dirty="0"/>
          </a:p>
        </p:txBody>
      </p:sp>
      <p:sp>
        <p:nvSpPr>
          <p:cNvPr id="20" name="Text 18"/>
          <p:cNvSpPr/>
          <p:nvPr/>
        </p:nvSpPr>
        <p:spPr>
          <a:xfrm>
            <a:off x="886968" y="4375404"/>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Standard Service-Level Agreement (ESP &amp; client)</a:t>
            </a:r>
            <a:endParaRPr lang="en-US" sz="1000" dirty="0"/>
          </a:p>
        </p:txBody>
      </p:sp>
      <p:sp>
        <p:nvSpPr>
          <p:cNvPr id="21" name="Text 19"/>
          <p:cNvSpPr/>
          <p:nvPr/>
        </p:nvSpPr>
        <p:spPr>
          <a:xfrm>
            <a:off x="4572000" y="1463040"/>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9</a:t>
            </a:r>
            <a:endParaRPr lang="en-US" sz="1400" dirty="0"/>
          </a:p>
        </p:txBody>
      </p:sp>
      <p:sp>
        <p:nvSpPr>
          <p:cNvPr id="22" name="Text 20"/>
          <p:cNvSpPr/>
          <p:nvPr/>
        </p:nvSpPr>
        <p:spPr>
          <a:xfrm>
            <a:off x="4956048" y="1463040"/>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Screenshots showing Software Name &amp; Version Number</a:t>
            </a:r>
            <a:endParaRPr lang="en-US" sz="1000" dirty="0"/>
          </a:p>
        </p:txBody>
      </p:sp>
      <p:sp>
        <p:nvSpPr>
          <p:cNvPr id="23" name="Text 21"/>
          <p:cNvSpPr/>
          <p:nvPr/>
        </p:nvSpPr>
        <p:spPr>
          <a:xfrm>
            <a:off x="4572000" y="1879092"/>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10</a:t>
            </a:r>
            <a:endParaRPr lang="en-US" sz="1400" dirty="0"/>
          </a:p>
        </p:txBody>
      </p:sp>
      <p:sp>
        <p:nvSpPr>
          <p:cNvPr id="24" name="Text 22"/>
          <p:cNvSpPr/>
          <p:nvPr/>
        </p:nvSpPr>
        <p:spPr>
          <a:xfrm>
            <a:off x="4956048" y="1879092"/>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Screenshot of Online/Offline Indicator (if applicable)</a:t>
            </a:r>
            <a:endParaRPr lang="en-US" sz="1000" dirty="0"/>
          </a:p>
        </p:txBody>
      </p:sp>
      <p:sp>
        <p:nvSpPr>
          <p:cNvPr id="25" name="Text 23"/>
          <p:cNvSpPr/>
          <p:nvPr/>
        </p:nvSpPr>
        <p:spPr>
          <a:xfrm>
            <a:off x="4572000" y="2295144"/>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11</a:t>
            </a:r>
            <a:endParaRPr lang="en-US" sz="1400" dirty="0"/>
          </a:p>
        </p:txBody>
      </p:sp>
      <p:sp>
        <p:nvSpPr>
          <p:cNvPr id="26" name="Text 24"/>
          <p:cNvSpPr/>
          <p:nvPr/>
        </p:nvSpPr>
        <p:spPr>
          <a:xfrm>
            <a:off x="4956048" y="2295144"/>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List &amp; sample copies of principal &amp; supplementary documents</a:t>
            </a:r>
            <a:endParaRPr lang="en-US" sz="1000" dirty="0"/>
          </a:p>
        </p:txBody>
      </p:sp>
      <p:sp>
        <p:nvSpPr>
          <p:cNvPr id="27" name="Text 25"/>
          <p:cNvSpPr/>
          <p:nvPr/>
        </p:nvSpPr>
        <p:spPr>
          <a:xfrm>
            <a:off x="4572000" y="2711196"/>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12</a:t>
            </a:r>
            <a:endParaRPr lang="en-US" sz="1400" dirty="0"/>
          </a:p>
        </p:txBody>
      </p:sp>
      <p:sp>
        <p:nvSpPr>
          <p:cNvPr id="28" name="Text 26"/>
          <p:cNvSpPr/>
          <p:nvPr/>
        </p:nvSpPr>
        <p:spPr>
          <a:xfrm>
            <a:off x="4956048" y="2711196"/>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List of system-generated reports with sample printouts</a:t>
            </a:r>
            <a:endParaRPr lang="en-US" sz="1000" dirty="0"/>
          </a:p>
        </p:txBody>
      </p:sp>
      <p:sp>
        <p:nvSpPr>
          <p:cNvPr id="29" name="Text 27"/>
          <p:cNvSpPr/>
          <p:nvPr/>
        </p:nvSpPr>
        <p:spPr>
          <a:xfrm>
            <a:off x="4572000" y="3127248"/>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13</a:t>
            </a:r>
            <a:endParaRPr lang="en-US" sz="1400" dirty="0"/>
          </a:p>
        </p:txBody>
      </p:sp>
      <p:sp>
        <p:nvSpPr>
          <p:cNvPr id="30" name="Text 28"/>
          <p:cNvSpPr/>
          <p:nvPr/>
        </p:nvSpPr>
        <p:spPr>
          <a:xfrm>
            <a:off x="4956048" y="3127248"/>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Technical &amp; Functional Specifications / System Manual</a:t>
            </a:r>
            <a:endParaRPr lang="en-US" sz="1000" dirty="0"/>
          </a:p>
        </p:txBody>
      </p:sp>
      <p:sp>
        <p:nvSpPr>
          <p:cNvPr id="31" name="Text 29"/>
          <p:cNvSpPr/>
          <p:nvPr/>
        </p:nvSpPr>
        <p:spPr>
          <a:xfrm>
            <a:off x="4572000" y="3543300"/>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14</a:t>
            </a:r>
            <a:endParaRPr lang="en-US" sz="1400" dirty="0"/>
          </a:p>
        </p:txBody>
      </p:sp>
      <p:sp>
        <p:nvSpPr>
          <p:cNvPr id="32" name="Text 30"/>
          <p:cNvSpPr/>
          <p:nvPr/>
        </p:nvSpPr>
        <p:spPr>
          <a:xfrm>
            <a:off x="4956048" y="3543300"/>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Third-Party Assessment Report / Certification</a:t>
            </a:r>
            <a:endParaRPr lang="en-US" sz="1000" dirty="0"/>
          </a:p>
        </p:txBody>
      </p:sp>
      <p:sp>
        <p:nvSpPr>
          <p:cNvPr id="33" name="Text 31"/>
          <p:cNvSpPr/>
          <p:nvPr/>
        </p:nvSpPr>
        <p:spPr>
          <a:xfrm>
            <a:off x="4572000" y="3959352"/>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15</a:t>
            </a:r>
            <a:endParaRPr lang="en-US" sz="1400" dirty="0"/>
          </a:p>
        </p:txBody>
      </p:sp>
      <p:sp>
        <p:nvSpPr>
          <p:cNvPr id="34" name="Text 32"/>
          <p:cNvSpPr/>
          <p:nvPr/>
        </p:nvSpPr>
        <p:spPr>
          <a:xfrm>
            <a:off x="4956048" y="3959352"/>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Back-up Procedure &amp; Disaster Recovery Plan (RTO/RPO)</a:t>
            </a:r>
            <a:endParaRPr lang="en-US" sz="1000" dirty="0"/>
          </a:p>
        </p:txBody>
      </p:sp>
      <p:sp>
        <p:nvSpPr>
          <p:cNvPr id="35" name="Text 33"/>
          <p:cNvSpPr/>
          <p:nvPr/>
        </p:nvSpPr>
        <p:spPr>
          <a:xfrm>
            <a:off x="4572000" y="4375404"/>
            <a:ext cx="365760" cy="365760"/>
          </a:xfrm>
          <a:prstGeom prst="rect">
            <a:avLst/>
          </a:prstGeom>
          <a:noFill/>
          <a:ln/>
        </p:spPr>
        <p:txBody>
          <a:bodyPr wrap="square" lIns="0" tIns="0" rIns="0" bIns="0" rtlCol="0" anchor="ctr"/>
          <a:lstStyle/>
          <a:p>
            <a:pPr marL="0" indent="0" algn="l">
              <a:buNone/>
            </a:pPr>
            <a:r>
              <a:rPr lang="en-US" sz="1400" b="1" dirty="0">
                <a:solidFill>
                  <a:srgbClr val="D90429"/>
                </a:solidFill>
                <a:latin typeface="Georgia" pitchFamily="34" charset="0"/>
                <a:ea typeface="Georgia" pitchFamily="34" charset="-122"/>
                <a:cs typeface="Georgia" pitchFamily="34" charset="-120"/>
              </a:rPr>
              <a:t>16</a:t>
            </a:r>
            <a:endParaRPr lang="en-US" sz="1400" dirty="0"/>
          </a:p>
        </p:txBody>
      </p:sp>
      <p:sp>
        <p:nvSpPr>
          <p:cNvPr id="36" name="Text 34"/>
          <p:cNvSpPr/>
          <p:nvPr/>
        </p:nvSpPr>
        <p:spPr>
          <a:xfrm>
            <a:off x="4956048" y="4375404"/>
            <a:ext cx="3611880" cy="384048"/>
          </a:xfrm>
          <a:prstGeom prst="rect">
            <a:avLst/>
          </a:prstGeom>
          <a:noFill/>
          <a:ln/>
        </p:spPr>
        <p:txBody>
          <a:bodyPr wrap="square" lIns="0" tIns="0" rIns="0" bIns="0" rtlCol="0" anchor="ctr"/>
          <a:lstStyle/>
          <a:p>
            <a:pPr marL="0" indent="0" algn="l">
              <a:lnSpc>
                <a:spcPct val="90000"/>
              </a:lnSpc>
              <a:buNone/>
            </a:pPr>
            <a:r>
              <a:rPr lang="en-US" sz="1000" dirty="0">
                <a:solidFill>
                  <a:srgbClr val="2B2D42"/>
                </a:solidFill>
                <a:latin typeface="Calibri" pitchFamily="34" charset="0"/>
                <a:ea typeface="Calibri" pitchFamily="34" charset="-122"/>
                <a:cs typeface="Calibri" pitchFamily="34" charset="-120"/>
              </a:rPr>
              <a:t>Exit, migration &amp; data-portability plan</a:t>
            </a:r>
            <a:endParaRPr lang="en-US" sz="1000" dirty="0"/>
          </a:p>
        </p:txBody>
      </p:sp>
      <p:sp>
        <p:nvSpPr>
          <p:cNvPr id="37" name="Shape 3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8" name="Text 3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02920" y="384048"/>
            <a:ext cx="8229600" cy="274320"/>
          </a:xfrm>
          <a:prstGeom prst="rect">
            <a:avLst/>
          </a:prstGeom>
          <a:noFill/>
          <a:ln/>
        </p:spPr>
        <p:txBody>
          <a:bodyPr wrap="square" lIns="0" tIns="0" rIns="0" bIns="0" rtlCol="0" anchor="ctr"/>
          <a:lstStyle/>
          <a:p>
            <a:pPr marL="0" indent="0" algn="l">
              <a:buNone/>
            </a:pPr>
            <a:r>
              <a:rPr lang="en-US" sz="1200" b="1" kern="0" spc="200" dirty="0">
                <a:solidFill>
                  <a:srgbClr val="D90429"/>
                </a:solidFill>
                <a:latin typeface="Calibri" pitchFamily="34" charset="0"/>
                <a:ea typeface="Calibri" pitchFamily="34" charset="-122"/>
                <a:cs typeface="Calibri" pitchFamily="34" charset="-120"/>
              </a:rPr>
              <a:t>ANNEX A — ITEMS 13 &amp; 14</a:t>
            </a:r>
            <a:endParaRPr lang="en-US" sz="1200" dirty="0"/>
          </a:p>
        </p:txBody>
      </p:sp>
      <p:sp>
        <p:nvSpPr>
          <p:cNvPr id="4" name="Text 2"/>
          <p:cNvSpPr/>
          <p:nvPr/>
        </p:nvSpPr>
        <p:spPr>
          <a:xfrm>
            <a:off x="502920" y="658368"/>
            <a:ext cx="8229600" cy="731520"/>
          </a:xfrm>
          <a:prstGeom prst="rect">
            <a:avLst/>
          </a:prstGeom>
          <a:noFill/>
          <a:ln/>
        </p:spPr>
        <p:txBody>
          <a:bodyPr wrap="square" lIns="0" tIns="0" rIns="0" bIns="0" rtlCol="0" anchor="t">
            <a:normAutofit/>
          </a:bodyPr>
          <a:lstStyle/>
          <a:p>
            <a:pPr marL="0" indent="0" algn="l">
              <a:buNone/>
            </a:pPr>
            <a:r>
              <a:rPr lang="en-US" sz="3000" b="1" dirty="0">
                <a:solidFill>
                  <a:srgbClr val="2B2D42"/>
                </a:solidFill>
                <a:latin typeface="Georgia" pitchFamily="34" charset="0"/>
                <a:ea typeface="Georgia" pitchFamily="34" charset="-122"/>
                <a:cs typeface="Georgia" pitchFamily="34" charset="-120"/>
              </a:rPr>
              <a:t>Technical Specs &amp; Certifications</a:t>
            </a:r>
            <a:endParaRPr lang="en-US" sz="3000" dirty="0"/>
          </a:p>
        </p:txBody>
      </p:sp>
      <p:sp>
        <p:nvSpPr>
          <p:cNvPr id="5" name="Shape 3"/>
          <p:cNvSpPr/>
          <p:nvPr/>
        </p:nvSpPr>
        <p:spPr>
          <a:xfrm>
            <a:off x="502920" y="1508760"/>
            <a:ext cx="3977640" cy="3063240"/>
          </a:xfrm>
          <a:prstGeom prst="roundRect">
            <a:avLst>
              <a:gd name="adj" fmla="val 2985"/>
            </a:avLst>
          </a:prstGeom>
          <a:solidFill>
            <a:srgbClr val="EDF2F4"/>
          </a:solidFill>
          <a:ln/>
        </p:spPr>
        <p:txBody>
          <a:bodyPr/>
          <a:lstStyle/>
          <a:p>
            <a:endParaRPr lang="en-US"/>
          </a:p>
        </p:txBody>
      </p:sp>
      <p:sp>
        <p:nvSpPr>
          <p:cNvPr id="6" name="Text 4"/>
          <p:cNvSpPr/>
          <p:nvPr/>
        </p:nvSpPr>
        <p:spPr>
          <a:xfrm>
            <a:off x="685800" y="1664208"/>
            <a:ext cx="3611880" cy="411480"/>
          </a:xfrm>
          <a:prstGeom prst="rect">
            <a:avLst/>
          </a:prstGeom>
          <a:noFill/>
          <a:ln/>
        </p:spPr>
        <p:txBody>
          <a:bodyPr wrap="square" lIns="0" tIns="0" rIns="0" bIns="0" rtlCol="0" anchor="t"/>
          <a:lstStyle/>
          <a:p>
            <a:pPr marL="0" indent="0" algn="l">
              <a:lnSpc>
                <a:spcPct val="95000"/>
              </a:lnSpc>
              <a:buNone/>
            </a:pPr>
            <a:r>
              <a:rPr lang="en-US" sz="1250" b="1" dirty="0">
                <a:solidFill>
                  <a:srgbClr val="2B2D42"/>
                </a:solidFill>
                <a:latin typeface="Georgia" pitchFamily="34" charset="0"/>
                <a:ea typeface="Georgia" pitchFamily="34" charset="-122"/>
                <a:cs typeface="Georgia" pitchFamily="34" charset="-120"/>
              </a:rPr>
              <a:t>13 · Technical &amp; Functional Specifications</a:t>
            </a:r>
            <a:endParaRPr lang="en-US" sz="1250" dirty="0"/>
          </a:p>
        </p:txBody>
      </p:sp>
      <p:sp>
        <p:nvSpPr>
          <p:cNvPr id="7" name="Text 5"/>
          <p:cNvSpPr/>
          <p:nvPr/>
        </p:nvSpPr>
        <p:spPr>
          <a:xfrm>
            <a:off x="713232" y="2194560"/>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8" name="Text 6"/>
          <p:cNvSpPr/>
          <p:nvPr/>
        </p:nvSpPr>
        <p:spPr>
          <a:xfrm>
            <a:off x="914400" y="2194560"/>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End-to-end data flow &amp; transmission architecture</a:t>
            </a:r>
            <a:endParaRPr lang="en-US" sz="1000" dirty="0"/>
          </a:p>
        </p:txBody>
      </p:sp>
      <p:sp>
        <p:nvSpPr>
          <p:cNvPr id="9" name="Text 7"/>
          <p:cNvSpPr/>
          <p:nvPr/>
        </p:nvSpPr>
        <p:spPr>
          <a:xfrm>
            <a:off x="713232" y="2519172"/>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10" name="Text 8"/>
          <p:cNvSpPr/>
          <p:nvPr/>
        </p:nvSpPr>
        <p:spPr>
          <a:xfrm>
            <a:off x="914400" y="2519172"/>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Dataflow &amp; data-lineage diagrams</a:t>
            </a:r>
            <a:endParaRPr lang="en-US" sz="1000" dirty="0"/>
          </a:p>
        </p:txBody>
      </p:sp>
      <p:sp>
        <p:nvSpPr>
          <p:cNvPr id="11" name="Text 9"/>
          <p:cNvSpPr/>
          <p:nvPr/>
        </p:nvSpPr>
        <p:spPr>
          <a:xfrm>
            <a:off x="713232" y="2843784"/>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12" name="Text 10"/>
          <p:cNvSpPr/>
          <p:nvPr/>
        </p:nvSpPr>
        <p:spPr>
          <a:xfrm>
            <a:off x="914400" y="2843784"/>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Hosting, cloud &amp; data-location disclosures</a:t>
            </a:r>
            <a:endParaRPr lang="en-US" sz="1000" dirty="0"/>
          </a:p>
        </p:txBody>
      </p:sp>
      <p:sp>
        <p:nvSpPr>
          <p:cNvPr id="13" name="Text 11"/>
          <p:cNvSpPr/>
          <p:nvPr/>
        </p:nvSpPr>
        <p:spPr>
          <a:xfrm>
            <a:off x="713232" y="3168396"/>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14" name="Text 12"/>
          <p:cNvSpPr/>
          <p:nvPr/>
        </p:nvSpPr>
        <p:spPr>
          <a:xfrm>
            <a:off x="914400" y="3168396"/>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Security, encryption &amp; authentication protocols</a:t>
            </a:r>
            <a:endParaRPr lang="en-US" sz="1000" dirty="0"/>
          </a:p>
        </p:txBody>
      </p:sp>
      <p:sp>
        <p:nvSpPr>
          <p:cNvPr id="15" name="Text 13"/>
          <p:cNvSpPr/>
          <p:nvPr/>
        </p:nvSpPr>
        <p:spPr>
          <a:xfrm>
            <a:off x="713232" y="3493008"/>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16" name="Text 14"/>
          <p:cNvSpPr/>
          <p:nvPr/>
        </p:nvSpPr>
        <p:spPr>
          <a:xfrm>
            <a:off x="914400" y="3493008"/>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Identity, access &amp; key-management controls</a:t>
            </a:r>
            <a:endParaRPr lang="en-US" sz="1000" dirty="0"/>
          </a:p>
        </p:txBody>
      </p:sp>
      <p:sp>
        <p:nvSpPr>
          <p:cNvPr id="17" name="Text 15"/>
          <p:cNvSpPr/>
          <p:nvPr/>
        </p:nvSpPr>
        <p:spPr>
          <a:xfrm>
            <a:off x="713232" y="3817620"/>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18" name="Text 16"/>
          <p:cNvSpPr/>
          <p:nvPr/>
        </p:nvSpPr>
        <p:spPr>
          <a:xfrm>
            <a:off x="914400" y="3817620"/>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Incident-response plan</a:t>
            </a:r>
            <a:endParaRPr lang="en-US" sz="1000" dirty="0"/>
          </a:p>
        </p:txBody>
      </p:sp>
      <p:sp>
        <p:nvSpPr>
          <p:cNvPr id="19" name="Text 17"/>
          <p:cNvSpPr/>
          <p:nvPr/>
        </p:nvSpPr>
        <p:spPr>
          <a:xfrm>
            <a:off x="713232" y="4142232"/>
            <a:ext cx="182880" cy="274320"/>
          </a:xfrm>
          <a:prstGeom prst="rect">
            <a:avLst/>
          </a:prstGeom>
          <a:noFill/>
          <a:ln/>
        </p:spPr>
        <p:txBody>
          <a:bodyPr wrap="square" lIns="0" tIns="0" rIns="0" bIns="0" rtlCol="0" anchor="t"/>
          <a:lstStyle/>
          <a:p>
            <a:pPr marL="0" indent="0" algn="l">
              <a:buNone/>
            </a:pPr>
            <a:r>
              <a:rPr lang="en-US" sz="1100" dirty="0">
                <a:solidFill>
                  <a:srgbClr val="D90429"/>
                </a:solidFill>
              </a:rPr>
              <a:t>•</a:t>
            </a:r>
            <a:endParaRPr lang="en-US" sz="1100" dirty="0"/>
          </a:p>
        </p:txBody>
      </p:sp>
      <p:sp>
        <p:nvSpPr>
          <p:cNvPr id="20" name="Text 18"/>
          <p:cNvSpPr/>
          <p:nvPr/>
        </p:nvSpPr>
        <p:spPr>
          <a:xfrm>
            <a:off x="914400" y="4142232"/>
            <a:ext cx="3429000" cy="320040"/>
          </a:xfrm>
          <a:prstGeom prst="rect">
            <a:avLst/>
          </a:prstGeom>
          <a:noFill/>
          <a:ln/>
        </p:spPr>
        <p:txBody>
          <a:bodyPr wrap="square" lIns="0" tIns="0" rIns="0" bIns="0" rtlCol="0" anchor="t"/>
          <a:lstStyle/>
          <a:p>
            <a:pPr marL="0" indent="0" algn="l">
              <a:lnSpc>
                <a:spcPct val="95000"/>
              </a:lnSpc>
              <a:buNone/>
            </a:pPr>
            <a:r>
              <a:rPr lang="en-US" sz="1000" dirty="0">
                <a:solidFill>
                  <a:srgbClr val="2B2D42"/>
                </a:solidFill>
                <a:latin typeface="Calibri" pitchFamily="34" charset="0"/>
                <a:ea typeface="Calibri" pitchFamily="34" charset="-122"/>
                <a:cs typeface="Calibri" pitchFamily="34" charset="-120"/>
              </a:rPr>
              <a:t>Service-level framework</a:t>
            </a:r>
            <a:endParaRPr lang="en-US" sz="1000" dirty="0"/>
          </a:p>
        </p:txBody>
      </p:sp>
      <p:sp>
        <p:nvSpPr>
          <p:cNvPr id="21" name="Shape 19"/>
          <p:cNvSpPr/>
          <p:nvPr/>
        </p:nvSpPr>
        <p:spPr>
          <a:xfrm>
            <a:off x="4663440" y="1508760"/>
            <a:ext cx="3977640" cy="3063240"/>
          </a:xfrm>
          <a:prstGeom prst="roundRect">
            <a:avLst>
              <a:gd name="adj" fmla="val 2985"/>
            </a:avLst>
          </a:prstGeom>
          <a:solidFill>
            <a:srgbClr val="2B2D42"/>
          </a:solidFill>
          <a:ln/>
        </p:spPr>
        <p:txBody>
          <a:bodyPr/>
          <a:lstStyle/>
          <a:p>
            <a:endParaRPr lang="en-US"/>
          </a:p>
        </p:txBody>
      </p:sp>
      <p:sp>
        <p:nvSpPr>
          <p:cNvPr id="22" name="Text 20"/>
          <p:cNvSpPr/>
          <p:nvPr/>
        </p:nvSpPr>
        <p:spPr>
          <a:xfrm>
            <a:off x="4846320" y="1664208"/>
            <a:ext cx="3611880" cy="411480"/>
          </a:xfrm>
          <a:prstGeom prst="rect">
            <a:avLst/>
          </a:prstGeom>
          <a:noFill/>
          <a:ln/>
        </p:spPr>
        <p:txBody>
          <a:bodyPr wrap="square" lIns="0" tIns="0" rIns="0" bIns="0" rtlCol="0" anchor="t"/>
          <a:lstStyle/>
          <a:p>
            <a:pPr marL="0" indent="0" algn="l">
              <a:lnSpc>
                <a:spcPct val="95000"/>
              </a:lnSpc>
              <a:buNone/>
            </a:pPr>
            <a:r>
              <a:rPr lang="en-US" sz="1250" b="1" dirty="0">
                <a:solidFill>
                  <a:srgbClr val="FFFFFF"/>
                </a:solidFill>
                <a:latin typeface="Georgia" pitchFamily="34" charset="0"/>
                <a:ea typeface="Georgia" pitchFamily="34" charset="-122"/>
                <a:cs typeface="Georgia" pitchFamily="34" charset="-120"/>
              </a:rPr>
              <a:t>14 · Third-Party Assessment &amp; Certification</a:t>
            </a:r>
            <a:endParaRPr lang="en-US" sz="1250" dirty="0"/>
          </a:p>
        </p:txBody>
      </p:sp>
      <p:sp>
        <p:nvSpPr>
          <p:cNvPr id="23" name="Text 21"/>
          <p:cNvSpPr/>
          <p:nvPr/>
        </p:nvSpPr>
        <p:spPr>
          <a:xfrm>
            <a:off x="4873752" y="2194560"/>
            <a:ext cx="228600" cy="274320"/>
          </a:xfrm>
          <a:prstGeom prst="rect">
            <a:avLst/>
          </a:prstGeom>
          <a:noFill/>
          <a:ln/>
        </p:spPr>
        <p:txBody>
          <a:bodyPr wrap="square" lIns="0" tIns="0" rIns="0" bIns="0" rtlCol="0" anchor="t"/>
          <a:lstStyle/>
          <a:p>
            <a:pPr marL="0" indent="0" algn="l">
              <a:buNone/>
            </a:pPr>
            <a:r>
              <a:rPr lang="en-US" sz="1100" b="1" dirty="0">
                <a:solidFill>
                  <a:srgbClr val="D90429"/>
                </a:solidFill>
              </a:rPr>
              <a:t>✓</a:t>
            </a:r>
            <a:endParaRPr lang="en-US" sz="1100" dirty="0"/>
          </a:p>
        </p:txBody>
      </p:sp>
      <p:sp>
        <p:nvSpPr>
          <p:cNvPr id="24" name="Text 22"/>
          <p:cNvSpPr/>
          <p:nvPr/>
        </p:nvSpPr>
        <p:spPr>
          <a:xfrm>
            <a:off x="5120640" y="2194560"/>
            <a:ext cx="3383280" cy="457200"/>
          </a:xfrm>
          <a:prstGeom prst="rect">
            <a:avLst/>
          </a:prstGeom>
          <a:noFill/>
          <a:ln/>
        </p:spPr>
        <p:txBody>
          <a:bodyPr wrap="square" lIns="0" tIns="0" rIns="0" bIns="0" rtlCol="0" anchor="t"/>
          <a:lstStyle/>
          <a:p>
            <a:pPr marL="0" indent="0" algn="l">
              <a:lnSpc>
                <a:spcPct val="95000"/>
              </a:lnSpc>
              <a:buNone/>
            </a:pPr>
            <a:r>
              <a:rPr lang="en-US" sz="1000" dirty="0">
                <a:solidFill>
                  <a:srgbClr val="FFFFFF"/>
                </a:solidFill>
                <a:latin typeface="Calibri" pitchFamily="34" charset="0"/>
                <a:ea typeface="Calibri" pitchFamily="34" charset="-122"/>
                <a:cs typeface="Calibri" pitchFamily="34" charset="-120"/>
              </a:rPr>
              <a:t>EO No. 119 (2026) data classification &amp; residency compliance</a:t>
            </a:r>
            <a:endParaRPr lang="en-US" sz="1000" dirty="0"/>
          </a:p>
        </p:txBody>
      </p:sp>
      <p:sp>
        <p:nvSpPr>
          <p:cNvPr id="25" name="Text 23"/>
          <p:cNvSpPr/>
          <p:nvPr/>
        </p:nvSpPr>
        <p:spPr>
          <a:xfrm>
            <a:off x="4873752" y="2651760"/>
            <a:ext cx="228600" cy="274320"/>
          </a:xfrm>
          <a:prstGeom prst="rect">
            <a:avLst/>
          </a:prstGeom>
          <a:noFill/>
          <a:ln/>
        </p:spPr>
        <p:txBody>
          <a:bodyPr wrap="square" lIns="0" tIns="0" rIns="0" bIns="0" rtlCol="0" anchor="t"/>
          <a:lstStyle/>
          <a:p>
            <a:pPr marL="0" indent="0" algn="l">
              <a:buNone/>
            </a:pPr>
            <a:r>
              <a:rPr lang="en-US" sz="1100" b="1" dirty="0">
                <a:solidFill>
                  <a:srgbClr val="D90429"/>
                </a:solidFill>
              </a:rPr>
              <a:t>✓</a:t>
            </a:r>
            <a:endParaRPr lang="en-US" sz="1100" dirty="0"/>
          </a:p>
        </p:txBody>
      </p:sp>
      <p:sp>
        <p:nvSpPr>
          <p:cNvPr id="26" name="Text 24"/>
          <p:cNvSpPr/>
          <p:nvPr/>
        </p:nvSpPr>
        <p:spPr>
          <a:xfrm>
            <a:off x="5120640" y="2651760"/>
            <a:ext cx="3383280" cy="457200"/>
          </a:xfrm>
          <a:prstGeom prst="rect">
            <a:avLst/>
          </a:prstGeom>
          <a:noFill/>
          <a:ln/>
        </p:spPr>
        <p:txBody>
          <a:bodyPr wrap="square" lIns="0" tIns="0" rIns="0" bIns="0" rtlCol="0" anchor="t"/>
          <a:lstStyle/>
          <a:p>
            <a:pPr marL="0" indent="0" algn="l">
              <a:lnSpc>
                <a:spcPct val="95000"/>
              </a:lnSpc>
              <a:buNone/>
            </a:pPr>
            <a:r>
              <a:rPr lang="en-US" sz="1000" dirty="0">
                <a:solidFill>
                  <a:srgbClr val="FFFFFF"/>
                </a:solidFill>
                <a:latin typeface="Calibri" pitchFamily="34" charset="0"/>
                <a:ea typeface="Calibri" pitchFamily="34" charset="-122"/>
                <a:cs typeface="Calibri" pitchFamily="34" charset="-120"/>
              </a:rPr>
              <a:t>Multi-layer protection: firewall, anti-DDoS, WAF, anti-malware</a:t>
            </a:r>
            <a:endParaRPr lang="en-US" sz="1000" dirty="0"/>
          </a:p>
        </p:txBody>
      </p:sp>
      <p:sp>
        <p:nvSpPr>
          <p:cNvPr id="27" name="Text 25"/>
          <p:cNvSpPr/>
          <p:nvPr/>
        </p:nvSpPr>
        <p:spPr>
          <a:xfrm>
            <a:off x="4873752" y="3108960"/>
            <a:ext cx="228600" cy="274320"/>
          </a:xfrm>
          <a:prstGeom prst="rect">
            <a:avLst/>
          </a:prstGeom>
          <a:noFill/>
          <a:ln/>
        </p:spPr>
        <p:txBody>
          <a:bodyPr wrap="square" lIns="0" tIns="0" rIns="0" bIns="0" rtlCol="0" anchor="t"/>
          <a:lstStyle/>
          <a:p>
            <a:pPr marL="0" indent="0" algn="l">
              <a:buNone/>
            </a:pPr>
            <a:r>
              <a:rPr lang="en-US" sz="1100" b="1" dirty="0">
                <a:solidFill>
                  <a:srgbClr val="D90429"/>
                </a:solidFill>
              </a:rPr>
              <a:t>✓</a:t>
            </a:r>
            <a:endParaRPr lang="en-US" sz="1100" dirty="0"/>
          </a:p>
        </p:txBody>
      </p:sp>
      <p:sp>
        <p:nvSpPr>
          <p:cNvPr id="28" name="Text 26"/>
          <p:cNvSpPr/>
          <p:nvPr/>
        </p:nvSpPr>
        <p:spPr>
          <a:xfrm>
            <a:off x="5120640" y="3108960"/>
            <a:ext cx="3383280" cy="457200"/>
          </a:xfrm>
          <a:prstGeom prst="rect">
            <a:avLst/>
          </a:prstGeom>
          <a:noFill/>
          <a:ln/>
        </p:spPr>
        <p:txBody>
          <a:bodyPr wrap="square" lIns="0" tIns="0" rIns="0" bIns="0" rtlCol="0" anchor="t"/>
          <a:lstStyle/>
          <a:p>
            <a:pPr marL="0" indent="0" algn="l">
              <a:lnSpc>
                <a:spcPct val="95000"/>
              </a:lnSpc>
              <a:buNone/>
            </a:pPr>
            <a:r>
              <a:rPr lang="en-US" sz="1000" dirty="0">
                <a:solidFill>
                  <a:srgbClr val="FFFFFF"/>
                </a:solidFill>
                <a:latin typeface="Calibri" pitchFamily="34" charset="0"/>
                <a:ea typeface="Calibri" pitchFamily="34" charset="-122"/>
                <a:cs typeface="Calibri" pitchFamily="34" charset="-120"/>
              </a:rPr>
              <a:t>Source Code Review and VAPT with favorable result</a:t>
            </a:r>
            <a:endParaRPr lang="en-US" sz="1000" dirty="0"/>
          </a:p>
        </p:txBody>
      </p:sp>
      <p:sp>
        <p:nvSpPr>
          <p:cNvPr id="29" name="Text 27"/>
          <p:cNvSpPr/>
          <p:nvPr/>
        </p:nvSpPr>
        <p:spPr>
          <a:xfrm>
            <a:off x="4873752" y="3566160"/>
            <a:ext cx="228600" cy="274320"/>
          </a:xfrm>
          <a:prstGeom prst="rect">
            <a:avLst/>
          </a:prstGeom>
          <a:noFill/>
          <a:ln/>
        </p:spPr>
        <p:txBody>
          <a:bodyPr wrap="square" lIns="0" tIns="0" rIns="0" bIns="0" rtlCol="0" anchor="t"/>
          <a:lstStyle/>
          <a:p>
            <a:pPr marL="0" indent="0" algn="l">
              <a:buNone/>
            </a:pPr>
            <a:r>
              <a:rPr lang="en-US" sz="1100" b="1" dirty="0">
                <a:solidFill>
                  <a:srgbClr val="D90429"/>
                </a:solidFill>
              </a:rPr>
              <a:t>✓</a:t>
            </a:r>
            <a:endParaRPr lang="en-US" sz="1100" dirty="0"/>
          </a:p>
        </p:txBody>
      </p:sp>
      <p:sp>
        <p:nvSpPr>
          <p:cNvPr id="30" name="Text 28"/>
          <p:cNvSpPr/>
          <p:nvPr/>
        </p:nvSpPr>
        <p:spPr>
          <a:xfrm>
            <a:off x="5120640" y="3566160"/>
            <a:ext cx="3383280" cy="457200"/>
          </a:xfrm>
          <a:prstGeom prst="rect">
            <a:avLst/>
          </a:prstGeom>
          <a:noFill/>
          <a:ln/>
        </p:spPr>
        <p:txBody>
          <a:bodyPr wrap="square" lIns="0" tIns="0" rIns="0" bIns="0" rtlCol="0" anchor="t"/>
          <a:lstStyle/>
          <a:p>
            <a:pPr marL="0" indent="0" algn="l">
              <a:lnSpc>
                <a:spcPct val="95000"/>
              </a:lnSpc>
              <a:buNone/>
            </a:pPr>
            <a:r>
              <a:rPr lang="en-US" sz="1000" dirty="0">
                <a:solidFill>
                  <a:srgbClr val="FFFFFF"/>
                </a:solidFill>
                <a:latin typeface="Calibri" pitchFamily="34" charset="0"/>
                <a:ea typeface="Calibri" pitchFamily="34" charset="-122"/>
                <a:cs typeface="Calibri" pitchFamily="34" charset="-120"/>
              </a:rPr>
              <a:t>ISO/IEC 27001, 27017 &amp; 27018</a:t>
            </a:r>
            <a:endParaRPr lang="en-US" sz="1000" dirty="0"/>
          </a:p>
        </p:txBody>
      </p:sp>
      <p:sp>
        <p:nvSpPr>
          <p:cNvPr id="31" name="Text 29"/>
          <p:cNvSpPr/>
          <p:nvPr/>
        </p:nvSpPr>
        <p:spPr>
          <a:xfrm>
            <a:off x="4873752" y="4023360"/>
            <a:ext cx="228600" cy="274320"/>
          </a:xfrm>
          <a:prstGeom prst="rect">
            <a:avLst/>
          </a:prstGeom>
          <a:noFill/>
          <a:ln/>
        </p:spPr>
        <p:txBody>
          <a:bodyPr wrap="square" lIns="0" tIns="0" rIns="0" bIns="0" rtlCol="0" anchor="t"/>
          <a:lstStyle/>
          <a:p>
            <a:pPr marL="0" indent="0" algn="l">
              <a:buNone/>
            </a:pPr>
            <a:r>
              <a:rPr lang="en-US" sz="1100" b="1" dirty="0">
                <a:solidFill>
                  <a:srgbClr val="D90429"/>
                </a:solidFill>
              </a:rPr>
              <a:t>✓</a:t>
            </a:r>
            <a:endParaRPr lang="en-US" sz="1100" dirty="0"/>
          </a:p>
        </p:txBody>
      </p:sp>
      <p:sp>
        <p:nvSpPr>
          <p:cNvPr id="32" name="Text 30"/>
          <p:cNvSpPr/>
          <p:nvPr/>
        </p:nvSpPr>
        <p:spPr>
          <a:xfrm>
            <a:off x="5120640" y="4023360"/>
            <a:ext cx="3383280" cy="457200"/>
          </a:xfrm>
          <a:prstGeom prst="rect">
            <a:avLst/>
          </a:prstGeom>
          <a:noFill/>
          <a:ln/>
        </p:spPr>
        <p:txBody>
          <a:bodyPr wrap="square" lIns="0" tIns="0" rIns="0" bIns="0" rtlCol="0" anchor="t"/>
          <a:lstStyle/>
          <a:p>
            <a:pPr marL="0" indent="0" algn="l">
              <a:lnSpc>
                <a:spcPct val="95000"/>
              </a:lnSpc>
              <a:buNone/>
            </a:pPr>
            <a:r>
              <a:rPr lang="en-US" sz="1000" dirty="0">
                <a:solidFill>
                  <a:srgbClr val="FFFFFF"/>
                </a:solidFill>
                <a:latin typeface="Calibri" pitchFamily="34" charset="0"/>
                <a:ea typeface="Calibri" pitchFamily="34" charset="-122"/>
                <a:cs typeface="Calibri" pitchFamily="34" charset="-120"/>
              </a:rPr>
              <a:t>SOC 1 and SOC 2</a:t>
            </a:r>
            <a:endParaRPr lang="en-US" sz="1000" dirty="0"/>
          </a:p>
        </p:txBody>
      </p:sp>
      <p:sp>
        <p:nvSpPr>
          <p:cNvPr id="33" name="Shape 31"/>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34" name="Text 32"/>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9">
    <p:bg>
      <p:bgPr>
        <a:solidFill>
          <a:srgbClr val="2B2D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0429"/>
          </a:solidFill>
          <a:ln/>
        </p:spPr>
        <p:txBody>
          <a:bodyPr/>
          <a:lstStyle/>
          <a:p>
            <a:endParaRPr lang="en-US"/>
          </a:p>
        </p:txBody>
      </p:sp>
      <p:sp>
        <p:nvSpPr>
          <p:cNvPr id="3" name="Text 1"/>
          <p:cNvSpPr/>
          <p:nvPr/>
        </p:nvSpPr>
        <p:spPr>
          <a:xfrm>
            <a:off x="548640" y="502920"/>
            <a:ext cx="7315200" cy="320040"/>
          </a:xfrm>
          <a:prstGeom prst="rect">
            <a:avLst/>
          </a:prstGeom>
          <a:noFill/>
          <a:ln/>
        </p:spPr>
        <p:txBody>
          <a:bodyPr wrap="square" lIns="0" tIns="0" rIns="0" bIns="0" rtlCol="0" anchor="ctr"/>
          <a:lstStyle/>
          <a:p>
            <a:pPr marL="0" indent="0" algn="l">
              <a:buNone/>
            </a:pPr>
            <a:r>
              <a:rPr lang="en-US" sz="1300" b="1" kern="0" spc="300" dirty="0">
                <a:solidFill>
                  <a:srgbClr val="D90429"/>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548640" y="822960"/>
            <a:ext cx="8229600" cy="822960"/>
          </a:xfrm>
          <a:prstGeom prst="rect">
            <a:avLst/>
          </a:prstGeom>
          <a:noFill/>
          <a:ln/>
        </p:spPr>
        <p:txBody>
          <a:bodyPr wrap="square" lIns="0" tIns="0" rIns="0" bIns="0" rtlCol="0" anchor="t">
            <a:normAutofit fontScale="92500" lnSpcReduction="10000"/>
          </a:bodyPr>
          <a:lstStyle/>
          <a:p>
            <a:pPr marL="0" indent="0" algn="l">
              <a:buNone/>
            </a:pPr>
            <a:r>
              <a:rPr lang="en-US" sz="3200" b="1" dirty="0">
                <a:solidFill>
                  <a:srgbClr val="FFFFFF"/>
                </a:solidFill>
                <a:latin typeface="Georgia" pitchFamily="34" charset="0"/>
                <a:ea typeface="Georgia" pitchFamily="34" charset="-122"/>
                <a:cs typeface="Georgia" pitchFamily="34" charset="-120"/>
              </a:rPr>
              <a:t>A Secure, Accountable e-Invoicing Ecosystem</a:t>
            </a:r>
            <a:endParaRPr lang="en-US" sz="3200" dirty="0"/>
          </a:p>
        </p:txBody>
      </p:sp>
      <p:sp>
        <p:nvSpPr>
          <p:cNvPr id="5" name="Shape 3"/>
          <p:cNvSpPr/>
          <p:nvPr/>
        </p:nvSpPr>
        <p:spPr>
          <a:xfrm>
            <a:off x="594360" y="1737360"/>
            <a:ext cx="274320" cy="274320"/>
          </a:xfrm>
          <a:prstGeom prst="ellipse">
            <a:avLst/>
          </a:prstGeom>
          <a:solidFill>
            <a:srgbClr val="D90429"/>
          </a:solidFill>
          <a:ln/>
        </p:spPr>
        <p:txBody>
          <a:bodyPr/>
          <a:lstStyle/>
          <a:p>
            <a:endParaRPr lang="en-US"/>
          </a:p>
        </p:txBody>
      </p:sp>
      <p:sp>
        <p:nvSpPr>
          <p:cNvPr id="6" name="Text 4"/>
          <p:cNvSpPr/>
          <p:nvPr/>
        </p:nvSpPr>
        <p:spPr>
          <a:xfrm>
            <a:off x="589630" y="1737360"/>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7" name="Text 5"/>
          <p:cNvSpPr/>
          <p:nvPr/>
        </p:nvSpPr>
        <p:spPr>
          <a:xfrm>
            <a:off x="960120" y="1746504"/>
            <a:ext cx="3291840" cy="36576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Accreditation is mandatory</a:t>
            </a:r>
            <a:endParaRPr lang="en-US" sz="1400" dirty="0"/>
          </a:p>
        </p:txBody>
      </p:sp>
      <p:sp>
        <p:nvSpPr>
          <p:cNvPr id="8" name="Text 6"/>
          <p:cNvSpPr/>
          <p:nvPr/>
        </p:nvSpPr>
        <p:spPr>
          <a:xfrm>
            <a:off x="4343400" y="1746504"/>
            <a:ext cx="4343400" cy="548640"/>
          </a:xfrm>
          <a:prstGeom prst="rect">
            <a:avLst/>
          </a:prstGeom>
          <a:noFill/>
          <a:ln/>
        </p:spPr>
        <p:txBody>
          <a:bodyPr wrap="square" lIns="0" tIns="0" rIns="0" bIns="0" rtlCol="0" anchor="t"/>
          <a:lstStyle/>
          <a:p>
            <a:pPr marL="0" indent="0" algn="l">
              <a:lnSpc>
                <a:spcPct val="95000"/>
              </a:lnSpc>
              <a:buNone/>
            </a:pPr>
            <a:r>
              <a:rPr lang="en-US" sz="1050" dirty="0">
                <a:solidFill>
                  <a:srgbClr val="EDF2F4"/>
                </a:solidFill>
                <a:latin typeface="Calibri" pitchFamily="34" charset="0"/>
                <a:ea typeface="Calibri" pitchFamily="34" charset="-122"/>
                <a:cs typeface="Calibri" pitchFamily="34" charset="-120"/>
              </a:rPr>
              <a:t>No commercial deployment without a valid, solution-specific Accreditation Certificate.</a:t>
            </a:r>
            <a:endParaRPr lang="en-US" sz="1050" dirty="0"/>
          </a:p>
        </p:txBody>
      </p:sp>
      <p:sp>
        <p:nvSpPr>
          <p:cNvPr id="9" name="Shape 7"/>
          <p:cNvSpPr/>
          <p:nvPr/>
        </p:nvSpPr>
        <p:spPr>
          <a:xfrm>
            <a:off x="600666" y="2304761"/>
            <a:ext cx="274320" cy="274320"/>
          </a:xfrm>
          <a:prstGeom prst="ellipse">
            <a:avLst/>
          </a:prstGeom>
          <a:solidFill>
            <a:srgbClr val="D90429"/>
          </a:solidFill>
          <a:ln/>
        </p:spPr>
        <p:txBody>
          <a:bodyPr/>
          <a:lstStyle/>
          <a:p>
            <a:endParaRPr lang="en-US"/>
          </a:p>
        </p:txBody>
      </p:sp>
      <p:sp>
        <p:nvSpPr>
          <p:cNvPr id="10" name="Text 8"/>
          <p:cNvSpPr/>
          <p:nvPr/>
        </p:nvSpPr>
        <p:spPr>
          <a:xfrm>
            <a:off x="600666" y="2298139"/>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1" name="Text 9"/>
          <p:cNvSpPr/>
          <p:nvPr/>
        </p:nvSpPr>
        <p:spPr>
          <a:xfrm>
            <a:off x="960120" y="2322576"/>
            <a:ext cx="3291840" cy="36576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Testing beats paperwork</a:t>
            </a:r>
            <a:endParaRPr lang="en-US" sz="1400" dirty="0"/>
          </a:p>
        </p:txBody>
      </p:sp>
      <p:sp>
        <p:nvSpPr>
          <p:cNvPr id="12" name="Text 10"/>
          <p:cNvSpPr/>
          <p:nvPr/>
        </p:nvSpPr>
        <p:spPr>
          <a:xfrm>
            <a:off x="4343400" y="2322576"/>
            <a:ext cx="4343400" cy="548640"/>
          </a:xfrm>
          <a:prstGeom prst="rect">
            <a:avLst/>
          </a:prstGeom>
          <a:noFill/>
          <a:ln/>
        </p:spPr>
        <p:txBody>
          <a:bodyPr wrap="square" lIns="0" tIns="0" rIns="0" bIns="0" rtlCol="0" anchor="t"/>
          <a:lstStyle/>
          <a:p>
            <a:pPr marL="0" indent="0" algn="l">
              <a:lnSpc>
                <a:spcPct val="95000"/>
              </a:lnSpc>
              <a:buNone/>
            </a:pPr>
            <a:r>
              <a:rPr lang="en-US" sz="1050" dirty="0">
                <a:solidFill>
                  <a:srgbClr val="EDF2F4"/>
                </a:solidFill>
                <a:latin typeface="Calibri" pitchFamily="34" charset="0"/>
                <a:ea typeface="Calibri" pitchFamily="34" charset="-122"/>
                <a:cs typeface="Calibri" pitchFamily="34" charset="-120"/>
              </a:rPr>
              <a:t>Seven stage-gated reviews — documentary compliance alone is never sufficient.</a:t>
            </a:r>
            <a:endParaRPr lang="en-US" sz="1050" dirty="0"/>
          </a:p>
        </p:txBody>
      </p:sp>
      <p:sp>
        <p:nvSpPr>
          <p:cNvPr id="14" name="Text 12"/>
          <p:cNvSpPr/>
          <p:nvPr/>
        </p:nvSpPr>
        <p:spPr>
          <a:xfrm>
            <a:off x="548640" y="2953512"/>
            <a:ext cx="274320" cy="274320"/>
          </a:xfrm>
          <a:prstGeom prst="rect">
            <a:avLst/>
          </a:prstGeom>
          <a:noFill/>
          <a:ln/>
        </p:spPr>
        <p:txBody>
          <a:bodyPr wrap="square" rtlCol="0" anchor="ctr"/>
          <a:lstStyle/>
          <a:p>
            <a:pPr marL="0" indent="0" algn="ctr">
              <a:buNone/>
            </a:pPr>
            <a:endParaRPr lang="en-US" sz="1200" dirty="0"/>
          </a:p>
        </p:txBody>
      </p:sp>
      <p:sp>
        <p:nvSpPr>
          <p:cNvPr id="15" name="Text 13"/>
          <p:cNvSpPr/>
          <p:nvPr/>
        </p:nvSpPr>
        <p:spPr>
          <a:xfrm>
            <a:off x="960120" y="2898648"/>
            <a:ext cx="3291840" cy="36576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Taxpayer data is protected</a:t>
            </a:r>
            <a:endParaRPr lang="en-US" sz="1400" dirty="0"/>
          </a:p>
        </p:txBody>
      </p:sp>
      <p:sp>
        <p:nvSpPr>
          <p:cNvPr id="16" name="Text 14"/>
          <p:cNvSpPr/>
          <p:nvPr/>
        </p:nvSpPr>
        <p:spPr>
          <a:xfrm>
            <a:off x="4343400" y="2898648"/>
            <a:ext cx="4343400" cy="548640"/>
          </a:xfrm>
          <a:prstGeom prst="rect">
            <a:avLst/>
          </a:prstGeom>
          <a:noFill/>
          <a:ln/>
        </p:spPr>
        <p:txBody>
          <a:bodyPr wrap="square" lIns="0" tIns="0" rIns="0" bIns="0" rtlCol="0" anchor="t"/>
          <a:lstStyle/>
          <a:p>
            <a:pPr marL="0" indent="0" algn="l">
              <a:lnSpc>
                <a:spcPct val="95000"/>
              </a:lnSpc>
              <a:buNone/>
            </a:pPr>
            <a:r>
              <a:rPr lang="en-US" sz="1050" dirty="0">
                <a:solidFill>
                  <a:srgbClr val="EDF2F4"/>
                </a:solidFill>
                <a:latin typeface="Calibri" pitchFamily="34" charset="0"/>
                <a:ea typeface="Calibri" pitchFamily="34" charset="-122"/>
                <a:cs typeface="Calibri" pitchFamily="34" charset="-120"/>
              </a:rPr>
              <a:t>Continuous BIR access, no vendor lock-in, and full portability are guaranteed.</a:t>
            </a:r>
            <a:endParaRPr lang="en-US" sz="1050" dirty="0"/>
          </a:p>
        </p:txBody>
      </p:sp>
      <p:sp>
        <p:nvSpPr>
          <p:cNvPr id="18" name="Text 16"/>
          <p:cNvSpPr/>
          <p:nvPr/>
        </p:nvSpPr>
        <p:spPr>
          <a:xfrm>
            <a:off x="548640" y="3529584"/>
            <a:ext cx="274320" cy="274320"/>
          </a:xfrm>
          <a:prstGeom prst="rect">
            <a:avLst/>
          </a:prstGeom>
          <a:noFill/>
          <a:ln/>
        </p:spPr>
        <p:txBody>
          <a:bodyPr wrap="square" rtlCol="0" anchor="ctr"/>
          <a:lstStyle/>
          <a:p>
            <a:pPr marL="0" indent="0" algn="ctr">
              <a:buNone/>
            </a:pPr>
            <a:endParaRPr lang="en-US" sz="1200" dirty="0"/>
          </a:p>
        </p:txBody>
      </p:sp>
      <p:sp>
        <p:nvSpPr>
          <p:cNvPr id="19" name="Text 17"/>
          <p:cNvSpPr/>
          <p:nvPr/>
        </p:nvSpPr>
        <p:spPr>
          <a:xfrm>
            <a:off x="960120" y="3474720"/>
            <a:ext cx="3291840" cy="36576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Capacity is proven</a:t>
            </a:r>
            <a:endParaRPr lang="en-US" sz="1400" dirty="0"/>
          </a:p>
        </p:txBody>
      </p:sp>
      <p:sp>
        <p:nvSpPr>
          <p:cNvPr id="20" name="Text 18"/>
          <p:cNvSpPr/>
          <p:nvPr/>
        </p:nvSpPr>
        <p:spPr>
          <a:xfrm>
            <a:off x="4343400" y="3474720"/>
            <a:ext cx="4343400" cy="548640"/>
          </a:xfrm>
          <a:prstGeom prst="rect">
            <a:avLst/>
          </a:prstGeom>
          <a:noFill/>
          <a:ln/>
        </p:spPr>
        <p:txBody>
          <a:bodyPr wrap="square" lIns="0" tIns="0" rIns="0" bIns="0" rtlCol="0" anchor="t"/>
          <a:lstStyle/>
          <a:p>
            <a:pPr marL="0" indent="0" algn="l">
              <a:lnSpc>
                <a:spcPct val="95000"/>
              </a:lnSpc>
              <a:buNone/>
            </a:pPr>
            <a:r>
              <a:rPr lang="en-US" sz="1050" dirty="0">
                <a:solidFill>
                  <a:srgbClr val="EDF2F4"/>
                </a:solidFill>
                <a:latin typeface="Calibri" pitchFamily="34" charset="0"/>
                <a:ea typeface="Calibri" pitchFamily="34" charset="-122"/>
                <a:cs typeface="Calibri" pitchFamily="34" charset="-120"/>
              </a:rPr>
              <a:t>5M transactions/year, 1,000 accounts, and a 3-year verifiable track record.</a:t>
            </a:r>
            <a:endParaRPr lang="en-US" sz="1050" dirty="0"/>
          </a:p>
        </p:txBody>
      </p:sp>
      <p:sp>
        <p:nvSpPr>
          <p:cNvPr id="22" name="Text 20"/>
          <p:cNvSpPr/>
          <p:nvPr/>
        </p:nvSpPr>
        <p:spPr>
          <a:xfrm>
            <a:off x="548640" y="4105656"/>
            <a:ext cx="274320" cy="274320"/>
          </a:xfrm>
          <a:prstGeom prst="rect">
            <a:avLst/>
          </a:prstGeom>
          <a:noFill/>
          <a:ln/>
        </p:spPr>
        <p:txBody>
          <a:bodyPr wrap="square" rtlCol="0" anchor="ctr"/>
          <a:lstStyle/>
          <a:p>
            <a:pPr marL="0" indent="0" algn="ctr">
              <a:buNone/>
            </a:pPr>
            <a:endParaRPr lang="en-US" sz="1200" dirty="0"/>
          </a:p>
        </p:txBody>
      </p:sp>
      <p:sp>
        <p:nvSpPr>
          <p:cNvPr id="23" name="Text 21"/>
          <p:cNvSpPr/>
          <p:nvPr/>
        </p:nvSpPr>
        <p:spPr>
          <a:xfrm>
            <a:off x="960120" y="4050792"/>
            <a:ext cx="3291840" cy="365760"/>
          </a:xfrm>
          <a:prstGeom prst="rect">
            <a:avLst/>
          </a:prstGeom>
          <a:noFill/>
          <a:ln/>
        </p:spPr>
        <p:txBody>
          <a:bodyPr wrap="square" lIns="0" tIns="0" rIns="0" bIns="0" rtlCol="0" anchor="t"/>
          <a:lstStyle/>
          <a:p>
            <a:pPr marL="0" indent="0" algn="l">
              <a:buNone/>
            </a:pPr>
            <a:r>
              <a:rPr lang="en-US" sz="1400" b="1" dirty="0">
                <a:solidFill>
                  <a:srgbClr val="FFFFFF"/>
                </a:solidFill>
                <a:latin typeface="Calibri" pitchFamily="34" charset="0"/>
                <a:ea typeface="Calibri" pitchFamily="34" charset="-122"/>
                <a:cs typeface="Calibri" pitchFamily="34" charset="-120"/>
              </a:rPr>
              <a:t>Accountability is enforced</a:t>
            </a:r>
            <a:endParaRPr lang="en-US" sz="1400" dirty="0"/>
          </a:p>
        </p:txBody>
      </p:sp>
      <p:sp>
        <p:nvSpPr>
          <p:cNvPr id="24" name="Text 22"/>
          <p:cNvSpPr/>
          <p:nvPr/>
        </p:nvSpPr>
        <p:spPr>
          <a:xfrm>
            <a:off x="4343400" y="4050792"/>
            <a:ext cx="4343400" cy="548640"/>
          </a:xfrm>
          <a:prstGeom prst="rect">
            <a:avLst/>
          </a:prstGeom>
          <a:noFill/>
          <a:ln/>
        </p:spPr>
        <p:txBody>
          <a:bodyPr wrap="square" lIns="0" tIns="0" rIns="0" bIns="0" rtlCol="0" anchor="t"/>
          <a:lstStyle/>
          <a:p>
            <a:pPr marL="0" indent="0" algn="l">
              <a:lnSpc>
                <a:spcPct val="95000"/>
              </a:lnSpc>
              <a:buNone/>
            </a:pPr>
            <a:r>
              <a:rPr lang="en-US" sz="1050" dirty="0">
                <a:solidFill>
                  <a:srgbClr val="EDF2F4"/>
                </a:solidFill>
                <a:latin typeface="Calibri" pitchFamily="34" charset="0"/>
                <a:ea typeface="Calibri" pitchFamily="34" charset="-122"/>
                <a:cs typeface="Calibri" pitchFamily="34" charset="-120"/>
              </a:rPr>
              <a:t>Suspension, revocation, and liability back every obligation under the Circular.</a:t>
            </a:r>
            <a:endParaRPr lang="en-US" sz="1050" dirty="0"/>
          </a:p>
        </p:txBody>
      </p:sp>
      <p:sp>
        <p:nvSpPr>
          <p:cNvPr id="25" name="Shape 23"/>
          <p:cNvSpPr/>
          <p:nvPr/>
        </p:nvSpPr>
        <p:spPr>
          <a:xfrm>
            <a:off x="548640" y="4663440"/>
            <a:ext cx="8138160" cy="0"/>
          </a:xfrm>
          <a:prstGeom prst="line">
            <a:avLst/>
          </a:prstGeom>
          <a:noFill/>
          <a:ln w="9525">
            <a:solidFill>
              <a:srgbClr val="8D99AE"/>
            </a:solidFill>
            <a:prstDash val="solid"/>
          </a:ln>
        </p:spPr>
        <p:txBody>
          <a:bodyPr/>
          <a:lstStyle/>
          <a:p>
            <a:endParaRPr lang="en-US"/>
          </a:p>
        </p:txBody>
      </p:sp>
      <p:sp>
        <p:nvSpPr>
          <p:cNvPr id="26" name="Text 24"/>
          <p:cNvSpPr/>
          <p:nvPr/>
        </p:nvSpPr>
        <p:spPr>
          <a:xfrm>
            <a:off x="548640" y="4709160"/>
            <a:ext cx="8138160" cy="320040"/>
          </a:xfrm>
          <a:prstGeom prst="rect">
            <a:avLst/>
          </a:prstGeom>
          <a:noFill/>
          <a:ln/>
        </p:spPr>
        <p:txBody>
          <a:bodyPr wrap="square" lIns="0" tIns="0" rIns="0" bIns="0" rtlCol="0" anchor="ctr"/>
          <a:lstStyle/>
          <a:p>
            <a:pPr marL="0" indent="0" algn="l">
              <a:buNone/>
            </a:pPr>
            <a:r>
              <a:rPr lang="en-US" sz="1000" dirty="0">
                <a:solidFill>
                  <a:srgbClr val="8D99AE"/>
                </a:solidFill>
                <a:latin typeface="Calibri" pitchFamily="34" charset="0"/>
                <a:ea typeface="Calibri" pitchFamily="34" charset="-122"/>
                <a:cs typeface="Calibri" pitchFamily="34" charset="-120"/>
              </a:rPr>
              <a:t>Bureau of Internal Revenue  ·  Electronic Invoicing &amp; Sales Reporting System (EIS)</a:t>
            </a:r>
            <a:endParaRPr lang="en-US" sz="1000" dirty="0"/>
          </a:p>
        </p:txBody>
      </p:sp>
      <p:sp>
        <p:nvSpPr>
          <p:cNvPr id="27" name="Shape 25"/>
          <p:cNvSpPr/>
          <p:nvPr/>
        </p:nvSpPr>
        <p:spPr>
          <a:xfrm>
            <a:off x="8321040" y="4709160"/>
            <a:ext cx="548640" cy="320040"/>
          </a:xfrm>
          <a:prstGeom prst="roundRect">
            <a:avLst>
              <a:gd name="adj" fmla="val 42857"/>
            </a:avLst>
          </a:prstGeom>
          <a:solidFill>
            <a:srgbClr val="2B2D42"/>
          </a:solidFill>
          <a:ln/>
        </p:spPr>
        <p:txBody>
          <a:bodyPr/>
          <a:lstStyle/>
          <a:p>
            <a:endParaRPr lang="en-US"/>
          </a:p>
        </p:txBody>
      </p:sp>
      <p:sp>
        <p:nvSpPr>
          <p:cNvPr id="28" name="Text 26"/>
          <p:cNvSpPr/>
          <p:nvPr/>
        </p:nvSpPr>
        <p:spPr>
          <a:xfrm>
            <a:off x="8321040" y="4709160"/>
            <a:ext cx="5486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a:t>
            </a:r>
            <a:endParaRPr lang="en-US" sz="1100" dirty="0"/>
          </a:p>
        </p:txBody>
      </p:sp>
      <p:grpSp>
        <p:nvGrpSpPr>
          <p:cNvPr id="32" name="Group 31"/>
          <p:cNvGrpSpPr/>
          <p:nvPr/>
        </p:nvGrpSpPr>
        <p:grpSpPr>
          <a:xfrm>
            <a:off x="600666" y="2880833"/>
            <a:ext cx="274320" cy="280942"/>
            <a:chOff x="753066" y="2450539"/>
            <a:chExt cx="274320" cy="280942"/>
          </a:xfrm>
        </p:grpSpPr>
        <p:sp>
          <p:nvSpPr>
            <p:cNvPr id="30" name="Shape 7"/>
            <p:cNvSpPr/>
            <p:nvPr/>
          </p:nvSpPr>
          <p:spPr>
            <a:xfrm>
              <a:off x="753066" y="2457161"/>
              <a:ext cx="274320" cy="274320"/>
            </a:xfrm>
            <a:prstGeom prst="ellipse">
              <a:avLst/>
            </a:prstGeom>
            <a:solidFill>
              <a:srgbClr val="D90429"/>
            </a:solidFill>
            <a:ln/>
          </p:spPr>
          <p:txBody>
            <a:bodyPr/>
            <a:lstStyle/>
            <a:p>
              <a:endParaRPr lang="en-US"/>
            </a:p>
          </p:txBody>
        </p:sp>
        <p:sp>
          <p:nvSpPr>
            <p:cNvPr id="31" name="Text 8"/>
            <p:cNvSpPr/>
            <p:nvPr/>
          </p:nvSpPr>
          <p:spPr>
            <a:xfrm>
              <a:off x="753066" y="2450539"/>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grpSp>
      <p:grpSp>
        <p:nvGrpSpPr>
          <p:cNvPr id="33" name="Group 32"/>
          <p:cNvGrpSpPr/>
          <p:nvPr/>
        </p:nvGrpSpPr>
        <p:grpSpPr>
          <a:xfrm>
            <a:off x="588053" y="3413234"/>
            <a:ext cx="274320" cy="280942"/>
            <a:chOff x="753066" y="2450539"/>
            <a:chExt cx="274320" cy="280942"/>
          </a:xfrm>
        </p:grpSpPr>
        <p:sp>
          <p:nvSpPr>
            <p:cNvPr id="34" name="Shape 7"/>
            <p:cNvSpPr/>
            <p:nvPr/>
          </p:nvSpPr>
          <p:spPr>
            <a:xfrm>
              <a:off x="753066" y="2457161"/>
              <a:ext cx="274320" cy="274320"/>
            </a:xfrm>
            <a:prstGeom prst="ellipse">
              <a:avLst/>
            </a:prstGeom>
            <a:solidFill>
              <a:srgbClr val="D90429"/>
            </a:solidFill>
            <a:ln/>
          </p:spPr>
          <p:txBody>
            <a:bodyPr/>
            <a:lstStyle/>
            <a:p>
              <a:endParaRPr lang="en-US"/>
            </a:p>
          </p:txBody>
        </p:sp>
        <p:sp>
          <p:nvSpPr>
            <p:cNvPr id="35" name="Text 8"/>
            <p:cNvSpPr/>
            <p:nvPr/>
          </p:nvSpPr>
          <p:spPr>
            <a:xfrm>
              <a:off x="753066" y="2450539"/>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grpSp>
      <p:grpSp>
        <p:nvGrpSpPr>
          <p:cNvPr id="36" name="Group 35"/>
          <p:cNvGrpSpPr/>
          <p:nvPr/>
        </p:nvGrpSpPr>
        <p:grpSpPr>
          <a:xfrm>
            <a:off x="589630" y="4016738"/>
            <a:ext cx="274320" cy="280942"/>
            <a:chOff x="753066" y="2450539"/>
            <a:chExt cx="274320" cy="280942"/>
          </a:xfrm>
        </p:grpSpPr>
        <p:sp>
          <p:nvSpPr>
            <p:cNvPr id="37" name="Shape 7"/>
            <p:cNvSpPr/>
            <p:nvPr/>
          </p:nvSpPr>
          <p:spPr>
            <a:xfrm>
              <a:off x="753066" y="2457161"/>
              <a:ext cx="274320" cy="274320"/>
            </a:xfrm>
            <a:prstGeom prst="ellipse">
              <a:avLst/>
            </a:prstGeom>
            <a:solidFill>
              <a:srgbClr val="D90429"/>
            </a:solidFill>
            <a:ln/>
          </p:spPr>
          <p:txBody>
            <a:bodyPr/>
            <a:lstStyle/>
            <a:p>
              <a:endParaRPr lang="en-US"/>
            </a:p>
          </p:txBody>
        </p:sp>
        <p:sp>
          <p:nvSpPr>
            <p:cNvPr id="38" name="Text 8"/>
            <p:cNvSpPr/>
            <p:nvPr/>
          </p:nvSpPr>
          <p:spPr>
            <a:xfrm>
              <a:off x="753066" y="2450539"/>
              <a:ext cx="274320" cy="27432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3321</Words>
  <Application>Microsoft Office PowerPoint</Application>
  <PresentationFormat>On-screen Show (16:9)</PresentationFormat>
  <Paragraphs>435</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Bureau of Internal Revenue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 Accreditation — Electronic Invoicing Solutions</dc:title>
  <dc:subject>PptxGenJS Presentation</dc:subject>
  <dc:creator>Bureau of Internal Revenue</dc:creator>
  <cp:lastModifiedBy>Ma. Rosario O. Puno</cp:lastModifiedBy>
  <cp:revision>7</cp:revision>
  <dcterms:created xsi:type="dcterms:W3CDTF">2026-10-07T11:42:58Z</dcterms:created>
  <dcterms:modified xsi:type="dcterms:W3CDTF">2026-10-13T05:39:23Z</dcterms:modified>
</cp:coreProperties>
</file>